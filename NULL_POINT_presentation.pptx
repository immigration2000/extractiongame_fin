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 목차" id="{d09ed602-ce0f-279d-eac9-e804365aa09e}">
          <p14:sldIdLst>
            <p14:sldId id="256"/>
            <p14:sldId id="257"/>
          </p14:sldIdLst>
        </p14:section>
        <p14:section name="개요 · 게임 루프" id="{d807185c-cf2b-1c8a-8077-0467bf684ba8}">
          <p14:sldIdLst>
            <p14:sldId id="258"/>
            <p14:sldId id="259"/>
            <p14:sldId id="260"/>
          </p14:sldIdLst>
        </p14:section>
        <p14:section name="핵심 기술 · 그리드 인벤토리" id="{e05eb2f1-65e2-a263-909c-b61e8d7792bb}">
          <p14:sldIdLst>
            <p14:sldId id="261"/>
            <p14:sldId id="262"/>
            <p14:sldId id="263"/>
            <p14:sldId id="264"/>
            <p14:sldId id="265"/>
            <p14:sldId id="266"/>
            <p14:sldId id="267"/>
            <p14:sldId id="268"/>
          </p14:sldIdLst>
        </p14:section>
        <p14:section name="성능 최적화" id="{c6d9ab4e-5205-cbc7-c861-bdd3db2e1647}">
          <p14:sldIdLst>
            <p14:sldId id="269"/>
          </p14:sldIdLst>
        </p14:section>
        <p14:section name="트러블슈팅 · 구조 개선" id="{5ccdc38c-26e7-65c9-296a-9b814aa3be0c}">
          <p14:sldIdLst>
            <p14:sldId id="270"/>
            <p14:sldId id="271"/>
            <p14:sldId id="272"/>
          </p14:sldIdLst>
        </p14:section>
        <p14:section name="성장 · 향후 과제" id="{74a6c682-6d02-f7d0-94aa-04035c672a8f}">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아이템 수</c:v>
                </c:pt>
              </c:strCache>
            </c:strRef>
          </c:tx>
          <c:spPr>
            <a:solidFill>
              <a:srgbClr val="FFB020"/>
            </a:solidFill>
            <a:effectLst/>
          </c:spPr>
          <c:invertIfNegative val="0"/>
          <c:dLbls>
            <c:numFmt formatCode="#,##0" sourceLinked="0"/>
            <c:txPr>
              <a:bodyPr/>
              <a:lstStyle/>
              <a:p>
                <a:pPr>
                  <a:defRPr b="0" i="0" strike="noStrike" sz="1000" u="none">
                    <a:solidFill>
                      <a:srgbClr val="E8ECEF"/>
                    </a:solidFill>
                    <a:latin typeface="+mn-lt"/>
                  </a:defRPr>
                </a:pPr>
              </a:p>
            </c:txPr>
            <c:showLegendKey val="0"/>
            <c:showVal val="1"/>
            <c:showCatName val="0"/>
            <c:showSerName val="0"/>
            <c:showPercent val="0"/>
            <c:showBubbleSize val="0"/>
            <c:showLeaderLines val="0"/>
          </c:dLbls>
          <c:cat>
            <c:multiLvlStrRef>
              <c:f>Sheet1!$A$2:$A$8</c:f>
              <c:multiLvlStrCache>
                <c:ptCount val="7"/>
                <c:lvl>
                  <c:pt idx="0">
                    <c:v>1×1</c:v>
                  </c:pt>
                  <c:pt idx="1">
                    <c:v>2×2</c:v>
                  </c:pt>
                  <c:pt idx="2">
                    <c:v>2×1</c:v>
                  </c:pt>
                  <c:pt idx="3">
                    <c:v>1×2</c:v>
                  </c:pt>
                  <c:pt idx="4">
                    <c:v>3×3</c:v>
                  </c:pt>
                  <c:pt idx="5">
                    <c:v>5×2</c:v>
                  </c:pt>
                  <c:pt idx="6">
                    <c:v>기타 12가지</c:v>
                  </c:pt>
                </c:lvl>
              </c:multiLvlStrCache>
            </c:multiLvlStrRef>
          </c:cat>
          <c:val>
            <c:numRef>
              <c:f>Sheet1!$B$2:$B$8</c:f>
              <c:numCache>
                <c:formatCode>General</c:formatCode>
                <c:ptCount val="7"/>
                <c:pt idx="0">
                  <c:v>214</c:v>
                </c:pt>
                <c:pt idx="1">
                  <c:v>94</c:v>
                </c:pt>
                <c:pt idx="2">
                  <c:v>48</c:v>
                </c:pt>
                <c:pt idx="3">
                  <c:v>40</c:v>
                </c:pt>
                <c:pt idx="4">
                  <c:v>26</c:v>
                </c:pt>
                <c:pt idx="5">
                  <c:v>25</c:v>
                </c:pt>
                <c:pt idx="6">
                  <c:v>67</c:v>
                </c:pt>
              </c:numCache>
            </c:numRef>
          </c:val>
        </c:ser>
        <c:dLbls>
          <c:numFmt formatCode="#,##0" sourceLinked="0"/>
          <c:txPr>
            <a:bodyPr/>
            <a:lstStyle/>
            <a:p>
              <a:pPr>
                <a:defRPr b="0" i="0" strike="noStrike" sz="1000" u="none">
                  <a:solidFill>
                    <a:srgbClr val="E8ECE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AEB6BF"/>
                </a:solidFill>
                <a:latin typeface="+mn-lt"/>
              </a:defRPr>
            </a:pPr>
            <a:endParaRPr lang="en-US"/>
          </a:p>
        </c:txPr>
        <c:crossAx val="2094734552"/>
        <c:crosses val="autoZero"/>
        <c:auto val="1"/>
        <c:lblAlgn val="ctr"/>
        <c:noMultiLvlLbl val="1"/>
      </c:catAx>
      <c:valAx>
        <c:axId val="2094734552"/>
        <c:scaling>
          <c:orientation val="minMax"/>
          <c:max val="2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안녕하세요, [이름]입니다. 오늘 발표할 프로젝트는 NULL POINT입니다.
델타 포스 같은 익스트랙션 슈터의 핵심인 '가방 공간 관리', 즉 그리드 인벤토리와, 로비에서 레이드와 탈출까지 이어지는 게임 루프를 언리얼 엔진 5.8 블루프린트로 구현한 개인 프로젝트입니다.
[이 슬라이드 끝 목표 시간] 0:23 (제한 10분)
[참고]
[이름]과 [과정/기수]는 직접 채워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발표는 개요와 게임 루프, 핵심 기술인 그리드 인벤토리, 성능, 트러블슈팅과 구조 개선, 그리고 성장과 향후 과제 순서로 진행하겠습니다.
[이 슬라이드 끝 목표 시간] 0:35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기간은 9월 10일부터 약 4주, 혼자 진행했습니다. 로비에서 장비를 꾸리고 작전 지역에 들어가, 탈출 구역에서 10초를 버티면 로비로 돌아오는 구조입니다.
이 장르의 핵심은 '정해진 칸 안에 무엇을 담아 나올지'라고 봤습니다. 그래서 아이템과 장비마다 칸이 다른 그리드 인벤토리를 데이터 기반으로 만드는 데 집중했고, 칸 배치 72종과 아이템 514종이 데이터 테이블에 들어 있습니다.
[이 슬라이드 끝 목표 시간] 1:09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로비에서 장비를 정리하고 '전투 준비'를 누르면 작전 지역으로 이동합니다. 탈출 구역에서 10초를 버티면 로비로 돌아와 다음 판을 시작합니다.
사망 처리는 아직 없어서 점선으로 표시했습니다. 탈출 판정은 다음 장에서 보여드리겠습니다.
[이 슬라이드 끝 목표 시간] 1:30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(오른쪽 GIF가 탈출까지 한 번 돌 때까지 보여 줍니다.)
게임 루프의 마지막인 탈출입니다. 탈출 구역에 머물면 카운트다운이 돌고, 0이 되면 로비로 돌아옵니다.
구역은 누가 들어왔는지만 판정하고 규칙은 게임모드가 가집니다. 0.1초 타이머와 정수 카운터로 오차 없이 10초를 세고, 0이 되면 타이머를 먼저 멈춘 뒤 레벨을 바꿔 중복 호출을 막았습니다.
[이 슬라이드 끝 목표 시간] 2:05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이제 이 프로젝트의 핵심 기술인 그리드 인벤토리입니다. 인벤토리는 64픽셀 칸으로 이루어져 있고, 칸마다 왼쪽 위부터 번호를 매깁니다. 칸 번호는 X 더하기 Y 곱하기 가로 칸 수입니다.
아이템은 가로 몇 칸, 세로 몇 칸을 차지하는지 데이터로 갖고 있고, 오른쪽처럼 514종이 18가지 크기로 나뉩니다. 칸 묶음 하나를 섹션이라고 부르는데, 창고는 큰 섹션 하나, 조끼는 작은 섹션 여러 개로 이루어집니다.
[이 슬라이드 끝 목표 시간] 2:40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이 칸 배치와 아이템 크기는 모두 데이터 테이블에 있습니다. 위젯마다 하드코딩하지 않아서, 장비나 아이템이 늘어도 행만 추가하면 됩니다.
그리고 조끼와 가방 아이템의 이름을 칸 배치 행 이름과 똑같이 맞춰서, 장착하면 그 이름으로 바로 칸 배치를 찾아 그립니다.
[이 슬라이드 끝 목표 시간] 3:03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장비를 장착하면 GridLayout이 행 이름을 받아 섹션마다 GridSlot을 만들고, 슬롯이 칸을 채웁니다.
어려웠던 건 오른쪽처럼 반 칸씩 어긋난 조끼 칸입니다. 그리드 패널을 두 배 해상도로 쓰고 좌표를 변환해서, 72종을 손으로 짜지 않고 데이터만으로 표현했습니다.
[이 슬라이드 끝 목표 시간] 3:25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DrawLayout은 행 이름 하나로 칸 배치를 그립니다. ToMatrix는 좌표에 2를 곱하고 반 칸이면 1을 더하는 한 줄인데, 이게 반 칸 배치의 전부입니다.
그래서 새 장비는 데이터 테이블에 한 줄만 추가하면 되고, 칸 크기는 DA_UISetting 한 곳에서 바꿉니다.
[이 슬라이드 끝 목표 시간] 3:46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다음은 아이템을 옮기는 드래그 앤 드롭입니다. 아이템을 집으면 BP_DragDrop이 아이템 정보를 들고 따라다니고, 그리드 위에서는 놓을 칸을 계속 계산하다가, 놓는 순간 그 칸에 배치합니다.
[이 슬라이드 끝 목표 시간] 4:02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놓을 칸은 세 단계로 판정합니다. 첫째, 아이템 중심을 마우스에 맞춰 왼쪽 위 칸 번호를 구합니다. 둘째, 그리드 밖으로 나가면 가장자리 칸에 붙입니다. 셋째, 아이템이 덮는 칸 중 하나라도 차 있으면 놓을 수 없습니다.
통과하면 칸 번호를 행과 열로 바꿔, 아이템 크기만큼 칸을 차지하게 놓습니다. 회전과 짝수 칸 보정은 함수까지 만들었고, 놓은 칸을 '차 있음'으로 기록하는 부분과 함께 연결하는 중입니다.
[이 슬라이드 끝 목표 시간] 4:36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코드로 보면, 왼쪽 판정 함수가 방금 본 세 단계를 계산해 결과를 BP_DragDrop에 적고, 오른쪽 놓기 함수는 그 결과를 읽어 배치만 합니다. 그래서 그리드는 드래그를 시작한 위젯을 몰라도 됩니다.
[이 슬라이드 끝 목표 시간] 4:53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(GIF 두 개가 한 번씩 돌 때까지 보여 줍니다.)
드래그는 장비 장착으로 이어집니다. 장비 칸에 놓는 순간 그 장비의 칸 배치가 그려집니다.
구현은 아이템 이름으로 DrawLayout을 부르는 한 줄이고, 조끼 18종과 가방 26종이 모두 같은 코드로 동작합니다.
[이 슬라이드 끝 목표 시간] 5:19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성능은 아직 분석과 계획 단계입니다. 창고 225칸에 칸마다 위젯이 6개라, 위젯이 1,350개입니다.
대부분 움직이지 않는 격자선인데 위젯으로 남아 있는 게 원인이라, 격자선은 이미지나 OnPaint로 그리고 점유는 bool 배열로 바꿀 계획입니다. 효과는 Unreal Insights로 전후를 재서 확인하겠습니다.
[이 슬라이드 끝 목표 시간] 5:45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트러블슈팅입니다. 9월 29일, 드래그한 아이템의 칸 계산이 화면과 맞지 않았습니다. [처음에 무엇을 의심했는지 한 문장 덧붙이면 좋습니다.]
계산식을 고치기 전에 오른쪽처럼 칸 번호를 띄우는 디버그 그리드부터 만들었고, 원인 세 가지를 찾았습니다. 아이템 크기가 0으로 넘어왔고, 셀 크기 변수가 64와 50 두 개였고, 두 배 좌표를 일반 셀 배열에 그대로 썼습니다.
[이 슬라이드 끝 목표 시간] 6:12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아이템 정보를 드래그와 함께 넘기고, 셀 크기는 GetUISetting 하나로 통일하고, 일반 좌표로 칸 번호를 계산하게 바꿨습니다.
디버그 칸 번호와 계산 결과가 같은지 확인했고, 오른쪽 아래처럼 헬멧이 제자리에 놓입니다.
[이 슬라이드 끝 목표 시간] 6:31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아이템 514종을 넣기 전에 데이터 구조를 다시 짰습니다. 처음엔 공통 구조체 하나에 다 담아서 방어구나 무기만의 데이터를 둘 곳이 없었습니다.
10월 1일 커밋에서 정의, 타입별 확장, 배치의 세 단계로 나눴고, 이제 아이템 추가는 데이터 테이블에 행 하나를 넣는 것으로 끝납니다.
[이 슬라이드 끝 목표 시간] 6:55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아쉬운 점은 배치 결과를 위젯이 갖고 있어 저장이 어렵고, 회전과 레이드 상태 정리가 남아 있다는 것입니다. 다음으로 인벤토리 컴포넌트, 회전과 창고 저장, 판정 로직의 C++ 이전을 하려고 합니다.
이번에 배운 건 두 가지입니다. 좌표 버그는 디버그 시각화부터, 그리고 데이터와 표시는 처음부터 나눈다는 것입니다.
발표를 들어주셔서 감사합니다.
[이 슬라이드 끝 목표 시간] 7:25 (제한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6400800" cy="1097280"/>
          </a:xfrm>
          <a:prstGeom prst="rect">
            <a:avLst/>
          </a:prstGeom>
          <a:noFill/>
          <a:ln/>
        </p:spPr>
        <p:txBody>
          <a:bodyPr wrap="square" rtlCol="0"/>
          <a:lstStyle>
            <a:lvl1pPr algn="l" indent="0" marL="0">
              <a:buNone/>
              <a:defRPr lang="en-US" sz="6600" b="1" spc="100" kern="0" dirty="0">
                <a:solidFill>
                  <a:schemeClr val="bg1"/>
                </a:solidFill>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rtlCol="0"/>
          <a:lstStyle>
            <a:lvl1pPr algn="l" indent="0" marL="0">
              <a:buNone/>
              <a:defRPr lang="en-US" sz="1100" b="1" spc="100" kern="0" dirty="0">
                <a:solidFill>
                  <a:schemeClr val="accent1"/>
                </a:solidFill>
                <a:latin typeface="Consolas" pitchFamily="34" charset="0"/>
                <a:ea typeface="Consolas" pitchFamily="34" charset="-122"/>
                <a:cs typeface="Consolas" pitchFamily="34" charset="-120"/>
              </a:defRPr>
            </a:lvl1pPr>
          </a:lstStyle>
          <a:p>
            <a:pPr algn="l" indent="0" marL="0">
              <a:buNone/>
            </a:pPr>
            <a:endParaRPr lang="en-US" sz="1100" dirty="0"/>
          </a:p>
        </p:txBody>
      </p:sp>
      <p:sp>
        <p:nvSpPr>
          <p:cNvPr id="3" name="Text 0"/>
          <p:cNvSpPr/>
          <p:nvPr/>
        </p:nvSpPr>
        <p:spPr>
          <a:xfrm>
            <a:off x="8988552" y="310896"/>
            <a:ext cx="2743200" cy="256032"/>
          </a:xfrm>
          <a:prstGeom prst="rect">
            <a:avLst/>
          </a:prstGeom>
          <a:noFill/>
          <a:ln/>
        </p:spPr>
        <p:txBody>
          <a:bodyPr wrap="square" lIns="0" tIns="0" rIns="0" bIns="0" rtlCol="0" anchor="ctr"/>
          <a:lstStyle/>
          <a:p>
            <a:pPr algn="r" indent="0" marL="0">
              <a:buNone/>
            </a:pPr>
            <a:r>
              <a:rPr lang="en-US" sz="1050" spc="300" kern="0" dirty="0">
                <a:solidFill>
                  <a:schemeClr val="accent5"/>
                </a:solidFill>
                <a:latin typeface="Consolas" pitchFamily="34" charset="0"/>
                <a:ea typeface="Consolas" pitchFamily="34" charset="-122"/>
                <a:cs typeface="Consolas" pitchFamily="34" charset="-120"/>
              </a:rPr>
              <a:t>NULL POINT</a:t>
            </a:r>
            <a:endParaRPr lang="en-US" sz="1050" dirty="0"/>
          </a:p>
        </p:txBody>
      </p:sp>
      <p:sp>
        <p:nvSpPr>
          <p:cNvPr id="4" name="Text 1"/>
          <p:cNvSpPr/>
          <p:nvPr>
            <p:ph idx="102" type="title" hasCustomPrompt="1"/>
          </p:nvPr>
        </p:nvSpPr>
        <p:spPr>
          <a:xfrm>
            <a:off x="457200" y="585216"/>
            <a:ext cx="11274552" cy="566928"/>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5" name="Shape 1"/>
          <p:cNvSpPr/>
          <p:nvPr/>
        </p:nvSpPr>
        <p:spPr>
          <a:xfrm>
            <a:off x="457200" y="6455664"/>
            <a:ext cx="11274552" cy="0"/>
          </a:xfrm>
          <a:prstGeom prst="line">
            <a:avLst/>
          </a:prstGeom>
          <a:noFill/>
          <a:ln w="9525">
            <a:solidFill>
              <a:srgbClr val="2A2F36"/>
            </a:solidFill>
            <a:prstDash val="solid"/>
          </a:ln>
        </p:spPr>
      </p:sp>
      <p:sp>
        <p:nvSpPr>
          <p:cNvPr id="6" name="Text 2"/>
          <p:cNvSpPr/>
          <p:nvPr/>
        </p:nvSpPr>
        <p:spPr>
          <a:xfrm>
            <a:off x="457200" y="6492240"/>
            <a:ext cx="6400800" cy="237744"/>
          </a:xfrm>
          <a:prstGeom prst="rect">
            <a:avLst/>
          </a:prstGeom>
          <a:noFill/>
          <a:ln/>
        </p:spPr>
        <p:txBody>
          <a:bodyPr wrap="square" lIns="0" tIns="0" rIns="0" bIns="0" rtlCol="0" anchor="ctr"/>
          <a:lstStyle/>
          <a:p>
            <a:pPr indent="0" marL="0">
              <a:buNone/>
            </a:pPr>
            <a:r>
              <a:rPr lang="en-US" sz="950" spc="100" kern="0" dirty="0">
                <a:solidFill>
                  <a:schemeClr val="accent5"/>
                </a:solidFill>
                <a:latin typeface="Consolas" pitchFamily="34" charset="0"/>
                <a:ea typeface="Consolas" pitchFamily="34" charset="-122"/>
                <a:cs typeface="Consolas" pitchFamily="34" charset="-120"/>
              </a:rPr>
              <a:t>EXTRACTION SHOOTER  ·  UNREAL ENGINE 5.8 BLUEPRINT</a:t>
            </a:r>
            <a:endParaRPr lang="en-US" sz="95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gif"/><Relationship Id="rId2" Type="http://schemas.openxmlformats.org/officeDocument/2006/relationships/image" Target="../media/image-13-2.gif"/><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6400800" cy="1097280"/>
          </a:xfrm>
          <a:prstGeom prst="rect">
            <a:avLst/>
          </a:prstGeom>
          <a:noFill/>
          <a:ln/>
        </p:spPr>
        <p:txBody>
          <a:bodyPr wrap="square" lIns="0" tIns="0" rIns="0" bIns="0" rtlCol="0" anchor="t"/>
          <a:lstStyle/>
          <a:p>
            <a:pPr algn="l" indent="0" marL="0">
              <a:buNone/>
            </a:pPr>
            <a:r>
              <a:rPr lang="en-US" sz="6600" b="1" spc="100" kern="0" dirty="0">
                <a:solidFill>
                  <a:schemeClr val="bg1"/>
                </a:solidFill>
              </a:rPr>
              <a:t>NULL POINT</a:t>
            </a:r>
            <a:endParaRPr lang="en-US" sz="6600" dirty="0"/>
          </a:p>
        </p:txBody>
      </p:sp>
      <p:sp>
        <p:nvSpPr>
          <p:cNvPr id="3" name="Text 1"/>
          <p:cNvSpPr txBox="1"/>
          <p:nvPr/>
        </p:nvSpPr>
        <p:spPr>
          <a:xfrm>
            <a:off x="548640" y="1481328"/>
            <a:ext cx="5943600" cy="274320"/>
          </a:xfrm>
          <a:prstGeom prst="rect">
            <a:avLst/>
          </a:prstGeom>
          <a:noFill/>
          <a:ln/>
        </p:spPr>
        <p:txBody>
          <a:bodyPr wrap="square" lIns="0" tIns="0" rIns="0" bIns="0" rtlCol="0" anchor="t"/>
          <a:lstStyle/>
          <a:p>
            <a:pPr indent="0" marL="0">
              <a:lnSpc>
                <a:spcPct val="120000"/>
              </a:lnSpc>
              <a:buNone/>
            </a:pPr>
            <a:r>
              <a:rPr lang="ko-KR" altLang="en-US" sz="1150" b="1" spc="200" kern="0" dirty="0">
                <a:solidFill>
                  <a:schemeClr val="accent1"/>
                </a:solidFill>
                <a:latin typeface="Consolas" pitchFamily="34" charset="0"/>
                <a:ea typeface="Consolas" pitchFamily="34" charset="-122"/>
                <a:cs typeface="Consolas" pitchFamily="34" charset="-120"/>
              </a:rPr>
              <a:t>PORTFOLIO PROJECT  //  2026.10</a:t>
            </a:r>
            <a:endParaRPr lang="ko-KR" sz="1150" dirty="0"/>
          </a:p>
        </p:txBody>
      </p:sp>
      <p:sp>
        <p:nvSpPr>
          <p:cNvPr id="4" name="Text 2"/>
          <p:cNvSpPr txBox="1"/>
          <p:nvPr/>
        </p:nvSpPr>
        <p:spPr>
          <a:xfrm>
            <a:off x="548640" y="2944368"/>
            <a:ext cx="5943600" cy="868680"/>
          </a:xfrm>
          <a:prstGeom prst="rect">
            <a:avLst/>
          </a:prstGeom>
          <a:noFill/>
          <a:ln/>
        </p:spPr>
        <p:txBody>
          <a:bodyPr wrap="square" lIns="0" tIns="0" rIns="0" bIns="0" rtlCol="0" anchor="t"/>
          <a:lstStyle/>
          <a:p>
            <a:pPr indent="0" marL="0">
              <a:lnSpc>
                <a:spcPct val="115000"/>
              </a:lnSpc>
              <a:buNone/>
            </a:pPr>
            <a:r>
              <a:rPr lang="ko-KR" altLang="en-US" sz="2200" b="1" dirty="0">
                <a:solidFill>
                  <a:schemeClr val="accent2"/>
                </a:solidFill>
              </a:rPr>
              <a:t>익스트랙션 슈터의 그리드 인벤토리와 레이드 루프</a:t>
            </a:r>
            <a:endParaRPr lang="ko-KR" sz="2200" dirty="0"/>
          </a:p>
        </p:txBody>
      </p:sp>
      <p:sp>
        <p:nvSpPr>
          <p:cNvPr id="5" name="Text 3"/>
          <p:cNvSpPr txBox="1"/>
          <p:nvPr/>
        </p:nvSpPr>
        <p:spPr>
          <a:xfrm>
            <a:off x="548640" y="3913632"/>
            <a:ext cx="5760720" cy="640080"/>
          </a:xfrm>
          <a:prstGeom prst="rect">
            <a:avLst/>
          </a:prstGeom>
          <a:noFill/>
          <a:ln/>
        </p:spPr>
        <p:txBody>
          <a:bodyPr wrap="square" lIns="0" tIns="0" rIns="0" bIns="0" rtlCol="0" anchor="t"/>
          <a:lstStyle/>
          <a:p>
            <a:pPr indent="0" marL="0">
              <a:lnSpc>
                <a:spcPct val="130000"/>
              </a:lnSpc>
              <a:buNone/>
            </a:pPr>
            <a:r>
              <a:rPr lang="ko-KR" altLang="en-US" sz="1300" dirty="0">
                <a:solidFill>
                  <a:schemeClr val="bg2"/>
                </a:solidFill>
              </a:rPr>
              <a:t>델타 포스를 레퍼런스로, 로비 · 인벤토리 · 탈출 루프를 UE5 블루프린트로 구현한 개인 프로젝트</a:t>
            </a:r>
            <a:endParaRPr lang="ko-KR" sz="1300" dirty="0"/>
          </a:p>
        </p:txBody>
      </p:sp>
      <p:sp>
        <p:nvSpPr>
          <p:cNvPr id="6" name="Shape 4"/>
          <p:cNvSpPr/>
          <p:nvPr/>
        </p:nvSpPr>
        <p:spPr>
          <a:xfrm>
            <a:off x="548640" y="4709160"/>
            <a:ext cx="1691640" cy="365760"/>
          </a:xfrm>
          <a:prstGeom prst="rect">
            <a:avLst/>
          </a:prstGeom>
          <a:solidFill>
            <a:schemeClr val="tx1"/>
          </a:solidFill>
          <a:ln w="12700">
            <a:solidFill>
              <a:schemeClr val="accent1"/>
            </a:solidFill>
            <a:prstDash val="solid"/>
          </a:ln>
        </p:spPr>
      </p:sp>
      <p:sp>
        <p:nvSpPr>
          <p:cNvPr id="7" name="Text 5"/>
          <p:cNvSpPr txBox="1"/>
          <p:nvPr/>
        </p:nvSpPr>
        <p:spPr>
          <a:xfrm>
            <a:off x="548640" y="4709160"/>
            <a:ext cx="1691640" cy="365760"/>
          </a:xfrm>
          <a:prstGeom prst="rect">
            <a:avLst/>
          </a:prstGeom>
          <a:noFill/>
          <a:ln/>
        </p:spPr>
        <p:txBody>
          <a:bodyPr wrap="square" lIns="0" tIns="0" rIns="0" bIns="0" rtlCol="0" anchor="ctr"/>
          <a:lstStyle/>
          <a:p>
            <a:pPr algn="ctr" indent="0" marL="0">
              <a:lnSpc>
                <a:spcPct val="120000"/>
              </a:lnSpc>
              <a:buNone/>
            </a:pPr>
            <a:r>
              <a:rPr lang="ko-KR" altLang="en-US" sz="1150" dirty="0">
                <a:solidFill>
                  <a:schemeClr val="bg1"/>
                </a:solidFill>
              </a:rPr>
              <a:t>장비 칸 배치 72종</a:t>
            </a:r>
            <a:endParaRPr lang="ko-KR" sz="1150" dirty="0"/>
          </a:p>
        </p:txBody>
      </p:sp>
      <p:sp>
        <p:nvSpPr>
          <p:cNvPr id="8" name="Shape 6"/>
          <p:cNvSpPr/>
          <p:nvPr/>
        </p:nvSpPr>
        <p:spPr>
          <a:xfrm>
            <a:off x="2377440" y="4709160"/>
            <a:ext cx="1325880" cy="365760"/>
          </a:xfrm>
          <a:prstGeom prst="rect">
            <a:avLst/>
          </a:prstGeom>
          <a:solidFill>
            <a:schemeClr val="tx1"/>
          </a:solidFill>
          <a:ln w="12700">
            <a:solidFill>
              <a:schemeClr val="accent1"/>
            </a:solidFill>
            <a:prstDash val="solid"/>
          </a:ln>
        </p:spPr>
      </p:sp>
      <p:sp>
        <p:nvSpPr>
          <p:cNvPr id="9" name="Text 7"/>
          <p:cNvSpPr txBox="1"/>
          <p:nvPr/>
        </p:nvSpPr>
        <p:spPr>
          <a:xfrm>
            <a:off x="2377440" y="4709160"/>
            <a:ext cx="1325880" cy="365760"/>
          </a:xfrm>
          <a:prstGeom prst="rect">
            <a:avLst/>
          </a:prstGeom>
          <a:noFill/>
          <a:ln/>
        </p:spPr>
        <p:txBody>
          <a:bodyPr wrap="square" lIns="0" tIns="0" rIns="0" bIns="0" rtlCol="0" anchor="ctr"/>
          <a:lstStyle/>
          <a:p>
            <a:pPr algn="ctr" indent="0" marL="0">
              <a:lnSpc>
                <a:spcPct val="120000"/>
              </a:lnSpc>
              <a:buNone/>
            </a:pPr>
            <a:r>
              <a:rPr lang="ko-KR" altLang="en-US" sz="1150" dirty="0">
                <a:solidFill>
                  <a:schemeClr val="bg1"/>
                </a:solidFill>
              </a:rPr>
              <a:t>아이템 514종</a:t>
            </a:r>
            <a:endParaRPr lang="ko-KR" sz="1150" dirty="0"/>
          </a:p>
        </p:txBody>
      </p:sp>
      <p:sp>
        <p:nvSpPr>
          <p:cNvPr id="10" name="Shape 8"/>
          <p:cNvSpPr/>
          <p:nvPr/>
        </p:nvSpPr>
        <p:spPr>
          <a:xfrm>
            <a:off x="3840480" y="4709160"/>
            <a:ext cx="1554480" cy="365760"/>
          </a:xfrm>
          <a:prstGeom prst="rect">
            <a:avLst/>
          </a:prstGeom>
          <a:solidFill>
            <a:schemeClr val="tx1"/>
          </a:solidFill>
          <a:ln w="12700">
            <a:solidFill>
              <a:schemeClr val="accent1"/>
            </a:solidFill>
            <a:prstDash val="solid"/>
          </a:ln>
        </p:spPr>
      </p:sp>
      <p:sp>
        <p:nvSpPr>
          <p:cNvPr id="11" name="Text 9"/>
          <p:cNvSpPr txBox="1"/>
          <p:nvPr/>
        </p:nvSpPr>
        <p:spPr>
          <a:xfrm>
            <a:off x="3840480" y="4709160"/>
            <a:ext cx="1554480" cy="365760"/>
          </a:xfrm>
          <a:prstGeom prst="rect">
            <a:avLst/>
          </a:prstGeom>
          <a:noFill/>
          <a:ln/>
        </p:spPr>
        <p:txBody>
          <a:bodyPr wrap="square" lIns="0" tIns="0" rIns="0" bIns="0" rtlCol="0" anchor="ctr"/>
          <a:lstStyle/>
          <a:p>
            <a:pPr algn="ctr" indent="0" marL="0">
              <a:lnSpc>
                <a:spcPct val="120000"/>
              </a:lnSpc>
              <a:buNone/>
            </a:pPr>
            <a:r>
              <a:rPr lang="ko-KR" altLang="en-US" sz="1150" dirty="0">
                <a:solidFill>
                  <a:schemeClr val="bg1"/>
                </a:solidFill>
              </a:rPr>
              <a:t>탈출 카운트다운</a:t>
            </a:r>
            <a:endParaRPr lang="ko-KR" sz="1150" dirty="0"/>
          </a:p>
        </p:txBody>
      </p:sp>
      <p:sp>
        <p:nvSpPr>
          <p:cNvPr id="12" name="Shape 10"/>
          <p:cNvSpPr/>
          <p:nvPr/>
        </p:nvSpPr>
        <p:spPr>
          <a:xfrm>
            <a:off x="548640" y="5559552"/>
            <a:ext cx="5760720" cy="0"/>
          </a:xfrm>
          <a:prstGeom prst="line">
            <a:avLst/>
          </a:prstGeom>
          <a:noFill/>
          <a:ln w="9525">
            <a:solidFill>
              <a:srgbClr val="2A2F36"/>
            </a:solidFill>
            <a:prstDash val="solid"/>
          </a:ln>
        </p:spPr>
      </p:sp>
      <p:sp>
        <p:nvSpPr>
          <p:cNvPr id="13" name="Text 11"/>
          <p:cNvSpPr txBox="1"/>
          <p:nvPr/>
        </p:nvSpPr>
        <p:spPr>
          <a:xfrm>
            <a:off x="548640" y="5669280"/>
            <a:ext cx="5760720" cy="310896"/>
          </a:xfrm>
          <a:prstGeom prst="rect">
            <a:avLst/>
          </a:prstGeom>
          <a:noFill/>
          <a:ln/>
        </p:spPr>
        <p:txBody>
          <a:bodyPr wrap="square" lIns="0" tIns="0" rIns="0" bIns="0" rtlCol="0" anchor="t"/>
          <a:lstStyle/>
          <a:p>
            <a:pPr indent="0" marL="0">
              <a:lnSpc>
                <a:spcPct val="120000"/>
              </a:lnSpc>
              <a:buNone/>
            </a:pPr>
            <a:r>
              <a:rPr lang="ko-KR" altLang="en-US" sz="1400" b="1" dirty="0">
                <a:solidFill>
                  <a:schemeClr val="bg1"/>
                </a:solidFill>
              </a:rPr>
              <a:t>[이름]  ·  [과정/기수]</a:t>
            </a:r>
            <a:endParaRPr lang="ko-KR" sz="1400" dirty="0"/>
          </a:p>
        </p:txBody>
      </p:sp>
      <p:sp>
        <p:nvSpPr>
          <p:cNvPr id="14" name="Text 12"/>
          <p:cNvSpPr txBox="1"/>
          <p:nvPr/>
        </p:nvSpPr>
        <p:spPr>
          <a:xfrm>
            <a:off x="548640" y="6035040"/>
            <a:ext cx="5760720" cy="256032"/>
          </a:xfrm>
          <a:prstGeom prst="rect">
            <a:avLst/>
          </a:prstGeom>
          <a:noFill/>
          <a:ln/>
        </p:spPr>
        <p:txBody>
          <a:bodyPr wrap="square" lIns="0" tIns="0" rIns="0" bIns="0" rtlCol="0" anchor="t"/>
          <a:lstStyle/>
          <a:p>
            <a:pPr indent="0" marL="0">
              <a:lnSpc>
                <a:spcPct val="120000"/>
              </a:lnSpc>
              <a:buNone/>
            </a:pPr>
            <a:r>
              <a:rPr lang="ko-KR" altLang="en-US" sz="1050" dirty="0">
                <a:solidFill>
                  <a:schemeClr val="accent5"/>
                </a:solidFill>
                <a:latin typeface="Consolas" pitchFamily="34" charset="0"/>
                <a:ea typeface="Consolas" pitchFamily="34" charset="-122"/>
                <a:cs typeface="Consolas" pitchFamily="34" charset="-120"/>
              </a:rPr>
              <a:t>Unreal Engine 5.8 · Blueprint  |  2026.09.10 ~ 10.05</a:t>
            </a:r>
            <a:endParaRPr lang="ko-KR" sz="1050" dirty="0"/>
          </a:p>
        </p:txBody>
      </p:sp>
      <p:sp>
        <p:nvSpPr>
          <p:cNvPr id="15" name="Shape 13"/>
          <p:cNvSpPr/>
          <p:nvPr/>
        </p:nvSpPr>
        <p:spPr>
          <a:xfrm>
            <a:off x="6757416" y="1956816"/>
            <a:ext cx="4956048" cy="2962656"/>
          </a:xfrm>
          <a:prstGeom prst="rect">
            <a:avLst/>
          </a:prstGeom>
          <a:solidFill>
            <a:schemeClr val="tx2"/>
          </a:solidFill>
          <a:ln w="9525">
            <a:solidFill>
              <a:srgbClr val="2A2F36"/>
            </a:solidFill>
            <a:prstDash val="solid"/>
          </a:ln>
        </p:spPr>
      </p:sp>
      <p:pic>
        <p:nvPicPr>
          <p:cNvPr id="16" name="창고 탭 실제 화면" descr="창고 탭 실제 화면">    </p:cNvPr>
          <p:cNvPicPr>
            <a:picLocks noChangeAspect="1"/>
          </p:cNvPicPr>
          <p:nvPr/>
        </p:nvPicPr>
        <p:blipFill>
          <a:blip r:embed="rId1"/>
          <a:stretch>
            <a:fillRect/>
          </a:stretch>
        </p:blipFill>
        <p:spPr>
          <a:xfrm>
            <a:off x="6812280" y="2011680"/>
            <a:ext cx="4846320" cy="2542032"/>
          </a:xfrm>
          <a:prstGeom prst="rect">
            <a:avLst/>
          </a:prstGeom>
        </p:spPr>
      </p:pic>
      <p:sp>
        <p:nvSpPr>
          <p:cNvPr id="17" name="Shape 14"/>
          <p:cNvSpPr/>
          <p:nvPr/>
        </p:nvSpPr>
        <p:spPr>
          <a:xfrm>
            <a:off x="6702552" y="1901952"/>
            <a:ext cx="201168" cy="0"/>
          </a:xfrm>
          <a:prstGeom prst="line">
            <a:avLst/>
          </a:prstGeom>
          <a:noFill/>
          <a:ln w="22225">
            <a:solidFill>
              <a:schemeClr val="accent1"/>
            </a:solidFill>
            <a:prstDash val="solid"/>
          </a:ln>
        </p:spPr>
      </p:sp>
      <p:sp>
        <p:nvSpPr>
          <p:cNvPr id="18" name="Shape 15"/>
          <p:cNvSpPr/>
          <p:nvPr/>
        </p:nvSpPr>
        <p:spPr>
          <a:xfrm>
            <a:off x="6702552" y="1901952"/>
            <a:ext cx="0" cy="201168"/>
          </a:xfrm>
          <a:prstGeom prst="line">
            <a:avLst/>
          </a:prstGeom>
          <a:noFill/>
          <a:ln w="22225">
            <a:solidFill>
              <a:schemeClr val="accent1"/>
            </a:solidFill>
            <a:prstDash val="solid"/>
          </a:ln>
        </p:spPr>
      </p:sp>
      <p:sp>
        <p:nvSpPr>
          <p:cNvPr id="19" name="Shape 16"/>
          <p:cNvSpPr/>
          <p:nvPr/>
        </p:nvSpPr>
        <p:spPr>
          <a:xfrm>
            <a:off x="11567160" y="1901952"/>
            <a:ext cx="201168" cy="0"/>
          </a:xfrm>
          <a:prstGeom prst="line">
            <a:avLst/>
          </a:prstGeom>
          <a:noFill/>
          <a:ln w="22225">
            <a:solidFill>
              <a:schemeClr val="accent1"/>
            </a:solidFill>
            <a:prstDash val="solid"/>
          </a:ln>
        </p:spPr>
      </p:sp>
      <p:sp>
        <p:nvSpPr>
          <p:cNvPr id="20" name="Shape 17"/>
          <p:cNvSpPr/>
          <p:nvPr/>
        </p:nvSpPr>
        <p:spPr>
          <a:xfrm>
            <a:off x="11768328" y="1901952"/>
            <a:ext cx="0" cy="201168"/>
          </a:xfrm>
          <a:prstGeom prst="line">
            <a:avLst/>
          </a:prstGeom>
          <a:noFill/>
          <a:ln w="22225">
            <a:solidFill>
              <a:schemeClr val="accent1"/>
            </a:solidFill>
            <a:prstDash val="solid"/>
          </a:ln>
        </p:spPr>
      </p:sp>
      <p:sp>
        <p:nvSpPr>
          <p:cNvPr id="21" name="Shape 18"/>
          <p:cNvSpPr/>
          <p:nvPr/>
        </p:nvSpPr>
        <p:spPr>
          <a:xfrm>
            <a:off x="6702552" y="4974336"/>
            <a:ext cx="201168" cy="0"/>
          </a:xfrm>
          <a:prstGeom prst="line">
            <a:avLst/>
          </a:prstGeom>
          <a:noFill/>
          <a:ln w="22225">
            <a:solidFill>
              <a:schemeClr val="accent1"/>
            </a:solidFill>
            <a:prstDash val="solid"/>
          </a:ln>
        </p:spPr>
      </p:sp>
      <p:sp>
        <p:nvSpPr>
          <p:cNvPr id="22" name="Shape 19"/>
          <p:cNvSpPr/>
          <p:nvPr/>
        </p:nvSpPr>
        <p:spPr>
          <a:xfrm>
            <a:off x="6702552" y="4773168"/>
            <a:ext cx="0" cy="201168"/>
          </a:xfrm>
          <a:prstGeom prst="line">
            <a:avLst/>
          </a:prstGeom>
          <a:noFill/>
          <a:ln w="22225">
            <a:solidFill>
              <a:schemeClr val="accent1"/>
            </a:solidFill>
            <a:prstDash val="solid"/>
          </a:ln>
        </p:spPr>
      </p:sp>
      <p:sp>
        <p:nvSpPr>
          <p:cNvPr id="23" name="Shape 20"/>
          <p:cNvSpPr/>
          <p:nvPr/>
        </p:nvSpPr>
        <p:spPr>
          <a:xfrm>
            <a:off x="11567160" y="4974336"/>
            <a:ext cx="201168" cy="0"/>
          </a:xfrm>
          <a:prstGeom prst="line">
            <a:avLst/>
          </a:prstGeom>
          <a:noFill/>
          <a:ln w="22225">
            <a:solidFill>
              <a:schemeClr val="accent1"/>
            </a:solidFill>
            <a:prstDash val="solid"/>
          </a:ln>
        </p:spPr>
      </p:sp>
      <p:sp>
        <p:nvSpPr>
          <p:cNvPr id="24" name="Shape 21"/>
          <p:cNvSpPr/>
          <p:nvPr/>
        </p:nvSpPr>
        <p:spPr>
          <a:xfrm>
            <a:off x="11768328" y="4773168"/>
            <a:ext cx="0" cy="201168"/>
          </a:xfrm>
          <a:prstGeom prst="line">
            <a:avLst/>
          </a:prstGeom>
          <a:noFill/>
          <a:ln w="22225">
            <a:solidFill>
              <a:schemeClr val="accent1"/>
            </a:solidFill>
            <a:prstDash val="solid"/>
          </a:ln>
        </p:spPr>
      </p:sp>
      <p:sp>
        <p:nvSpPr>
          <p:cNvPr id="25" name="Text 22"/>
          <p:cNvSpPr txBox="1"/>
          <p:nvPr/>
        </p:nvSpPr>
        <p:spPr>
          <a:xfrm>
            <a:off x="6885432" y="4590288"/>
            <a:ext cx="4700016" cy="274320"/>
          </a:xfrm>
          <a:prstGeom prst="rect">
            <a:avLst/>
          </a:prstGeom>
          <a:noFill/>
          <a:ln/>
        </p:spPr>
        <p:txBody>
          <a:bodyPr wrap="square" lIns="0" tIns="0" rIns="0" bIns="0" rtlCol="0" anchor="ctr"/>
          <a:lstStyle/>
          <a:p>
            <a:pPr indent="0" marL="0">
              <a:lnSpc>
                <a:spcPct val="110000"/>
              </a:lnSpc>
              <a:buNone/>
            </a:pPr>
            <a:r>
              <a:rPr lang="ko-KR" altLang="en-US" sz="1100" dirty="0">
                <a:solidFill>
                  <a:schemeClr val="bg2"/>
                </a:solidFill>
              </a:rPr>
              <a:t>실제 게임 화면 · 창고 탭 (칸 안 숫자는 디버그용 칸 번호)</a:t>
            </a:r>
            <a:endParaRPr lang="ko-KR"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INDEX</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Contents</a:t>
            </a:r>
            <a:endParaRPr lang="en-US" sz="2800" dirty="0"/>
          </a:p>
        </p:txBody>
      </p:sp>
      <p:sp>
        <p:nvSpPr>
          <p:cNvPr id="5" name="Shape 2"/>
          <p:cNvSpPr/>
          <p:nvPr/>
        </p:nvSpPr>
        <p:spPr>
          <a:xfrm>
            <a:off x="457200" y="2240280"/>
            <a:ext cx="3611880" cy="1325880"/>
          </a:xfrm>
          <a:prstGeom prst="rect">
            <a:avLst/>
          </a:prstGeom>
          <a:solidFill>
            <a:schemeClr val="tx2"/>
          </a:solidFill>
          <a:ln w="9525">
            <a:solidFill>
              <a:srgbClr val="2A2F36"/>
            </a:solidFill>
            <a:prstDash val="solid"/>
          </a:ln>
        </p:spPr>
      </p:sp>
      <p:sp>
        <p:nvSpPr>
          <p:cNvPr id="6" name="Shape 3"/>
          <p:cNvSpPr/>
          <p:nvPr/>
        </p:nvSpPr>
        <p:spPr>
          <a:xfrm>
            <a:off x="457200" y="2240280"/>
            <a:ext cx="182880" cy="0"/>
          </a:xfrm>
          <a:prstGeom prst="line">
            <a:avLst/>
          </a:prstGeom>
          <a:noFill/>
          <a:ln w="22225">
            <a:solidFill>
              <a:schemeClr val="accent1"/>
            </a:solidFill>
            <a:prstDash val="solid"/>
          </a:ln>
        </p:spPr>
      </p:sp>
      <p:sp>
        <p:nvSpPr>
          <p:cNvPr id="7" name="Shape 4"/>
          <p:cNvSpPr/>
          <p:nvPr/>
        </p:nvSpPr>
        <p:spPr>
          <a:xfrm>
            <a:off x="457200" y="2240280"/>
            <a:ext cx="0" cy="182880"/>
          </a:xfrm>
          <a:prstGeom prst="line">
            <a:avLst/>
          </a:prstGeom>
          <a:noFill/>
          <a:ln w="22225">
            <a:solidFill>
              <a:schemeClr val="accent1"/>
            </a:solidFill>
            <a:prstDash val="solid"/>
          </a:ln>
        </p:spPr>
      </p:sp>
      <p:sp>
        <p:nvSpPr>
          <p:cNvPr id="8" name="Shape 5"/>
          <p:cNvSpPr/>
          <p:nvPr/>
        </p:nvSpPr>
        <p:spPr>
          <a:xfrm>
            <a:off x="3886200" y="3566160"/>
            <a:ext cx="182880" cy="0"/>
          </a:xfrm>
          <a:prstGeom prst="line">
            <a:avLst/>
          </a:prstGeom>
          <a:noFill/>
          <a:ln w="22225">
            <a:solidFill>
              <a:schemeClr val="accent1"/>
            </a:solidFill>
            <a:prstDash val="solid"/>
          </a:ln>
        </p:spPr>
      </p:sp>
      <p:sp>
        <p:nvSpPr>
          <p:cNvPr id="9" name="Shape 6"/>
          <p:cNvSpPr/>
          <p:nvPr/>
        </p:nvSpPr>
        <p:spPr>
          <a:xfrm>
            <a:off x="4069080" y="3383280"/>
            <a:ext cx="0" cy="182880"/>
          </a:xfrm>
          <a:prstGeom prst="line">
            <a:avLst/>
          </a:prstGeom>
          <a:noFill/>
          <a:ln w="22225">
            <a:solidFill>
              <a:schemeClr val="accent1"/>
            </a:solidFill>
            <a:prstDash val="solid"/>
          </a:ln>
        </p:spPr>
      </p:sp>
      <p:sp>
        <p:nvSpPr>
          <p:cNvPr id="10" name="Text 7"/>
          <p:cNvSpPr txBox="1"/>
          <p:nvPr/>
        </p:nvSpPr>
        <p:spPr>
          <a:xfrm>
            <a:off x="731520" y="2459736"/>
            <a:ext cx="914400" cy="411480"/>
          </a:xfrm>
          <a:prstGeom prst="rect">
            <a:avLst/>
          </a:prstGeom>
          <a:noFill/>
          <a:ln/>
        </p:spPr>
        <p:txBody>
          <a:bodyPr wrap="square" lIns="0" tIns="0" rIns="0" bIns="0" rtlCol="0" anchor="t"/>
          <a:lstStyle/>
          <a:p>
            <a:pPr indent="0" marL="0">
              <a:lnSpc>
                <a:spcPct val="120000"/>
              </a:lnSpc>
              <a:buNone/>
            </a:pPr>
            <a:r>
              <a:rPr lang="ko-KR" altLang="en-US" sz="2400" b="1" dirty="0">
                <a:solidFill>
                  <a:schemeClr val="accent1"/>
                </a:solidFill>
                <a:latin typeface="Consolas" pitchFamily="34" charset="0"/>
                <a:ea typeface="Consolas" pitchFamily="34" charset="-122"/>
                <a:cs typeface="Consolas" pitchFamily="34" charset="-120"/>
              </a:rPr>
              <a:t>00</a:t>
            </a:r>
            <a:endParaRPr lang="ko-KR" sz="2400" dirty="0"/>
          </a:p>
        </p:txBody>
      </p:sp>
      <p:sp>
        <p:nvSpPr>
          <p:cNvPr id="11" name="Text 8"/>
          <p:cNvSpPr txBox="1"/>
          <p:nvPr/>
        </p:nvSpPr>
        <p:spPr>
          <a:xfrm>
            <a:off x="731520" y="2953512"/>
            <a:ext cx="3154680" cy="411480"/>
          </a:xfrm>
          <a:prstGeom prst="rect">
            <a:avLst/>
          </a:prstGeom>
          <a:noFill/>
          <a:ln/>
        </p:spPr>
        <p:txBody>
          <a:bodyPr wrap="square" lIns="0" tIns="0" rIns="0" bIns="0" rtlCol="0" anchor="t"/>
          <a:lstStyle/>
          <a:p>
            <a:pPr indent="0" marL="0">
              <a:lnSpc>
                <a:spcPct val="120000"/>
              </a:lnSpc>
              <a:buNone/>
            </a:pPr>
            <a:r>
              <a:rPr lang="ko-KR" altLang="en-US" sz="1700" b="1" dirty="0">
                <a:solidFill>
                  <a:schemeClr val="bg1"/>
                </a:solidFill>
              </a:rPr>
              <a:t>프로젝트 개요</a:t>
            </a:r>
            <a:endParaRPr lang="ko-KR" sz="1700" dirty="0"/>
          </a:p>
        </p:txBody>
      </p:sp>
      <p:sp>
        <p:nvSpPr>
          <p:cNvPr id="12" name="Shape 9"/>
          <p:cNvSpPr/>
          <p:nvPr/>
        </p:nvSpPr>
        <p:spPr>
          <a:xfrm>
            <a:off x="4288536" y="2240280"/>
            <a:ext cx="3611880" cy="1325880"/>
          </a:xfrm>
          <a:prstGeom prst="rect">
            <a:avLst/>
          </a:prstGeom>
          <a:solidFill>
            <a:schemeClr val="tx2"/>
          </a:solidFill>
          <a:ln w="9525">
            <a:solidFill>
              <a:srgbClr val="2A2F36"/>
            </a:solidFill>
            <a:prstDash val="solid"/>
          </a:ln>
        </p:spPr>
      </p:sp>
      <p:sp>
        <p:nvSpPr>
          <p:cNvPr id="13" name="Shape 10"/>
          <p:cNvSpPr/>
          <p:nvPr/>
        </p:nvSpPr>
        <p:spPr>
          <a:xfrm>
            <a:off x="4288536" y="2240280"/>
            <a:ext cx="182880" cy="0"/>
          </a:xfrm>
          <a:prstGeom prst="line">
            <a:avLst/>
          </a:prstGeom>
          <a:noFill/>
          <a:ln w="22225">
            <a:solidFill>
              <a:schemeClr val="accent1"/>
            </a:solidFill>
            <a:prstDash val="solid"/>
          </a:ln>
        </p:spPr>
      </p:sp>
      <p:sp>
        <p:nvSpPr>
          <p:cNvPr id="14" name="Shape 11"/>
          <p:cNvSpPr/>
          <p:nvPr/>
        </p:nvSpPr>
        <p:spPr>
          <a:xfrm>
            <a:off x="4288536" y="2240280"/>
            <a:ext cx="0" cy="182880"/>
          </a:xfrm>
          <a:prstGeom prst="line">
            <a:avLst/>
          </a:prstGeom>
          <a:noFill/>
          <a:ln w="22225">
            <a:solidFill>
              <a:schemeClr val="accent1"/>
            </a:solidFill>
            <a:prstDash val="solid"/>
          </a:ln>
        </p:spPr>
      </p:sp>
      <p:sp>
        <p:nvSpPr>
          <p:cNvPr id="15" name="Shape 12"/>
          <p:cNvSpPr/>
          <p:nvPr/>
        </p:nvSpPr>
        <p:spPr>
          <a:xfrm>
            <a:off x="7717536" y="3566160"/>
            <a:ext cx="182880" cy="0"/>
          </a:xfrm>
          <a:prstGeom prst="line">
            <a:avLst/>
          </a:prstGeom>
          <a:noFill/>
          <a:ln w="22225">
            <a:solidFill>
              <a:schemeClr val="accent1"/>
            </a:solidFill>
            <a:prstDash val="solid"/>
          </a:ln>
        </p:spPr>
      </p:sp>
      <p:sp>
        <p:nvSpPr>
          <p:cNvPr id="16" name="Shape 13"/>
          <p:cNvSpPr/>
          <p:nvPr/>
        </p:nvSpPr>
        <p:spPr>
          <a:xfrm>
            <a:off x="7900416" y="3383280"/>
            <a:ext cx="0" cy="182880"/>
          </a:xfrm>
          <a:prstGeom prst="line">
            <a:avLst/>
          </a:prstGeom>
          <a:noFill/>
          <a:ln w="22225">
            <a:solidFill>
              <a:schemeClr val="accent1"/>
            </a:solidFill>
            <a:prstDash val="solid"/>
          </a:ln>
        </p:spPr>
      </p:sp>
      <p:sp>
        <p:nvSpPr>
          <p:cNvPr id="17" name="Text 14"/>
          <p:cNvSpPr txBox="1"/>
          <p:nvPr/>
        </p:nvSpPr>
        <p:spPr>
          <a:xfrm>
            <a:off x="4562856" y="2459736"/>
            <a:ext cx="914400" cy="411480"/>
          </a:xfrm>
          <a:prstGeom prst="rect">
            <a:avLst/>
          </a:prstGeom>
          <a:noFill/>
          <a:ln/>
        </p:spPr>
        <p:txBody>
          <a:bodyPr wrap="square" lIns="0" tIns="0" rIns="0" bIns="0" rtlCol="0" anchor="t"/>
          <a:lstStyle/>
          <a:p>
            <a:pPr indent="0" marL="0">
              <a:lnSpc>
                <a:spcPct val="120000"/>
              </a:lnSpc>
              <a:buNone/>
            </a:pPr>
            <a:r>
              <a:rPr lang="ko-KR" altLang="en-US" sz="2400" b="1" dirty="0">
                <a:solidFill>
                  <a:schemeClr val="accent1"/>
                </a:solidFill>
                <a:latin typeface="Consolas" pitchFamily="34" charset="0"/>
                <a:ea typeface="Consolas" pitchFamily="34" charset="-122"/>
                <a:cs typeface="Consolas" pitchFamily="34" charset="-120"/>
              </a:rPr>
              <a:t>01</a:t>
            </a:r>
            <a:endParaRPr lang="ko-KR" sz="2400" dirty="0"/>
          </a:p>
        </p:txBody>
      </p:sp>
      <p:sp>
        <p:nvSpPr>
          <p:cNvPr id="18" name="Text 15"/>
          <p:cNvSpPr txBox="1"/>
          <p:nvPr/>
        </p:nvSpPr>
        <p:spPr>
          <a:xfrm>
            <a:off x="4562856" y="2953512"/>
            <a:ext cx="3154680" cy="411480"/>
          </a:xfrm>
          <a:prstGeom prst="rect">
            <a:avLst/>
          </a:prstGeom>
          <a:noFill/>
          <a:ln/>
        </p:spPr>
        <p:txBody>
          <a:bodyPr wrap="square" lIns="0" tIns="0" rIns="0" bIns="0" rtlCol="0" anchor="t"/>
          <a:lstStyle/>
          <a:p>
            <a:pPr indent="0" marL="0">
              <a:lnSpc>
                <a:spcPct val="120000"/>
              </a:lnSpc>
              <a:buNone/>
            </a:pPr>
            <a:r>
              <a:rPr lang="ko-KR" altLang="en-US" sz="1700" b="1" dirty="0">
                <a:solidFill>
                  <a:schemeClr val="bg1"/>
                </a:solidFill>
              </a:rPr>
              <a:t>게임 루프 · 탈출</a:t>
            </a:r>
            <a:endParaRPr lang="ko-KR" sz="1700" dirty="0"/>
          </a:p>
        </p:txBody>
      </p:sp>
      <p:sp>
        <p:nvSpPr>
          <p:cNvPr id="19" name="Shape 16"/>
          <p:cNvSpPr/>
          <p:nvPr/>
        </p:nvSpPr>
        <p:spPr>
          <a:xfrm>
            <a:off x="8119872" y="2240280"/>
            <a:ext cx="3611880" cy="1325880"/>
          </a:xfrm>
          <a:prstGeom prst="rect">
            <a:avLst/>
          </a:prstGeom>
          <a:solidFill>
            <a:schemeClr val="tx2"/>
          </a:solidFill>
          <a:ln w="9525">
            <a:solidFill>
              <a:srgbClr val="2A2F36"/>
            </a:solidFill>
            <a:prstDash val="solid"/>
          </a:ln>
        </p:spPr>
      </p:sp>
      <p:sp>
        <p:nvSpPr>
          <p:cNvPr id="20" name="Shape 17"/>
          <p:cNvSpPr/>
          <p:nvPr/>
        </p:nvSpPr>
        <p:spPr>
          <a:xfrm>
            <a:off x="8119872" y="2240280"/>
            <a:ext cx="182880" cy="0"/>
          </a:xfrm>
          <a:prstGeom prst="line">
            <a:avLst/>
          </a:prstGeom>
          <a:noFill/>
          <a:ln w="22225">
            <a:solidFill>
              <a:schemeClr val="accent1"/>
            </a:solidFill>
            <a:prstDash val="solid"/>
          </a:ln>
        </p:spPr>
      </p:sp>
      <p:sp>
        <p:nvSpPr>
          <p:cNvPr id="21" name="Shape 18"/>
          <p:cNvSpPr/>
          <p:nvPr/>
        </p:nvSpPr>
        <p:spPr>
          <a:xfrm>
            <a:off x="8119872" y="2240280"/>
            <a:ext cx="0" cy="182880"/>
          </a:xfrm>
          <a:prstGeom prst="line">
            <a:avLst/>
          </a:prstGeom>
          <a:noFill/>
          <a:ln w="22225">
            <a:solidFill>
              <a:schemeClr val="accent1"/>
            </a:solidFill>
            <a:prstDash val="solid"/>
          </a:ln>
        </p:spPr>
      </p:sp>
      <p:sp>
        <p:nvSpPr>
          <p:cNvPr id="22" name="Shape 19"/>
          <p:cNvSpPr/>
          <p:nvPr/>
        </p:nvSpPr>
        <p:spPr>
          <a:xfrm>
            <a:off x="11548872" y="3566160"/>
            <a:ext cx="182880" cy="0"/>
          </a:xfrm>
          <a:prstGeom prst="line">
            <a:avLst/>
          </a:prstGeom>
          <a:noFill/>
          <a:ln w="22225">
            <a:solidFill>
              <a:schemeClr val="accent1"/>
            </a:solidFill>
            <a:prstDash val="solid"/>
          </a:ln>
        </p:spPr>
      </p:sp>
      <p:sp>
        <p:nvSpPr>
          <p:cNvPr id="23" name="Shape 20"/>
          <p:cNvSpPr/>
          <p:nvPr/>
        </p:nvSpPr>
        <p:spPr>
          <a:xfrm>
            <a:off x="11731752" y="3383280"/>
            <a:ext cx="0" cy="182880"/>
          </a:xfrm>
          <a:prstGeom prst="line">
            <a:avLst/>
          </a:prstGeom>
          <a:noFill/>
          <a:ln w="22225">
            <a:solidFill>
              <a:schemeClr val="accent1"/>
            </a:solidFill>
            <a:prstDash val="solid"/>
          </a:ln>
        </p:spPr>
      </p:sp>
      <p:sp>
        <p:nvSpPr>
          <p:cNvPr id="24" name="Text 21"/>
          <p:cNvSpPr txBox="1"/>
          <p:nvPr/>
        </p:nvSpPr>
        <p:spPr>
          <a:xfrm>
            <a:off x="8394192" y="2459736"/>
            <a:ext cx="914400" cy="411480"/>
          </a:xfrm>
          <a:prstGeom prst="rect">
            <a:avLst/>
          </a:prstGeom>
          <a:noFill/>
          <a:ln/>
        </p:spPr>
        <p:txBody>
          <a:bodyPr wrap="square" lIns="0" tIns="0" rIns="0" bIns="0" rtlCol="0" anchor="t"/>
          <a:lstStyle/>
          <a:p>
            <a:pPr indent="0" marL="0">
              <a:lnSpc>
                <a:spcPct val="120000"/>
              </a:lnSpc>
              <a:buNone/>
            </a:pPr>
            <a:r>
              <a:rPr lang="ko-KR" altLang="en-US" sz="2400" b="1" dirty="0">
                <a:solidFill>
                  <a:schemeClr val="accent1"/>
                </a:solidFill>
                <a:latin typeface="Consolas" pitchFamily="34" charset="0"/>
                <a:ea typeface="Consolas" pitchFamily="34" charset="-122"/>
                <a:cs typeface="Consolas" pitchFamily="34" charset="-120"/>
              </a:rPr>
              <a:t>02</a:t>
            </a:r>
            <a:endParaRPr lang="ko-KR" sz="2400" dirty="0"/>
          </a:p>
        </p:txBody>
      </p:sp>
      <p:sp>
        <p:nvSpPr>
          <p:cNvPr id="25" name="Text 22"/>
          <p:cNvSpPr txBox="1"/>
          <p:nvPr/>
        </p:nvSpPr>
        <p:spPr>
          <a:xfrm>
            <a:off x="8394192" y="2953512"/>
            <a:ext cx="3154680" cy="411480"/>
          </a:xfrm>
          <a:prstGeom prst="rect">
            <a:avLst/>
          </a:prstGeom>
          <a:noFill/>
          <a:ln/>
        </p:spPr>
        <p:txBody>
          <a:bodyPr wrap="square" lIns="0" tIns="0" rIns="0" bIns="0" rtlCol="0" anchor="t"/>
          <a:lstStyle/>
          <a:p>
            <a:pPr indent="0" marL="0">
              <a:lnSpc>
                <a:spcPct val="120000"/>
              </a:lnSpc>
              <a:buNone/>
            </a:pPr>
            <a:r>
              <a:rPr lang="ko-KR" altLang="en-US" sz="1700" b="1" dirty="0">
                <a:solidFill>
                  <a:schemeClr val="bg1"/>
                </a:solidFill>
              </a:rPr>
              <a:t>핵심 기술 · 그리드 인벤토리</a:t>
            </a:r>
            <a:endParaRPr lang="ko-KR" sz="1700" dirty="0"/>
          </a:p>
        </p:txBody>
      </p:sp>
      <p:sp>
        <p:nvSpPr>
          <p:cNvPr id="26" name="Shape 23"/>
          <p:cNvSpPr/>
          <p:nvPr/>
        </p:nvSpPr>
        <p:spPr>
          <a:xfrm>
            <a:off x="457200" y="3931920"/>
            <a:ext cx="3611880" cy="1325880"/>
          </a:xfrm>
          <a:prstGeom prst="rect">
            <a:avLst/>
          </a:prstGeom>
          <a:solidFill>
            <a:schemeClr val="tx2"/>
          </a:solidFill>
          <a:ln w="9525">
            <a:solidFill>
              <a:srgbClr val="2A2F36"/>
            </a:solidFill>
            <a:prstDash val="solid"/>
          </a:ln>
        </p:spPr>
      </p:sp>
      <p:sp>
        <p:nvSpPr>
          <p:cNvPr id="27" name="Shape 24"/>
          <p:cNvSpPr/>
          <p:nvPr/>
        </p:nvSpPr>
        <p:spPr>
          <a:xfrm>
            <a:off x="457200" y="3931920"/>
            <a:ext cx="182880" cy="0"/>
          </a:xfrm>
          <a:prstGeom prst="line">
            <a:avLst/>
          </a:prstGeom>
          <a:noFill/>
          <a:ln w="22225">
            <a:solidFill>
              <a:schemeClr val="accent1"/>
            </a:solidFill>
            <a:prstDash val="solid"/>
          </a:ln>
        </p:spPr>
      </p:sp>
      <p:sp>
        <p:nvSpPr>
          <p:cNvPr id="28" name="Shape 25"/>
          <p:cNvSpPr/>
          <p:nvPr/>
        </p:nvSpPr>
        <p:spPr>
          <a:xfrm>
            <a:off x="457200" y="3931920"/>
            <a:ext cx="0" cy="182880"/>
          </a:xfrm>
          <a:prstGeom prst="line">
            <a:avLst/>
          </a:prstGeom>
          <a:noFill/>
          <a:ln w="22225">
            <a:solidFill>
              <a:schemeClr val="accent1"/>
            </a:solidFill>
            <a:prstDash val="solid"/>
          </a:ln>
        </p:spPr>
      </p:sp>
      <p:sp>
        <p:nvSpPr>
          <p:cNvPr id="29" name="Shape 26"/>
          <p:cNvSpPr/>
          <p:nvPr/>
        </p:nvSpPr>
        <p:spPr>
          <a:xfrm>
            <a:off x="3886200" y="5257800"/>
            <a:ext cx="182880" cy="0"/>
          </a:xfrm>
          <a:prstGeom prst="line">
            <a:avLst/>
          </a:prstGeom>
          <a:noFill/>
          <a:ln w="22225">
            <a:solidFill>
              <a:schemeClr val="accent1"/>
            </a:solidFill>
            <a:prstDash val="solid"/>
          </a:ln>
        </p:spPr>
      </p:sp>
      <p:sp>
        <p:nvSpPr>
          <p:cNvPr id="30" name="Shape 27"/>
          <p:cNvSpPr/>
          <p:nvPr/>
        </p:nvSpPr>
        <p:spPr>
          <a:xfrm>
            <a:off x="4069080" y="5074920"/>
            <a:ext cx="0" cy="182880"/>
          </a:xfrm>
          <a:prstGeom prst="line">
            <a:avLst/>
          </a:prstGeom>
          <a:noFill/>
          <a:ln w="22225">
            <a:solidFill>
              <a:schemeClr val="accent1"/>
            </a:solidFill>
            <a:prstDash val="solid"/>
          </a:ln>
        </p:spPr>
      </p:sp>
      <p:sp>
        <p:nvSpPr>
          <p:cNvPr id="31" name="Text 28"/>
          <p:cNvSpPr txBox="1"/>
          <p:nvPr/>
        </p:nvSpPr>
        <p:spPr>
          <a:xfrm>
            <a:off x="731520" y="4151376"/>
            <a:ext cx="914400" cy="411480"/>
          </a:xfrm>
          <a:prstGeom prst="rect">
            <a:avLst/>
          </a:prstGeom>
          <a:noFill/>
          <a:ln/>
        </p:spPr>
        <p:txBody>
          <a:bodyPr wrap="square" lIns="0" tIns="0" rIns="0" bIns="0" rtlCol="0" anchor="t"/>
          <a:lstStyle/>
          <a:p>
            <a:pPr indent="0" marL="0">
              <a:lnSpc>
                <a:spcPct val="120000"/>
              </a:lnSpc>
              <a:buNone/>
            </a:pPr>
            <a:r>
              <a:rPr lang="ko-KR" altLang="en-US" sz="2400" b="1" dirty="0">
                <a:solidFill>
                  <a:schemeClr val="accent1"/>
                </a:solidFill>
                <a:latin typeface="Consolas" pitchFamily="34" charset="0"/>
                <a:ea typeface="Consolas" pitchFamily="34" charset="-122"/>
                <a:cs typeface="Consolas" pitchFamily="34" charset="-120"/>
              </a:rPr>
              <a:t>03</a:t>
            </a:r>
            <a:endParaRPr lang="ko-KR" sz="2400" dirty="0"/>
          </a:p>
        </p:txBody>
      </p:sp>
      <p:sp>
        <p:nvSpPr>
          <p:cNvPr id="32" name="Text 29"/>
          <p:cNvSpPr txBox="1"/>
          <p:nvPr/>
        </p:nvSpPr>
        <p:spPr>
          <a:xfrm>
            <a:off x="731520" y="4645152"/>
            <a:ext cx="3154680" cy="411480"/>
          </a:xfrm>
          <a:prstGeom prst="rect">
            <a:avLst/>
          </a:prstGeom>
          <a:noFill/>
          <a:ln/>
        </p:spPr>
        <p:txBody>
          <a:bodyPr wrap="square" lIns="0" tIns="0" rIns="0" bIns="0" rtlCol="0" anchor="t"/>
          <a:lstStyle/>
          <a:p>
            <a:pPr indent="0" marL="0">
              <a:lnSpc>
                <a:spcPct val="120000"/>
              </a:lnSpc>
              <a:buNone/>
            </a:pPr>
            <a:r>
              <a:rPr lang="ko-KR" altLang="en-US" sz="1700" b="1" dirty="0">
                <a:solidFill>
                  <a:schemeClr val="bg1"/>
                </a:solidFill>
              </a:rPr>
              <a:t>성능 최적화</a:t>
            </a:r>
            <a:endParaRPr lang="ko-KR" sz="1700" dirty="0"/>
          </a:p>
        </p:txBody>
      </p:sp>
      <p:sp>
        <p:nvSpPr>
          <p:cNvPr id="33" name="Shape 30"/>
          <p:cNvSpPr/>
          <p:nvPr/>
        </p:nvSpPr>
        <p:spPr>
          <a:xfrm>
            <a:off x="4288536" y="3931920"/>
            <a:ext cx="3611880" cy="1325880"/>
          </a:xfrm>
          <a:prstGeom prst="rect">
            <a:avLst/>
          </a:prstGeom>
          <a:solidFill>
            <a:schemeClr val="tx2"/>
          </a:solidFill>
          <a:ln w="9525">
            <a:solidFill>
              <a:srgbClr val="2A2F36"/>
            </a:solidFill>
            <a:prstDash val="solid"/>
          </a:ln>
        </p:spPr>
      </p:sp>
      <p:sp>
        <p:nvSpPr>
          <p:cNvPr id="34" name="Shape 31"/>
          <p:cNvSpPr/>
          <p:nvPr/>
        </p:nvSpPr>
        <p:spPr>
          <a:xfrm>
            <a:off x="4288536" y="3931920"/>
            <a:ext cx="182880" cy="0"/>
          </a:xfrm>
          <a:prstGeom prst="line">
            <a:avLst/>
          </a:prstGeom>
          <a:noFill/>
          <a:ln w="22225">
            <a:solidFill>
              <a:schemeClr val="accent1"/>
            </a:solidFill>
            <a:prstDash val="solid"/>
          </a:ln>
        </p:spPr>
      </p:sp>
      <p:sp>
        <p:nvSpPr>
          <p:cNvPr id="35" name="Shape 32"/>
          <p:cNvSpPr/>
          <p:nvPr/>
        </p:nvSpPr>
        <p:spPr>
          <a:xfrm>
            <a:off x="4288536" y="3931920"/>
            <a:ext cx="0" cy="182880"/>
          </a:xfrm>
          <a:prstGeom prst="line">
            <a:avLst/>
          </a:prstGeom>
          <a:noFill/>
          <a:ln w="22225">
            <a:solidFill>
              <a:schemeClr val="accent1"/>
            </a:solidFill>
            <a:prstDash val="solid"/>
          </a:ln>
        </p:spPr>
      </p:sp>
      <p:sp>
        <p:nvSpPr>
          <p:cNvPr id="36" name="Shape 33"/>
          <p:cNvSpPr/>
          <p:nvPr/>
        </p:nvSpPr>
        <p:spPr>
          <a:xfrm>
            <a:off x="7717536" y="5257800"/>
            <a:ext cx="182880" cy="0"/>
          </a:xfrm>
          <a:prstGeom prst="line">
            <a:avLst/>
          </a:prstGeom>
          <a:noFill/>
          <a:ln w="22225">
            <a:solidFill>
              <a:schemeClr val="accent1"/>
            </a:solidFill>
            <a:prstDash val="solid"/>
          </a:ln>
        </p:spPr>
      </p:sp>
      <p:sp>
        <p:nvSpPr>
          <p:cNvPr id="37" name="Shape 34"/>
          <p:cNvSpPr/>
          <p:nvPr/>
        </p:nvSpPr>
        <p:spPr>
          <a:xfrm>
            <a:off x="7900416" y="5074920"/>
            <a:ext cx="0" cy="182880"/>
          </a:xfrm>
          <a:prstGeom prst="line">
            <a:avLst/>
          </a:prstGeom>
          <a:noFill/>
          <a:ln w="22225">
            <a:solidFill>
              <a:schemeClr val="accent1"/>
            </a:solidFill>
            <a:prstDash val="solid"/>
          </a:ln>
        </p:spPr>
      </p:sp>
      <p:sp>
        <p:nvSpPr>
          <p:cNvPr id="38" name="Text 35"/>
          <p:cNvSpPr txBox="1"/>
          <p:nvPr/>
        </p:nvSpPr>
        <p:spPr>
          <a:xfrm>
            <a:off x="4562856" y="4151376"/>
            <a:ext cx="914400" cy="411480"/>
          </a:xfrm>
          <a:prstGeom prst="rect">
            <a:avLst/>
          </a:prstGeom>
          <a:noFill/>
          <a:ln/>
        </p:spPr>
        <p:txBody>
          <a:bodyPr wrap="square" lIns="0" tIns="0" rIns="0" bIns="0" rtlCol="0" anchor="t"/>
          <a:lstStyle/>
          <a:p>
            <a:pPr indent="0" marL="0">
              <a:lnSpc>
                <a:spcPct val="120000"/>
              </a:lnSpc>
              <a:buNone/>
            </a:pPr>
            <a:r>
              <a:rPr lang="ko-KR" altLang="en-US" sz="2400" b="1" dirty="0">
                <a:solidFill>
                  <a:schemeClr val="accent1"/>
                </a:solidFill>
                <a:latin typeface="Consolas" pitchFamily="34" charset="0"/>
                <a:ea typeface="Consolas" pitchFamily="34" charset="-122"/>
                <a:cs typeface="Consolas" pitchFamily="34" charset="-120"/>
              </a:rPr>
              <a:t>04</a:t>
            </a:r>
            <a:endParaRPr lang="ko-KR" sz="2400" dirty="0"/>
          </a:p>
        </p:txBody>
      </p:sp>
      <p:sp>
        <p:nvSpPr>
          <p:cNvPr id="39" name="Text 36"/>
          <p:cNvSpPr txBox="1"/>
          <p:nvPr/>
        </p:nvSpPr>
        <p:spPr>
          <a:xfrm>
            <a:off x="4562856" y="4645152"/>
            <a:ext cx="3154680" cy="411480"/>
          </a:xfrm>
          <a:prstGeom prst="rect">
            <a:avLst/>
          </a:prstGeom>
          <a:noFill/>
          <a:ln/>
        </p:spPr>
        <p:txBody>
          <a:bodyPr wrap="square" lIns="0" tIns="0" rIns="0" bIns="0" rtlCol="0" anchor="t"/>
          <a:lstStyle/>
          <a:p>
            <a:pPr indent="0" marL="0">
              <a:lnSpc>
                <a:spcPct val="120000"/>
              </a:lnSpc>
              <a:buNone/>
            </a:pPr>
            <a:r>
              <a:rPr lang="ko-KR" altLang="en-US" sz="1700" b="1" dirty="0">
                <a:solidFill>
                  <a:schemeClr val="bg1"/>
                </a:solidFill>
              </a:rPr>
              <a:t>트러블 슈팅 · 구조 개선</a:t>
            </a:r>
            <a:endParaRPr lang="ko-KR" sz="1700" dirty="0"/>
          </a:p>
        </p:txBody>
      </p:sp>
      <p:sp>
        <p:nvSpPr>
          <p:cNvPr id="40" name="Shape 37"/>
          <p:cNvSpPr/>
          <p:nvPr/>
        </p:nvSpPr>
        <p:spPr>
          <a:xfrm>
            <a:off x="8119872" y="3931920"/>
            <a:ext cx="3611880" cy="1325880"/>
          </a:xfrm>
          <a:prstGeom prst="rect">
            <a:avLst/>
          </a:prstGeom>
          <a:solidFill>
            <a:schemeClr val="tx2"/>
          </a:solidFill>
          <a:ln w="9525">
            <a:solidFill>
              <a:srgbClr val="2A2F36"/>
            </a:solidFill>
            <a:prstDash val="solid"/>
          </a:ln>
        </p:spPr>
      </p:sp>
      <p:sp>
        <p:nvSpPr>
          <p:cNvPr id="41" name="Shape 38"/>
          <p:cNvSpPr/>
          <p:nvPr/>
        </p:nvSpPr>
        <p:spPr>
          <a:xfrm>
            <a:off x="8119872" y="3931920"/>
            <a:ext cx="182880" cy="0"/>
          </a:xfrm>
          <a:prstGeom prst="line">
            <a:avLst/>
          </a:prstGeom>
          <a:noFill/>
          <a:ln w="22225">
            <a:solidFill>
              <a:schemeClr val="accent1"/>
            </a:solidFill>
            <a:prstDash val="solid"/>
          </a:ln>
        </p:spPr>
      </p:sp>
      <p:sp>
        <p:nvSpPr>
          <p:cNvPr id="42" name="Shape 39"/>
          <p:cNvSpPr/>
          <p:nvPr/>
        </p:nvSpPr>
        <p:spPr>
          <a:xfrm>
            <a:off x="8119872" y="3931920"/>
            <a:ext cx="0" cy="182880"/>
          </a:xfrm>
          <a:prstGeom prst="line">
            <a:avLst/>
          </a:prstGeom>
          <a:noFill/>
          <a:ln w="22225">
            <a:solidFill>
              <a:schemeClr val="accent1"/>
            </a:solidFill>
            <a:prstDash val="solid"/>
          </a:ln>
        </p:spPr>
      </p:sp>
      <p:sp>
        <p:nvSpPr>
          <p:cNvPr id="43" name="Shape 40"/>
          <p:cNvSpPr/>
          <p:nvPr/>
        </p:nvSpPr>
        <p:spPr>
          <a:xfrm>
            <a:off x="11548872" y="5257800"/>
            <a:ext cx="182880" cy="0"/>
          </a:xfrm>
          <a:prstGeom prst="line">
            <a:avLst/>
          </a:prstGeom>
          <a:noFill/>
          <a:ln w="22225">
            <a:solidFill>
              <a:schemeClr val="accent1"/>
            </a:solidFill>
            <a:prstDash val="solid"/>
          </a:ln>
        </p:spPr>
      </p:sp>
      <p:sp>
        <p:nvSpPr>
          <p:cNvPr id="44" name="Shape 41"/>
          <p:cNvSpPr/>
          <p:nvPr/>
        </p:nvSpPr>
        <p:spPr>
          <a:xfrm>
            <a:off x="11731752" y="5074920"/>
            <a:ext cx="0" cy="182880"/>
          </a:xfrm>
          <a:prstGeom prst="line">
            <a:avLst/>
          </a:prstGeom>
          <a:noFill/>
          <a:ln w="22225">
            <a:solidFill>
              <a:schemeClr val="accent1"/>
            </a:solidFill>
            <a:prstDash val="solid"/>
          </a:ln>
        </p:spPr>
      </p:sp>
      <p:sp>
        <p:nvSpPr>
          <p:cNvPr id="45" name="Text 42"/>
          <p:cNvSpPr txBox="1"/>
          <p:nvPr/>
        </p:nvSpPr>
        <p:spPr>
          <a:xfrm>
            <a:off x="8394192" y="4151376"/>
            <a:ext cx="914400" cy="411480"/>
          </a:xfrm>
          <a:prstGeom prst="rect">
            <a:avLst/>
          </a:prstGeom>
          <a:noFill/>
          <a:ln/>
        </p:spPr>
        <p:txBody>
          <a:bodyPr wrap="square" lIns="0" tIns="0" rIns="0" bIns="0" rtlCol="0" anchor="t"/>
          <a:lstStyle/>
          <a:p>
            <a:pPr indent="0" marL="0">
              <a:lnSpc>
                <a:spcPct val="120000"/>
              </a:lnSpc>
              <a:buNone/>
            </a:pPr>
            <a:r>
              <a:rPr lang="ko-KR" altLang="en-US" sz="2400" b="1" dirty="0">
                <a:solidFill>
                  <a:schemeClr val="accent1"/>
                </a:solidFill>
                <a:latin typeface="Consolas" pitchFamily="34" charset="0"/>
                <a:ea typeface="Consolas" pitchFamily="34" charset="-122"/>
                <a:cs typeface="Consolas" pitchFamily="34" charset="-120"/>
              </a:rPr>
              <a:t>05</a:t>
            </a:r>
            <a:endParaRPr lang="ko-KR" sz="2400" dirty="0"/>
          </a:p>
        </p:txBody>
      </p:sp>
      <p:sp>
        <p:nvSpPr>
          <p:cNvPr id="46" name="Text 43"/>
          <p:cNvSpPr txBox="1"/>
          <p:nvPr/>
        </p:nvSpPr>
        <p:spPr>
          <a:xfrm>
            <a:off x="8394192" y="4645152"/>
            <a:ext cx="3154680" cy="411480"/>
          </a:xfrm>
          <a:prstGeom prst="rect">
            <a:avLst/>
          </a:prstGeom>
          <a:noFill/>
          <a:ln/>
        </p:spPr>
        <p:txBody>
          <a:bodyPr wrap="square" lIns="0" tIns="0" rIns="0" bIns="0" rtlCol="0" anchor="t"/>
          <a:lstStyle/>
          <a:p>
            <a:pPr indent="0" marL="0">
              <a:lnSpc>
                <a:spcPct val="120000"/>
              </a:lnSpc>
              <a:buNone/>
            </a:pPr>
            <a:r>
              <a:rPr lang="ko-KR" altLang="en-US" sz="1700" b="1" dirty="0">
                <a:solidFill>
                  <a:schemeClr val="bg1"/>
                </a:solidFill>
              </a:rPr>
              <a:t>성장 · 향후 과제</a:t>
            </a:r>
            <a:endParaRPr lang="ko-KR" sz="17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00 · OVERVIEW</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프로젝트 개요</a:t>
            </a:r>
            <a:endParaRPr lang="en-US" sz="2800" dirty="0"/>
          </a:p>
        </p:txBody>
      </p:sp>
      <p:sp>
        <p:nvSpPr>
          <p:cNvPr id="5" name="Shape 2"/>
          <p:cNvSpPr/>
          <p:nvPr/>
        </p:nvSpPr>
        <p:spPr>
          <a:xfrm>
            <a:off x="457200" y="1426464"/>
            <a:ext cx="5596128" cy="3291840"/>
          </a:xfrm>
          <a:prstGeom prst="rect">
            <a:avLst/>
          </a:prstGeom>
          <a:solidFill>
            <a:schemeClr val="tx2"/>
          </a:solidFill>
          <a:ln w="9525">
            <a:solidFill>
              <a:srgbClr val="2A2F36"/>
            </a:solidFill>
            <a:prstDash val="solid"/>
          </a:ln>
        </p:spPr>
      </p:sp>
      <p:pic>
        <p:nvPicPr>
          <p:cNvPr id="6" name="창고 탭 실제 화면" descr="창고 탭 실제 화면">    </p:cNvPr>
          <p:cNvPicPr>
            <a:picLocks noChangeAspect="1"/>
          </p:cNvPicPr>
          <p:nvPr/>
        </p:nvPicPr>
        <p:blipFill>
          <a:blip r:embed="rId1"/>
          <a:stretch>
            <a:fillRect/>
          </a:stretch>
        </p:blipFill>
        <p:spPr>
          <a:xfrm>
            <a:off x="512064" y="1481328"/>
            <a:ext cx="5486400" cy="2871216"/>
          </a:xfrm>
          <a:prstGeom prst="rect">
            <a:avLst/>
          </a:prstGeom>
        </p:spPr>
      </p:pic>
      <p:sp>
        <p:nvSpPr>
          <p:cNvPr id="7" name="Shape 3"/>
          <p:cNvSpPr/>
          <p:nvPr/>
        </p:nvSpPr>
        <p:spPr>
          <a:xfrm>
            <a:off x="402336" y="1371600"/>
            <a:ext cx="201168" cy="0"/>
          </a:xfrm>
          <a:prstGeom prst="line">
            <a:avLst/>
          </a:prstGeom>
          <a:noFill/>
          <a:ln w="22225">
            <a:solidFill>
              <a:schemeClr val="accent1"/>
            </a:solidFill>
            <a:prstDash val="solid"/>
          </a:ln>
        </p:spPr>
      </p:sp>
      <p:sp>
        <p:nvSpPr>
          <p:cNvPr id="8" name="Shape 4"/>
          <p:cNvSpPr/>
          <p:nvPr/>
        </p:nvSpPr>
        <p:spPr>
          <a:xfrm>
            <a:off x="402336" y="1371600"/>
            <a:ext cx="0" cy="201168"/>
          </a:xfrm>
          <a:prstGeom prst="line">
            <a:avLst/>
          </a:prstGeom>
          <a:noFill/>
          <a:ln w="22225">
            <a:solidFill>
              <a:schemeClr val="accent1"/>
            </a:solidFill>
            <a:prstDash val="solid"/>
          </a:ln>
        </p:spPr>
      </p:sp>
      <p:sp>
        <p:nvSpPr>
          <p:cNvPr id="9" name="Shape 5"/>
          <p:cNvSpPr/>
          <p:nvPr/>
        </p:nvSpPr>
        <p:spPr>
          <a:xfrm>
            <a:off x="5907024" y="1371600"/>
            <a:ext cx="201168" cy="0"/>
          </a:xfrm>
          <a:prstGeom prst="line">
            <a:avLst/>
          </a:prstGeom>
          <a:noFill/>
          <a:ln w="22225">
            <a:solidFill>
              <a:schemeClr val="accent1"/>
            </a:solidFill>
            <a:prstDash val="solid"/>
          </a:ln>
        </p:spPr>
      </p:sp>
      <p:sp>
        <p:nvSpPr>
          <p:cNvPr id="10" name="Shape 6"/>
          <p:cNvSpPr/>
          <p:nvPr/>
        </p:nvSpPr>
        <p:spPr>
          <a:xfrm>
            <a:off x="6108192" y="1371600"/>
            <a:ext cx="0" cy="201168"/>
          </a:xfrm>
          <a:prstGeom prst="line">
            <a:avLst/>
          </a:prstGeom>
          <a:noFill/>
          <a:ln w="22225">
            <a:solidFill>
              <a:schemeClr val="accent1"/>
            </a:solidFill>
            <a:prstDash val="solid"/>
          </a:ln>
        </p:spPr>
      </p:sp>
      <p:sp>
        <p:nvSpPr>
          <p:cNvPr id="11" name="Shape 7"/>
          <p:cNvSpPr/>
          <p:nvPr/>
        </p:nvSpPr>
        <p:spPr>
          <a:xfrm>
            <a:off x="402336" y="4773168"/>
            <a:ext cx="201168" cy="0"/>
          </a:xfrm>
          <a:prstGeom prst="line">
            <a:avLst/>
          </a:prstGeom>
          <a:noFill/>
          <a:ln w="22225">
            <a:solidFill>
              <a:schemeClr val="accent1"/>
            </a:solidFill>
            <a:prstDash val="solid"/>
          </a:ln>
        </p:spPr>
      </p:sp>
      <p:sp>
        <p:nvSpPr>
          <p:cNvPr id="12" name="Shape 8"/>
          <p:cNvSpPr/>
          <p:nvPr/>
        </p:nvSpPr>
        <p:spPr>
          <a:xfrm>
            <a:off x="402336" y="4572000"/>
            <a:ext cx="0" cy="201168"/>
          </a:xfrm>
          <a:prstGeom prst="line">
            <a:avLst/>
          </a:prstGeom>
          <a:noFill/>
          <a:ln w="22225">
            <a:solidFill>
              <a:schemeClr val="accent1"/>
            </a:solidFill>
            <a:prstDash val="solid"/>
          </a:ln>
        </p:spPr>
      </p:sp>
      <p:sp>
        <p:nvSpPr>
          <p:cNvPr id="13" name="Shape 9"/>
          <p:cNvSpPr/>
          <p:nvPr/>
        </p:nvSpPr>
        <p:spPr>
          <a:xfrm>
            <a:off x="5907024" y="4773168"/>
            <a:ext cx="201168" cy="0"/>
          </a:xfrm>
          <a:prstGeom prst="line">
            <a:avLst/>
          </a:prstGeom>
          <a:noFill/>
          <a:ln w="22225">
            <a:solidFill>
              <a:schemeClr val="accent1"/>
            </a:solidFill>
            <a:prstDash val="solid"/>
          </a:ln>
        </p:spPr>
      </p:sp>
      <p:sp>
        <p:nvSpPr>
          <p:cNvPr id="14" name="Shape 10"/>
          <p:cNvSpPr/>
          <p:nvPr/>
        </p:nvSpPr>
        <p:spPr>
          <a:xfrm>
            <a:off x="6108192" y="4572000"/>
            <a:ext cx="0" cy="201168"/>
          </a:xfrm>
          <a:prstGeom prst="line">
            <a:avLst/>
          </a:prstGeom>
          <a:noFill/>
          <a:ln w="22225">
            <a:solidFill>
              <a:schemeClr val="accent1"/>
            </a:solidFill>
            <a:prstDash val="solid"/>
          </a:ln>
        </p:spPr>
      </p:sp>
      <p:sp>
        <p:nvSpPr>
          <p:cNvPr id="15" name="Text 11"/>
          <p:cNvSpPr txBox="1"/>
          <p:nvPr/>
        </p:nvSpPr>
        <p:spPr>
          <a:xfrm>
            <a:off x="585216" y="4389120"/>
            <a:ext cx="5340096" cy="274320"/>
          </a:xfrm>
          <a:prstGeom prst="rect">
            <a:avLst/>
          </a:prstGeom>
          <a:noFill/>
          <a:ln/>
        </p:spPr>
        <p:txBody>
          <a:bodyPr wrap="square" lIns="0" tIns="0" rIns="0" bIns="0" rtlCol="0" anchor="ctr"/>
          <a:lstStyle/>
          <a:p>
            <a:pPr indent="0" marL="0">
              <a:lnSpc>
                <a:spcPct val="110000"/>
              </a:lnSpc>
              <a:buNone/>
            </a:pPr>
            <a:r>
              <a:rPr lang="ko-KR" altLang="en-US" sz="1100" dirty="0">
                <a:solidFill>
                  <a:schemeClr val="bg2"/>
                </a:solidFill>
              </a:rPr>
              <a:t>실제 창고 화면 · 체스트 리그 장착 (칸 안 숫자는 디버그용 칸 번호)</a:t>
            </a:r>
            <a:endParaRPr lang="ko-KR" sz="1100" dirty="0"/>
          </a:p>
        </p:txBody>
      </p:sp>
      <p:sp>
        <p:nvSpPr>
          <p:cNvPr id="16" name="Shape 12"/>
          <p:cNvSpPr/>
          <p:nvPr/>
        </p:nvSpPr>
        <p:spPr>
          <a:xfrm>
            <a:off x="6355080" y="1371600"/>
            <a:ext cx="5376672" cy="1783080"/>
          </a:xfrm>
          <a:prstGeom prst="rect">
            <a:avLst/>
          </a:prstGeom>
          <a:solidFill>
            <a:schemeClr val="tx2"/>
          </a:solidFill>
          <a:ln w="9525">
            <a:solidFill>
              <a:srgbClr val="2A2F36"/>
            </a:solidFill>
            <a:prstDash val="solid"/>
          </a:ln>
        </p:spPr>
      </p:sp>
      <p:sp>
        <p:nvSpPr>
          <p:cNvPr id="17" name="Shape 13"/>
          <p:cNvSpPr/>
          <p:nvPr/>
        </p:nvSpPr>
        <p:spPr>
          <a:xfrm>
            <a:off x="6355080" y="1371600"/>
            <a:ext cx="182880" cy="0"/>
          </a:xfrm>
          <a:prstGeom prst="line">
            <a:avLst/>
          </a:prstGeom>
          <a:noFill/>
          <a:ln w="22225">
            <a:solidFill>
              <a:schemeClr val="accent1"/>
            </a:solidFill>
            <a:prstDash val="solid"/>
          </a:ln>
        </p:spPr>
      </p:sp>
      <p:sp>
        <p:nvSpPr>
          <p:cNvPr id="18" name="Shape 14"/>
          <p:cNvSpPr/>
          <p:nvPr/>
        </p:nvSpPr>
        <p:spPr>
          <a:xfrm>
            <a:off x="6355080" y="1371600"/>
            <a:ext cx="0" cy="182880"/>
          </a:xfrm>
          <a:prstGeom prst="line">
            <a:avLst/>
          </a:prstGeom>
          <a:noFill/>
          <a:ln w="22225">
            <a:solidFill>
              <a:schemeClr val="accent1"/>
            </a:solidFill>
            <a:prstDash val="solid"/>
          </a:ln>
        </p:spPr>
      </p:sp>
      <p:sp>
        <p:nvSpPr>
          <p:cNvPr id="19" name="Shape 15"/>
          <p:cNvSpPr/>
          <p:nvPr/>
        </p:nvSpPr>
        <p:spPr>
          <a:xfrm>
            <a:off x="11548872" y="3154680"/>
            <a:ext cx="182880" cy="0"/>
          </a:xfrm>
          <a:prstGeom prst="line">
            <a:avLst/>
          </a:prstGeom>
          <a:noFill/>
          <a:ln w="22225">
            <a:solidFill>
              <a:schemeClr val="accent1"/>
            </a:solidFill>
            <a:prstDash val="solid"/>
          </a:ln>
        </p:spPr>
      </p:sp>
      <p:sp>
        <p:nvSpPr>
          <p:cNvPr id="20" name="Shape 16"/>
          <p:cNvSpPr/>
          <p:nvPr/>
        </p:nvSpPr>
        <p:spPr>
          <a:xfrm>
            <a:off x="11731752" y="2971800"/>
            <a:ext cx="0" cy="182880"/>
          </a:xfrm>
          <a:prstGeom prst="line">
            <a:avLst/>
          </a:prstGeom>
          <a:noFill/>
          <a:ln w="22225">
            <a:solidFill>
              <a:schemeClr val="accent1"/>
            </a:solidFill>
            <a:prstDash val="solid"/>
          </a:ln>
        </p:spPr>
      </p:sp>
      <p:sp>
        <p:nvSpPr>
          <p:cNvPr id="21" name="Text 17"/>
          <p:cNvSpPr txBox="1"/>
          <p:nvPr/>
        </p:nvSpPr>
        <p:spPr>
          <a:xfrm>
            <a:off x="6574536" y="1527048"/>
            <a:ext cx="4937760"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한 줄 설명</a:t>
            </a:r>
            <a:endParaRPr lang="ko-KR" sz="1450" dirty="0"/>
          </a:p>
        </p:txBody>
      </p:sp>
      <p:sp>
        <p:nvSpPr>
          <p:cNvPr id="22" name="Text 18"/>
          <p:cNvSpPr txBox="1"/>
          <p:nvPr/>
        </p:nvSpPr>
        <p:spPr>
          <a:xfrm>
            <a:off x="6574536" y="1901952"/>
            <a:ext cx="4937760" cy="1115568"/>
          </a:xfrm>
          <a:prstGeom prst="rect">
            <a:avLst/>
          </a:prstGeom>
          <a:noFill/>
          <a:ln/>
        </p:spPr>
        <p:txBody>
          <a:bodyPr wrap="square" lIns="0" tIns="0" rIns="0" bIns="0" rtlCol="0" anchor="t"/>
          <a:lstStyle/>
          <a:p>
            <a:pPr indent="0" marL="0">
              <a:lnSpc>
                <a:spcPct val="130000"/>
              </a:lnSpc>
              <a:spcAft>
                <a:spcPts val="600"/>
              </a:spcAft>
              <a:buNone/>
            </a:pPr>
            <a:r>
              <a:rPr lang="ko-KR" altLang="en-US" sz="1250" dirty="0">
                <a:solidFill>
                  <a:schemeClr val="bg2"/>
                </a:solidFill>
              </a:rPr>
              <a:t>로비에서 장비를 꾸리고 → 작전 지역에서 탈출 구역 10초를 버티면 → 로비로 복귀</a:t>
            </a:r>
            <a:endParaRPr lang="ko-KR" sz="1250" dirty="0"/>
          </a:p>
          <a:p>
            <a:pPr indent="0" marL="0">
              <a:lnSpc>
                <a:spcPct val="130000"/>
              </a:lnSpc>
              <a:spcAft>
                <a:spcPts val="600"/>
              </a:spcAft>
              <a:buNone/>
            </a:pPr>
            <a:r>
              <a:rPr lang="ko-KR" altLang="en-US" sz="1250" dirty="0">
                <a:solidFill>
                  <a:schemeClr val="bg1"/>
                </a:solidFill>
              </a:rPr>
              <a:t>핵심: 아이템 · 장비마다 칸이 다른 그리드 인벤토리를 데이터 기반으로 구현</a:t>
            </a:r>
            <a:endParaRPr lang="ko-KR" sz="1250" dirty="0"/>
          </a:p>
        </p:txBody>
      </p:sp>
      <p:sp>
        <p:nvSpPr>
          <p:cNvPr id="23" name="Shape 19"/>
          <p:cNvSpPr/>
          <p:nvPr/>
        </p:nvSpPr>
        <p:spPr>
          <a:xfrm>
            <a:off x="6355080" y="3291840"/>
            <a:ext cx="5376672" cy="1426464"/>
          </a:xfrm>
          <a:prstGeom prst="rect">
            <a:avLst/>
          </a:prstGeom>
          <a:solidFill>
            <a:schemeClr val="tx2"/>
          </a:solidFill>
          <a:ln w="9525">
            <a:solidFill>
              <a:srgbClr val="2A2F36"/>
            </a:solidFill>
            <a:prstDash val="solid"/>
          </a:ln>
        </p:spPr>
      </p:sp>
      <p:sp>
        <p:nvSpPr>
          <p:cNvPr id="24" name="Shape 20"/>
          <p:cNvSpPr/>
          <p:nvPr/>
        </p:nvSpPr>
        <p:spPr>
          <a:xfrm>
            <a:off x="6355080" y="3291840"/>
            <a:ext cx="182880" cy="0"/>
          </a:xfrm>
          <a:prstGeom prst="line">
            <a:avLst/>
          </a:prstGeom>
          <a:noFill/>
          <a:ln w="22225">
            <a:solidFill>
              <a:schemeClr val="accent1"/>
            </a:solidFill>
            <a:prstDash val="solid"/>
          </a:ln>
        </p:spPr>
      </p:sp>
      <p:sp>
        <p:nvSpPr>
          <p:cNvPr id="25" name="Shape 21"/>
          <p:cNvSpPr/>
          <p:nvPr/>
        </p:nvSpPr>
        <p:spPr>
          <a:xfrm>
            <a:off x="6355080" y="3291840"/>
            <a:ext cx="0" cy="182880"/>
          </a:xfrm>
          <a:prstGeom prst="line">
            <a:avLst/>
          </a:prstGeom>
          <a:noFill/>
          <a:ln w="22225">
            <a:solidFill>
              <a:schemeClr val="accent1"/>
            </a:solidFill>
            <a:prstDash val="solid"/>
          </a:ln>
        </p:spPr>
      </p:sp>
      <p:sp>
        <p:nvSpPr>
          <p:cNvPr id="26" name="Shape 22"/>
          <p:cNvSpPr/>
          <p:nvPr/>
        </p:nvSpPr>
        <p:spPr>
          <a:xfrm>
            <a:off x="11548872" y="4718304"/>
            <a:ext cx="182880" cy="0"/>
          </a:xfrm>
          <a:prstGeom prst="line">
            <a:avLst/>
          </a:prstGeom>
          <a:noFill/>
          <a:ln w="22225">
            <a:solidFill>
              <a:schemeClr val="accent1"/>
            </a:solidFill>
            <a:prstDash val="solid"/>
          </a:ln>
        </p:spPr>
      </p:sp>
      <p:sp>
        <p:nvSpPr>
          <p:cNvPr id="27" name="Shape 23"/>
          <p:cNvSpPr/>
          <p:nvPr/>
        </p:nvSpPr>
        <p:spPr>
          <a:xfrm>
            <a:off x="11731752" y="4535424"/>
            <a:ext cx="0" cy="182880"/>
          </a:xfrm>
          <a:prstGeom prst="line">
            <a:avLst/>
          </a:prstGeom>
          <a:noFill/>
          <a:ln w="22225">
            <a:solidFill>
              <a:schemeClr val="accent1"/>
            </a:solidFill>
            <a:prstDash val="solid"/>
          </a:ln>
        </p:spPr>
      </p:sp>
      <p:sp>
        <p:nvSpPr>
          <p:cNvPr id="28" name="Text 24"/>
          <p:cNvSpPr txBox="1"/>
          <p:nvPr/>
        </p:nvSpPr>
        <p:spPr>
          <a:xfrm>
            <a:off x="6574536" y="3447288"/>
            <a:ext cx="4937760"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기본 정보</a:t>
            </a:r>
            <a:endParaRPr lang="ko-KR" sz="1450" dirty="0"/>
          </a:p>
        </p:txBody>
      </p:sp>
      <p:sp>
        <p:nvSpPr>
          <p:cNvPr id="29" name="Text 25"/>
          <p:cNvSpPr txBox="1"/>
          <p:nvPr/>
        </p:nvSpPr>
        <p:spPr>
          <a:xfrm>
            <a:off x="6574536" y="3822192"/>
            <a:ext cx="731520" cy="246888"/>
          </a:xfrm>
          <a:prstGeom prst="rect">
            <a:avLst/>
          </a:prstGeom>
          <a:noFill/>
          <a:ln/>
        </p:spPr>
        <p:txBody>
          <a:bodyPr wrap="square" lIns="0" tIns="0" rIns="0" bIns="0" rtlCol="0" anchor="t"/>
          <a:lstStyle/>
          <a:p>
            <a:pPr indent="0" marL="0">
              <a:lnSpc>
                <a:spcPct val="120000"/>
              </a:lnSpc>
              <a:buNone/>
            </a:pPr>
            <a:r>
              <a:rPr lang="ko-KR" altLang="en-US" sz="1250" dirty="0">
                <a:solidFill>
                  <a:schemeClr val="accent5"/>
                </a:solidFill>
              </a:rPr>
              <a:t>기간</a:t>
            </a:r>
            <a:endParaRPr lang="ko-KR" sz="1250" dirty="0"/>
          </a:p>
        </p:txBody>
      </p:sp>
      <p:sp>
        <p:nvSpPr>
          <p:cNvPr id="30" name="Text 26"/>
          <p:cNvSpPr txBox="1"/>
          <p:nvPr/>
        </p:nvSpPr>
        <p:spPr>
          <a:xfrm>
            <a:off x="7351776" y="3822192"/>
            <a:ext cx="4160520" cy="246888"/>
          </a:xfrm>
          <a:prstGeom prst="rect">
            <a:avLst/>
          </a:prstGeom>
          <a:noFill/>
          <a:ln/>
        </p:spPr>
        <p:txBody>
          <a:bodyPr wrap="square" lIns="0" tIns="0" rIns="0" bIns="0" rtlCol="0" anchor="t"/>
          <a:lstStyle/>
          <a:p>
            <a:pPr indent="0" marL="0">
              <a:lnSpc>
                <a:spcPct val="120000"/>
              </a:lnSpc>
              <a:buNone/>
            </a:pPr>
            <a:r>
              <a:rPr lang="ko-KR" altLang="en-US" sz="1250" dirty="0">
                <a:solidFill>
                  <a:schemeClr val="bg1"/>
                </a:solidFill>
              </a:rPr>
              <a:t>2026.09.10 ~ 10.05 (약 4주) · 개인</a:t>
            </a:r>
            <a:endParaRPr lang="ko-KR" sz="1250" dirty="0"/>
          </a:p>
        </p:txBody>
      </p:sp>
      <p:sp>
        <p:nvSpPr>
          <p:cNvPr id="31" name="Text 27"/>
          <p:cNvSpPr txBox="1"/>
          <p:nvPr/>
        </p:nvSpPr>
        <p:spPr>
          <a:xfrm>
            <a:off x="6574536" y="4078224"/>
            <a:ext cx="731520" cy="246888"/>
          </a:xfrm>
          <a:prstGeom prst="rect">
            <a:avLst/>
          </a:prstGeom>
          <a:noFill/>
          <a:ln/>
        </p:spPr>
        <p:txBody>
          <a:bodyPr wrap="square" lIns="0" tIns="0" rIns="0" bIns="0" rtlCol="0" anchor="t"/>
          <a:lstStyle/>
          <a:p>
            <a:pPr indent="0" marL="0">
              <a:lnSpc>
                <a:spcPct val="120000"/>
              </a:lnSpc>
              <a:buNone/>
            </a:pPr>
            <a:r>
              <a:rPr lang="ko-KR" altLang="en-US" sz="1250" dirty="0">
                <a:solidFill>
                  <a:schemeClr val="accent5"/>
                </a:solidFill>
              </a:rPr>
              <a:t>엔진</a:t>
            </a:r>
            <a:endParaRPr lang="ko-KR" sz="1250" dirty="0"/>
          </a:p>
        </p:txBody>
      </p:sp>
      <p:sp>
        <p:nvSpPr>
          <p:cNvPr id="32" name="Text 28"/>
          <p:cNvSpPr txBox="1"/>
          <p:nvPr/>
        </p:nvSpPr>
        <p:spPr>
          <a:xfrm>
            <a:off x="7351776" y="4078224"/>
            <a:ext cx="4160520" cy="246888"/>
          </a:xfrm>
          <a:prstGeom prst="rect">
            <a:avLst/>
          </a:prstGeom>
          <a:noFill/>
          <a:ln/>
        </p:spPr>
        <p:txBody>
          <a:bodyPr wrap="square" lIns="0" tIns="0" rIns="0" bIns="0" rtlCol="0" anchor="t"/>
          <a:lstStyle/>
          <a:p>
            <a:pPr indent="0" marL="0">
              <a:lnSpc>
                <a:spcPct val="120000"/>
              </a:lnSpc>
              <a:buNone/>
            </a:pPr>
            <a:r>
              <a:rPr lang="ko-KR" altLang="en-US" sz="1250" dirty="0">
                <a:solidFill>
                  <a:schemeClr val="bg1"/>
                </a:solidFill>
              </a:rPr>
              <a:t>Unreal Engine 5.8 · Blueprint</a:t>
            </a:r>
            <a:endParaRPr lang="ko-KR" sz="1250" dirty="0"/>
          </a:p>
        </p:txBody>
      </p:sp>
      <p:sp>
        <p:nvSpPr>
          <p:cNvPr id="33" name="Text 29"/>
          <p:cNvSpPr txBox="1"/>
          <p:nvPr/>
        </p:nvSpPr>
        <p:spPr>
          <a:xfrm>
            <a:off x="6574536" y="4334256"/>
            <a:ext cx="731520" cy="246888"/>
          </a:xfrm>
          <a:prstGeom prst="rect">
            <a:avLst/>
          </a:prstGeom>
          <a:noFill/>
          <a:ln/>
        </p:spPr>
        <p:txBody>
          <a:bodyPr wrap="square" lIns="0" tIns="0" rIns="0" bIns="0" rtlCol="0" anchor="t"/>
          <a:lstStyle/>
          <a:p>
            <a:pPr indent="0" marL="0">
              <a:lnSpc>
                <a:spcPct val="120000"/>
              </a:lnSpc>
              <a:buNone/>
            </a:pPr>
            <a:r>
              <a:rPr lang="ko-KR" altLang="en-US" sz="1250" dirty="0">
                <a:solidFill>
                  <a:schemeClr val="accent5"/>
                </a:solidFill>
              </a:rPr>
              <a:t>장르</a:t>
            </a:r>
            <a:endParaRPr lang="ko-KR" sz="1250" dirty="0"/>
          </a:p>
        </p:txBody>
      </p:sp>
      <p:sp>
        <p:nvSpPr>
          <p:cNvPr id="34" name="Text 30"/>
          <p:cNvSpPr txBox="1"/>
          <p:nvPr/>
        </p:nvSpPr>
        <p:spPr>
          <a:xfrm>
            <a:off x="7351776" y="4334256"/>
            <a:ext cx="4160520" cy="246888"/>
          </a:xfrm>
          <a:prstGeom prst="rect">
            <a:avLst/>
          </a:prstGeom>
          <a:noFill/>
          <a:ln/>
        </p:spPr>
        <p:txBody>
          <a:bodyPr wrap="square" lIns="0" tIns="0" rIns="0" bIns="0" rtlCol="0" anchor="t"/>
          <a:lstStyle/>
          <a:p>
            <a:pPr indent="0" marL="0">
              <a:lnSpc>
                <a:spcPct val="120000"/>
              </a:lnSpc>
              <a:buNone/>
            </a:pPr>
            <a:r>
              <a:rPr lang="ko-KR" altLang="en-US" sz="1250" dirty="0">
                <a:solidFill>
                  <a:schemeClr val="bg1"/>
                </a:solidFill>
              </a:rPr>
              <a:t>익스트랙션 슈터 (델타 포스 레퍼런스)</a:t>
            </a:r>
            <a:endParaRPr lang="ko-KR" sz="1250" dirty="0"/>
          </a:p>
        </p:txBody>
      </p:sp>
      <p:sp>
        <p:nvSpPr>
          <p:cNvPr id="35" name="Shape 31"/>
          <p:cNvSpPr/>
          <p:nvPr/>
        </p:nvSpPr>
        <p:spPr>
          <a:xfrm>
            <a:off x="457200" y="4983480"/>
            <a:ext cx="3636264" cy="1280160"/>
          </a:xfrm>
          <a:prstGeom prst="rect">
            <a:avLst/>
          </a:prstGeom>
          <a:solidFill>
            <a:schemeClr val="accent6"/>
          </a:solidFill>
          <a:ln/>
        </p:spPr>
      </p:sp>
      <p:sp>
        <p:nvSpPr>
          <p:cNvPr id="36" name="Text 32"/>
          <p:cNvSpPr txBox="1"/>
          <p:nvPr/>
        </p:nvSpPr>
        <p:spPr>
          <a:xfrm>
            <a:off x="685800" y="4983480"/>
            <a:ext cx="1417320" cy="1280160"/>
          </a:xfrm>
          <a:prstGeom prst="rect">
            <a:avLst/>
          </a:prstGeom>
          <a:noFill/>
          <a:ln/>
        </p:spPr>
        <p:txBody>
          <a:bodyPr wrap="square" lIns="0" tIns="0" rIns="0" bIns="0" rtlCol="0" anchor="ctr"/>
          <a:lstStyle/>
          <a:p>
            <a:pPr indent="0" marL="0">
              <a:lnSpc>
                <a:spcPct val="120000"/>
              </a:lnSpc>
              <a:buNone/>
            </a:pPr>
            <a:r>
              <a:rPr lang="ko-KR" altLang="en-US" sz="3000" b="1" dirty="0">
                <a:solidFill>
                  <a:schemeClr val="accent2"/>
                </a:solidFill>
              </a:rPr>
              <a:t>72</a:t>
            </a:r>
            <a:endParaRPr lang="ko-KR" sz="3000" dirty="0"/>
          </a:p>
        </p:txBody>
      </p:sp>
      <p:sp>
        <p:nvSpPr>
          <p:cNvPr id="37" name="Text 33"/>
          <p:cNvSpPr txBox="1"/>
          <p:nvPr/>
        </p:nvSpPr>
        <p:spPr>
          <a:xfrm>
            <a:off x="2103120" y="4983480"/>
            <a:ext cx="1853184" cy="1280160"/>
          </a:xfrm>
          <a:prstGeom prst="rect">
            <a:avLst/>
          </a:prstGeom>
          <a:noFill/>
          <a:ln/>
        </p:spPr>
        <p:txBody>
          <a:bodyPr wrap="square" lIns="0" tIns="0" rIns="0" bIns="0" rtlCol="0" anchor="ctr"/>
          <a:lstStyle/>
          <a:p>
            <a:pPr indent="0" marL="0">
              <a:lnSpc>
                <a:spcPct val="115000"/>
              </a:lnSpc>
              <a:buNone/>
            </a:pPr>
            <a:r>
              <a:rPr lang="ko-KR" altLang="en-US" sz="1250" dirty="0">
                <a:solidFill>
                  <a:schemeClr val="bg2"/>
                </a:solidFill>
              </a:rPr>
              <a:t>칸 배치 데이터 (장비 · 상자)</a:t>
            </a:r>
            <a:endParaRPr lang="ko-KR" sz="1250" dirty="0"/>
          </a:p>
        </p:txBody>
      </p:sp>
      <p:sp>
        <p:nvSpPr>
          <p:cNvPr id="38" name="Shape 34"/>
          <p:cNvSpPr/>
          <p:nvPr/>
        </p:nvSpPr>
        <p:spPr>
          <a:xfrm>
            <a:off x="4276344" y="4983480"/>
            <a:ext cx="3636264" cy="1280160"/>
          </a:xfrm>
          <a:prstGeom prst="rect">
            <a:avLst/>
          </a:prstGeom>
          <a:solidFill>
            <a:schemeClr val="accent6"/>
          </a:solidFill>
          <a:ln/>
        </p:spPr>
      </p:sp>
      <p:sp>
        <p:nvSpPr>
          <p:cNvPr id="39" name="Text 35"/>
          <p:cNvSpPr txBox="1"/>
          <p:nvPr/>
        </p:nvSpPr>
        <p:spPr>
          <a:xfrm>
            <a:off x="4504944" y="4983480"/>
            <a:ext cx="1417320" cy="1280160"/>
          </a:xfrm>
          <a:prstGeom prst="rect">
            <a:avLst/>
          </a:prstGeom>
          <a:noFill/>
          <a:ln/>
        </p:spPr>
        <p:txBody>
          <a:bodyPr wrap="square" lIns="0" tIns="0" rIns="0" bIns="0" rtlCol="0" anchor="ctr"/>
          <a:lstStyle/>
          <a:p>
            <a:pPr indent="0" marL="0">
              <a:lnSpc>
                <a:spcPct val="120000"/>
              </a:lnSpc>
              <a:buNone/>
            </a:pPr>
            <a:r>
              <a:rPr lang="ko-KR" altLang="en-US" sz="3000" b="1" dirty="0">
                <a:solidFill>
                  <a:schemeClr val="accent2"/>
                </a:solidFill>
              </a:rPr>
              <a:t>514</a:t>
            </a:r>
            <a:endParaRPr lang="ko-KR" sz="3000" dirty="0"/>
          </a:p>
        </p:txBody>
      </p:sp>
      <p:sp>
        <p:nvSpPr>
          <p:cNvPr id="40" name="Text 36"/>
          <p:cNvSpPr txBox="1"/>
          <p:nvPr/>
        </p:nvSpPr>
        <p:spPr>
          <a:xfrm>
            <a:off x="5922264" y="4983480"/>
            <a:ext cx="1853184" cy="1280160"/>
          </a:xfrm>
          <a:prstGeom prst="rect">
            <a:avLst/>
          </a:prstGeom>
          <a:noFill/>
          <a:ln/>
        </p:spPr>
        <p:txBody>
          <a:bodyPr wrap="square" lIns="0" tIns="0" rIns="0" bIns="0" rtlCol="0" anchor="ctr"/>
          <a:lstStyle/>
          <a:p>
            <a:pPr indent="0" marL="0">
              <a:lnSpc>
                <a:spcPct val="115000"/>
              </a:lnSpc>
              <a:buNone/>
            </a:pPr>
            <a:r>
              <a:rPr lang="ko-KR" altLang="en-US" sz="1250" dirty="0">
                <a:solidFill>
                  <a:schemeClr val="bg2"/>
                </a:solidFill>
              </a:rPr>
              <a:t>아이템 정의</a:t>
            </a:r>
            <a:endParaRPr lang="ko-KR" sz="1250" dirty="0"/>
          </a:p>
        </p:txBody>
      </p:sp>
      <p:sp>
        <p:nvSpPr>
          <p:cNvPr id="41" name="Shape 37"/>
          <p:cNvSpPr/>
          <p:nvPr/>
        </p:nvSpPr>
        <p:spPr>
          <a:xfrm>
            <a:off x="8095488" y="4983480"/>
            <a:ext cx="3636264" cy="1280160"/>
          </a:xfrm>
          <a:prstGeom prst="rect">
            <a:avLst/>
          </a:prstGeom>
          <a:solidFill>
            <a:schemeClr val="accent6"/>
          </a:solidFill>
          <a:ln/>
        </p:spPr>
      </p:sp>
      <p:sp>
        <p:nvSpPr>
          <p:cNvPr id="42" name="Text 38"/>
          <p:cNvSpPr txBox="1"/>
          <p:nvPr/>
        </p:nvSpPr>
        <p:spPr>
          <a:xfrm>
            <a:off x="8324088" y="4983480"/>
            <a:ext cx="1417320" cy="1280160"/>
          </a:xfrm>
          <a:prstGeom prst="rect">
            <a:avLst/>
          </a:prstGeom>
          <a:noFill/>
          <a:ln/>
        </p:spPr>
        <p:txBody>
          <a:bodyPr wrap="square" lIns="0" tIns="0" rIns="0" bIns="0" rtlCol="0" anchor="ctr"/>
          <a:lstStyle/>
          <a:p>
            <a:pPr indent="0" marL="0">
              <a:lnSpc>
                <a:spcPct val="120000"/>
              </a:lnSpc>
              <a:buNone/>
            </a:pPr>
            <a:r>
              <a:rPr lang="ko-KR" altLang="en-US" sz="3000" b="1" dirty="0">
                <a:solidFill>
                  <a:schemeClr val="accent2"/>
                </a:solidFill>
              </a:rPr>
              <a:t>29</a:t>
            </a:r>
            <a:endParaRPr lang="ko-KR" sz="3000" dirty="0"/>
          </a:p>
        </p:txBody>
      </p:sp>
      <p:sp>
        <p:nvSpPr>
          <p:cNvPr id="43" name="Text 39"/>
          <p:cNvSpPr txBox="1"/>
          <p:nvPr/>
        </p:nvSpPr>
        <p:spPr>
          <a:xfrm>
            <a:off x="9741408" y="4983480"/>
            <a:ext cx="1853184" cy="1280160"/>
          </a:xfrm>
          <a:prstGeom prst="rect">
            <a:avLst/>
          </a:prstGeom>
          <a:noFill/>
          <a:ln/>
        </p:spPr>
        <p:txBody>
          <a:bodyPr wrap="square" lIns="0" tIns="0" rIns="0" bIns="0" rtlCol="0" anchor="ctr"/>
          <a:lstStyle/>
          <a:p>
            <a:pPr indent="0" marL="0">
              <a:lnSpc>
                <a:spcPct val="115000"/>
              </a:lnSpc>
              <a:buNone/>
            </a:pPr>
            <a:r>
              <a:rPr lang="ko-KR" altLang="en-US" sz="1250" dirty="0">
                <a:solidFill>
                  <a:schemeClr val="bg2"/>
                </a:solidFill>
              </a:rPr>
              <a:t>직접 만든 블루프린트</a:t>
            </a:r>
            <a:endParaRPr lang="ko-KR" sz="125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01 · GAME LOOP</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게임 흐름</a:t>
            </a:r>
            <a:endParaRPr lang="en-US" sz="2800" dirty="0"/>
          </a:p>
        </p:txBody>
      </p:sp>
      <p:sp>
        <p:nvSpPr>
          <p:cNvPr id="5" name="Shape 2"/>
          <p:cNvSpPr/>
          <p:nvPr/>
        </p:nvSpPr>
        <p:spPr>
          <a:xfrm>
            <a:off x="457200" y="1417320"/>
            <a:ext cx="11274552" cy="3520440"/>
          </a:xfrm>
          <a:prstGeom prst="rect">
            <a:avLst/>
          </a:prstGeom>
          <a:solidFill>
            <a:schemeClr val="tx2"/>
          </a:solidFill>
          <a:ln w="9525">
            <a:solidFill>
              <a:srgbClr val="2A2F36"/>
            </a:solidFill>
            <a:prstDash val="solid"/>
          </a:ln>
        </p:spPr>
      </p:sp>
      <p:sp>
        <p:nvSpPr>
          <p:cNvPr id="6" name="Shape 3"/>
          <p:cNvSpPr/>
          <p:nvPr/>
        </p:nvSpPr>
        <p:spPr>
          <a:xfrm>
            <a:off x="612648" y="1627632"/>
            <a:ext cx="2157984" cy="658368"/>
          </a:xfrm>
          <a:prstGeom prst="rect">
            <a:avLst/>
          </a:prstGeom>
          <a:solidFill>
            <a:schemeClr val="accent6"/>
          </a:solidFill>
          <a:ln w="15875">
            <a:solidFill>
              <a:schemeClr val="accent1"/>
            </a:solidFill>
            <a:prstDash val="solid"/>
          </a:ln>
        </p:spPr>
      </p:sp>
      <p:sp>
        <p:nvSpPr>
          <p:cNvPr id="7" name="Text 4"/>
          <p:cNvSpPr txBox="1"/>
          <p:nvPr/>
        </p:nvSpPr>
        <p:spPr>
          <a:xfrm>
            <a:off x="731520" y="1627632"/>
            <a:ext cx="1975104" cy="658368"/>
          </a:xfrm>
          <a:prstGeom prst="rect">
            <a:avLst/>
          </a:prstGeom>
          <a:noFill/>
          <a:ln/>
        </p:spPr>
        <p:txBody>
          <a:bodyPr wrap="square" lIns="0" tIns="0" rIns="0" bIns="0" rtlCol="0" anchor="ctr"/>
          <a:lstStyle/>
          <a:p>
            <a:pPr indent="0" marL="0">
              <a:lnSpc>
                <a:spcPct val="110000"/>
              </a:lnSpc>
              <a:buNone/>
            </a:pPr>
            <a:r>
              <a:rPr lang="ko-KR" altLang="en-US" sz="1300" b="1" dirty="0">
                <a:solidFill>
                  <a:schemeClr val="bg1"/>
                </a:solidFill>
              </a:rPr>
              <a:t>로비</a:t>
            </a:r>
            <a:endParaRPr lang="ko-KR" sz="1200" dirty="0"/>
          </a:p>
          <a:p>
            <a:pPr indent="0" marL="0">
              <a:lnSpc>
                <a:spcPct val="110000"/>
              </a:lnSpc>
              <a:buNone/>
            </a:pPr>
            <a:r>
              <a:rPr lang="ko-KR" altLang="en-US" sz="1150" dirty="0">
                <a:solidFill>
                  <a:srgbClr val="A3ADBA"/>
                </a:solidFill>
              </a:rPr>
              <a:t>Lv_NullPoint · 로비 UI</a:t>
            </a:r>
            <a:endParaRPr lang="ko-KR" sz="1200" dirty="0"/>
          </a:p>
        </p:txBody>
      </p:sp>
      <p:sp>
        <p:nvSpPr>
          <p:cNvPr id="8" name="Shape 5"/>
          <p:cNvSpPr/>
          <p:nvPr/>
        </p:nvSpPr>
        <p:spPr>
          <a:xfrm>
            <a:off x="3593592" y="1627632"/>
            <a:ext cx="2157984" cy="658368"/>
          </a:xfrm>
          <a:prstGeom prst="rect">
            <a:avLst/>
          </a:prstGeom>
          <a:solidFill>
            <a:schemeClr val="accent6"/>
          </a:solidFill>
          <a:ln w="15875">
            <a:solidFill>
              <a:schemeClr val="accent1"/>
            </a:solidFill>
            <a:prstDash val="solid"/>
          </a:ln>
        </p:spPr>
      </p:sp>
      <p:sp>
        <p:nvSpPr>
          <p:cNvPr id="9" name="Text 6"/>
          <p:cNvSpPr txBox="1"/>
          <p:nvPr/>
        </p:nvSpPr>
        <p:spPr>
          <a:xfrm>
            <a:off x="3712464" y="1627632"/>
            <a:ext cx="1975104" cy="658368"/>
          </a:xfrm>
          <a:prstGeom prst="rect">
            <a:avLst/>
          </a:prstGeom>
          <a:noFill/>
          <a:ln/>
        </p:spPr>
        <p:txBody>
          <a:bodyPr wrap="square" lIns="0" tIns="0" rIns="0" bIns="0" rtlCol="0" anchor="ctr"/>
          <a:lstStyle/>
          <a:p>
            <a:pPr indent="0" marL="0">
              <a:lnSpc>
                <a:spcPct val="110000"/>
              </a:lnSpc>
              <a:buNone/>
            </a:pPr>
            <a:r>
              <a:rPr lang="ko-KR" altLang="en-US" sz="1300" b="1" dirty="0">
                <a:solidFill>
                  <a:schemeClr val="bg1"/>
                </a:solidFill>
              </a:rPr>
              <a:t>장비 정리</a:t>
            </a:r>
            <a:endParaRPr lang="ko-KR" sz="1200" dirty="0"/>
          </a:p>
          <a:p>
            <a:pPr indent="0" marL="0">
              <a:lnSpc>
                <a:spcPct val="110000"/>
              </a:lnSpc>
              <a:buNone/>
            </a:pPr>
            <a:r>
              <a:rPr lang="ko-KR" altLang="en-US" sz="1150" dirty="0">
                <a:solidFill>
                  <a:srgbClr val="A3ADBA"/>
                </a:solidFill>
              </a:rPr>
              <a:t>창고 · 장비 칸 장착</a:t>
            </a:r>
            <a:endParaRPr lang="ko-KR" sz="1200" dirty="0"/>
          </a:p>
        </p:txBody>
      </p:sp>
      <p:sp>
        <p:nvSpPr>
          <p:cNvPr id="10" name="Shape 7"/>
          <p:cNvSpPr/>
          <p:nvPr/>
        </p:nvSpPr>
        <p:spPr>
          <a:xfrm>
            <a:off x="6583680" y="1627632"/>
            <a:ext cx="2157984" cy="658368"/>
          </a:xfrm>
          <a:prstGeom prst="rect">
            <a:avLst/>
          </a:prstGeom>
          <a:solidFill>
            <a:schemeClr val="accent6"/>
          </a:solidFill>
          <a:ln w="15875">
            <a:solidFill>
              <a:schemeClr val="accent1"/>
            </a:solidFill>
            <a:prstDash val="solid"/>
          </a:ln>
        </p:spPr>
      </p:sp>
      <p:sp>
        <p:nvSpPr>
          <p:cNvPr id="11" name="Text 8"/>
          <p:cNvSpPr txBox="1"/>
          <p:nvPr/>
        </p:nvSpPr>
        <p:spPr>
          <a:xfrm>
            <a:off x="6702552" y="1627632"/>
            <a:ext cx="1975104" cy="658368"/>
          </a:xfrm>
          <a:prstGeom prst="rect">
            <a:avLst/>
          </a:prstGeom>
          <a:noFill/>
          <a:ln/>
        </p:spPr>
        <p:txBody>
          <a:bodyPr wrap="square" lIns="0" tIns="0" rIns="0" bIns="0" rtlCol="0" anchor="ctr"/>
          <a:lstStyle/>
          <a:p>
            <a:pPr indent="0" marL="0">
              <a:lnSpc>
                <a:spcPct val="110000"/>
              </a:lnSpc>
              <a:buNone/>
            </a:pPr>
            <a:r>
              <a:rPr lang="ko-KR" altLang="en-US" sz="1300" b="1" dirty="0">
                <a:solidFill>
                  <a:schemeClr val="bg1"/>
                </a:solidFill>
              </a:rPr>
              <a:t>매칭</a:t>
            </a:r>
            <a:endParaRPr lang="ko-KR" sz="1200" dirty="0"/>
          </a:p>
          <a:p>
            <a:pPr indent="0" marL="0">
              <a:lnSpc>
                <a:spcPct val="110000"/>
              </a:lnSpc>
              <a:buNone/>
            </a:pPr>
            <a:r>
              <a:rPr lang="ko-KR" altLang="en-US" sz="1150" dirty="0">
                <a:solidFill>
                  <a:srgbClr val="A3ADBA"/>
                </a:solidFill>
              </a:rPr>
              <a:t>전투 준비 → StartMatching</a:t>
            </a:r>
            <a:endParaRPr lang="ko-KR" sz="1200" dirty="0"/>
          </a:p>
        </p:txBody>
      </p:sp>
      <p:sp>
        <p:nvSpPr>
          <p:cNvPr id="12" name="Shape 9"/>
          <p:cNvSpPr/>
          <p:nvPr/>
        </p:nvSpPr>
        <p:spPr>
          <a:xfrm>
            <a:off x="6583680" y="2743200"/>
            <a:ext cx="2157984" cy="658368"/>
          </a:xfrm>
          <a:prstGeom prst="rect">
            <a:avLst/>
          </a:prstGeom>
          <a:solidFill>
            <a:schemeClr val="accent6"/>
          </a:solidFill>
          <a:ln w="15875">
            <a:solidFill>
              <a:schemeClr val="accent1"/>
            </a:solidFill>
            <a:prstDash val="solid"/>
          </a:ln>
        </p:spPr>
      </p:sp>
      <p:sp>
        <p:nvSpPr>
          <p:cNvPr id="13" name="Text 10"/>
          <p:cNvSpPr txBox="1"/>
          <p:nvPr/>
        </p:nvSpPr>
        <p:spPr>
          <a:xfrm>
            <a:off x="6702552" y="2743200"/>
            <a:ext cx="1975104" cy="658368"/>
          </a:xfrm>
          <a:prstGeom prst="rect">
            <a:avLst/>
          </a:prstGeom>
          <a:noFill/>
          <a:ln/>
        </p:spPr>
        <p:txBody>
          <a:bodyPr wrap="square" lIns="0" tIns="0" rIns="0" bIns="0" rtlCol="0" anchor="ctr"/>
          <a:lstStyle/>
          <a:p>
            <a:pPr indent="0" marL="0">
              <a:lnSpc>
                <a:spcPct val="110000"/>
              </a:lnSpc>
              <a:buNone/>
            </a:pPr>
            <a:r>
              <a:rPr lang="ko-KR" altLang="en-US" sz="1300" b="1" dirty="0">
                <a:solidFill>
                  <a:schemeClr val="bg1"/>
                </a:solidFill>
              </a:rPr>
              <a:t>작전 지역</a:t>
            </a:r>
            <a:endParaRPr lang="ko-KR" sz="1200" dirty="0"/>
          </a:p>
          <a:p>
            <a:pPr indent="0" marL="0">
              <a:lnSpc>
                <a:spcPct val="110000"/>
              </a:lnSpc>
              <a:buNone/>
            </a:pPr>
            <a:r>
              <a:rPr lang="ko-KR" altLang="en-US" sz="1150" dirty="0">
                <a:solidFill>
                  <a:srgbClr val="A3ADBA"/>
                </a:solidFill>
              </a:rPr>
              <a:t>LvZeroDam · 근접 전투</a:t>
            </a:r>
            <a:endParaRPr lang="ko-KR" sz="1200" dirty="0"/>
          </a:p>
        </p:txBody>
      </p:sp>
      <p:sp>
        <p:nvSpPr>
          <p:cNvPr id="14" name="Shape 11"/>
          <p:cNvSpPr/>
          <p:nvPr/>
        </p:nvSpPr>
        <p:spPr>
          <a:xfrm>
            <a:off x="6583680" y="3858768"/>
            <a:ext cx="2157984" cy="658368"/>
          </a:xfrm>
          <a:prstGeom prst="rect">
            <a:avLst/>
          </a:prstGeom>
          <a:solidFill>
            <a:schemeClr val="accent6"/>
          </a:solidFill>
          <a:ln w="15875">
            <a:solidFill>
              <a:schemeClr val="accent1"/>
            </a:solidFill>
            <a:prstDash val="solid"/>
          </a:ln>
        </p:spPr>
      </p:sp>
      <p:sp>
        <p:nvSpPr>
          <p:cNvPr id="15" name="Text 12"/>
          <p:cNvSpPr txBox="1"/>
          <p:nvPr/>
        </p:nvSpPr>
        <p:spPr>
          <a:xfrm>
            <a:off x="6702552" y="3858768"/>
            <a:ext cx="1975104" cy="658368"/>
          </a:xfrm>
          <a:prstGeom prst="rect">
            <a:avLst/>
          </a:prstGeom>
          <a:noFill/>
          <a:ln/>
        </p:spPr>
        <p:txBody>
          <a:bodyPr wrap="square" lIns="0" tIns="0" rIns="0" bIns="0" rtlCol="0" anchor="ctr"/>
          <a:lstStyle/>
          <a:p>
            <a:pPr indent="0" marL="0">
              <a:lnSpc>
                <a:spcPct val="110000"/>
              </a:lnSpc>
              <a:buNone/>
            </a:pPr>
            <a:r>
              <a:rPr lang="ko-KR" altLang="en-US" sz="1300" b="1" dirty="0">
                <a:solidFill>
                  <a:schemeClr val="bg1"/>
                </a:solidFill>
              </a:rPr>
              <a:t>탈출 구역 10초</a:t>
            </a:r>
            <a:endParaRPr lang="ko-KR" sz="1200" dirty="0"/>
          </a:p>
          <a:p>
            <a:pPr indent="0" marL="0">
              <a:lnSpc>
                <a:spcPct val="110000"/>
              </a:lnSpc>
              <a:buNone/>
            </a:pPr>
            <a:r>
              <a:rPr lang="ko-KR" altLang="en-US" sz="1150" dirty="0">
                <a:solidFill>
                  <a:srgbClr val="A3ADBA"/>
                </a:solidFill>
              </a:rPr>
              <a:t>BP_Extaction → GM 타이머</a:t>
            </a:r>
            <a:endParaRPr lang="ko-KR" sz="1200" dirty="0"/>
          </a:p>
        </p:txBody>
      </p:sp>
      <p:sp>
        <p:nvSpPr>
          <p:cNvPr id="16" name="Shape 13"/>
          <p:cNvSpPr/>
          <p:nvPr/>
        </p:nvSpPr>
        <p:spPr>
          <a:xfrm>
            <a:off x="9308592" y="2743200"/>
            <a:ext cx="2157984" cy="658368"/>
          </a:xfrm>
          <a:prstGeom prst="rect">
            <a:avLst/>
          </a:prstGeom>
          <a:solidFill>
            <a:schemeClr val="accent6"/>
          </a:solidFill>
          <a:ln w="15875">
            <a:solidFill>
              <a:srgbClr val="5A6575"/>
            </a:solidFill>
            <a:prstDash val="dash"/>
          </a:ln>
        </p:spPr>
      </p:sp>
      <p:sp>
        <p:nvSpPr>
          <p:cNvPr id="17" name="Text 14"/>
          <p:cNvSpPr txBox="1"/>
          <p:nvPr/>
        </p:nvSpPr>
        <p:spPr>
          <a:xfrm>
            <a:off x="9427464" y="2743200"/>
            <a:ext cx="1975104" cy="658368"/>
          </a:xfrm>
          <a:prstGeom prst="rect">
            <a:avLst/>
          </a:prstGeom>
          <a:noFill/>
          <a:ln/>
        </p:spPr>
        <p:txBody>
          <a:bodyPr wrap="square" lIns="0" tIns="0" rIns="0" bIns="0" rtlCol="0" anchor="ctr"/>
          <a:lstStyle/>
          <a:p>
            <a:pPr indent="0" marL="0">
              <a:lnSpc>
                <a:spcPct val="110000"/>
              </a:lnSpc>
              <a:buNone/>
            </a:pPr>
            <a:r>
              <a:rPr lang="ko-KR" altLang="en-US" sz="1300" b="1" dirty="0">
                <a:solidFill>
                  <a:schemeClr val="bg1"/>
                </a:solidFill>
              </a:rPr>
              <a:t>사망 / 실패</a:t>
            </a:r>
            <a:endParaRPr lang="ko-KR" sz="1200" dirty="0"/>
          </a:p>
          <a:p>
            <a:pPr indent="0" marL="0">
              <a:lnSpc>
                <a:spcPct val="110000"/>
              </a:lnSpc>
              <a:buNone/>
            </a:pPr>
            <a:r>
              <a:rPr lang="ko-KR" altLang="en-US" sz="1150" dirty="0">
                <a:solidFill>
                  <a:srgbClr val="A3ADBA"/>
                </a:solidFill>
              </a:rPr>
              <a:t>미구현</a:t>
            </a:r>
            <a:endParaRPr lang="ko-KR" sz="1200" dirty="0"/>
          </a:p>
        </p:txBody>
      </p:sp>
      <p:sp>
        <p:nvSpPr>
          <p:cNvPr id="18" name="Shape 15"/>
          <p:cNvSpPr/>
          <p:nvPr/>
        </p:nvSpPr>
        <p:spPr>
          <a:xfrm>
            <a:off x="9308592" y="3858768"/>
            <a:ext cx="2157984" cy="658368"/>
          </a:xfrm>
          <a:prstGeom prst="rect">
            <a:avLst/>
          </a:prstGeom>
          <a:solidFill>
            <a:schemeClr val="accent6"/>
          </a:solidFill>
          <a:ln w="15875">
            <a:solidFill>
              <a:schemeClr val="accent3"/>
            </a:solidFill>
            <a:prstDash val="solid"/>
          </a:ln>
        </p:spPr>
      </p:sp>
      <p:sp>
        <p:nvSpPr>
          <p:cNvPr id="19" name="Text 16"/>
          <p:cNvSpPr txBox="1"/>
          <p:nvPr/>
        </p:nvSpPr>
        <p:spPr>
          <a:xfrm>
            <a:off x="9427464" y="3858768"/>
            <a:ext cx="1975104" cy="658368"/>
          </a:xfrm>
          <a:prstGeom prst="rect">
            <a:avLst/>
          </a:prstGeom>
          <a:noFill/>
          <a:ln/>
        </p:spPr>
        <p:txBody>
          <a:bodyPr wrap="square" lIns="0" tIns="0" rIns="0" bIns="0" rtlCol="0" anchor="ctr"/>
          <a:lstStyle/>
          <a:p>
            <a:pPr indent="0" marL="0">
              <a:lnSpc>
                <a:spcPct val="110000"/>
              </a:lnSpc>
              <a:buNone/>
            </a:pPr>
            <a:r>
              <a:rPr lang="ko-KR" altLang="en-US" sz="1300" b="1" dirty="0">
                <a:solidFill>
                  <a:schemeClr val="bg1"/>
                </a:solidFill>
              </a:rPr>
              <a:t>탈출 성공</a:t>
            </a:r>
            <a:endParaRPr lang="ko-KR" sz="1200" dirty="0"/>
          </a:p>
          <a:p>
            <a:pPr indent="0" marL="0">
              <a:lnSpc>
                <a:spcPct val="110000"/>
              </a:lnSpc>
              <a:buNone/>
            </a:pPr>
            <a:r>
              <a:rPr lang="ko-KR" altLang="en-US" sz="1150" dirty="0">
                <a:solidFill>
                  <a:srgbClr val="A3ADBA"/>
                </a:solidFill>
              </a:rPr>
              <a:t>OpenLevel(Lv_NullPoint)</a:t>
            </a:r>
            <a:endParaRPr lang="ko-KR" sz="1200" dirty="0"/>
          </a:p>
        </p:txBody>
      </p:sp>
      <p:sp>
        <p:nvSpPr>
          <p:cNvPr id="20" name="Shape 17"/>
          <p:cNvSpPr/>
          <p:nvPr/>
        </p:nvSpPr>
        <p:spPr>
          <a:xfrm>
            <a:off x="2770632" y="1956816"/>
            <a:ext cx="822960" cy="0"/>
          </a:xfrm>
          <a:prstGeom prst="line">
            <a:avLst/>
          </a:prstGeom>
          <a:noFill/>
          <a:ln w="22225">
            <a:solidFill>
              <a:srgbClr val="C3CCD7"/>
            </a:solidFill>
            <a:prstDash val="solid"/>
            <a:tailEnd type="triangle"/>
          </a:ln>
        </p:spPr>
      </p:sp>
      <p:sp>
        <p:nvSpPr>
          <p:cNvPr id="21" name="Shape 18"/>
          <p:cNvSpPr/>
          <p:nvPr/>
        </p:nvSpPr>
        <p:spPr>
          <a:xfrm>
            <a:off x="5751576" y="1956816"/>
            <a:ext cx="832104" cy="0"/>
          </a:xfrm>
          <a:prstGeom prst="line">
            <a:avLst/>
          </a:prstGeom>
          <a:noFill/>
          <a:ln w="22225">
            <a:solidFill>
              <a:srgbClr val="C3CCD7"/>
            </a:solidFill>
            <a:prstDash val="solid"/>
            <a:tailEnd type="triangle"/>
          </a:ln>
        </p:spPr>
      </p:sp>
      <p:sp>
        <p:nvSpPr>
          <p:cNvPr id="22" name="Shape 19"/>
          <p:cNvSpPr/>
          <p:nvPr/>
        </p:nvSpPr>
        <p:spPr>
          <a:xfrm>
            <a:off x="7662672" y="2286000"/>
            <a:ext cx="0" cy="457200"/>
          </a:xfrm>
          <a:prstGeom prst="line">
            <a:avLst/>
          </a:prstGeom>
          <a:noFill/>
          <a:ln w="22225">
            <a:solidFill>
              <a:srgbClr val="C3CCD7"/>
            </a:solidFill>
            <a:prstDash val="solid"/>
            <a:tailEnd type="triangle"/>
          </a:ln>
        </p:spPr>
      </p:sp>
      <p:sp>
        <p:nvSpPr>
          <p:cNvPr id="23" name="Shape 20"/>
          <p:cNvSpPr/>
          <p:nvPr/>
        </p:nvSpPr>
        <p:spPr>
          <a:xfrm>
            <a:off x="7662672" y="3401568"/>
            <a:ext cx="0" cy="457200"/>
          </a:xfrm>
          <a:prstGeom prst="line">
            <a:avLst/>
          </a:prstGeom>
          <a:noFill/>
          <a:ln w="22225">
            <a:solidFill>
              <a:srgbClr val="C3CCD7"/>
            </a:solidFill>
            <a:prstDash val="solid"/>
            <a:tailEnd type="triangle"/>
          </a:ln>
        </p:spPr>
      </p:sp>
      <p:sp>
        <p:nvSpPr>
          <p:cNvPr id="24" name="Shape 21"/>
          <p:cNvSpPr/>
          <p:nvPr/>
        </p:nvSpPr>
        <p:spPr>
          <a:xfrm>
            <a:off x="8741664" y="3072384"/>
            <a:ext cx="566928" cy="0"/>
          </a:xfrm>
          <a:prstGeom prst="line">
            <a:avLst/>
          </a:prstGeom>
          <a:noFill/>
          <a:ln w="22225">
            <a:solidFill>
              <a:srgbClr val="5C6670"/>
            </a:solidFill>
            <a:prstDash val="dash"/>
            <a:tailEnd type="triangle"/>
          </a:ln>
        </p:spPr>
      </p:sp>
      <p:sp>
        <p:nvSpPr>
          <p:cNvPr id="25" name="Shape 22"/>
          <p:cNvSpPr/>
          <p:nvPr/>
        </p:nvSpPr>
        <p:spPr>
          <a:xfrm>
            <a:off x="8741664" y="4187952"/>
            <a:ext cx="566928" cy="0"/>
          </a:xfrm>
          <a:prstGeom prst="line">
            <a:avLst/>
          </a:prstGeom>
          <a:noFill/>
          <a:ln w="22225">
            <a:solidFill>
              <a:srgbClr val="C3CCD7"/>
            </a:solidFill>
            <a:prstDash val="solid"/>
            <a:tailEnd type="triangle"/>
          </a:ln>
        </p:spPr>
      </p:sp>
      <p:sp>
        <p:nvSpPr>
          <p:cNvPr id="26" name="Shape 23"/>
          <p:cNvSpPr/>
          <p:nvPr/>
        </p:nvSpPr>
        <p:spPr>
          <a:xfrm>
            <a:off x="10387584" y="4517136"/>
            <a:ext cx="0" cy="237744"/>
          </a:xfrm>
          <a:prstGeom prst="line">
            <a:avLst/>
          </a:prstGeom>
          <a:noFill/>
          <a:ln w="22225">
            <a:solidFill>
              <a:srgbClr val="C3CCD7"/>
            </a:solidFill>
            <a:prstDash val="solid"/>
          </a:ln>
        </p:spPr>
      </p:sp>
      <p:sp>
        <p:nvSpPr>
          <p:cNvPr id="27" name="Shape 24"/>
          <p:cNvSpPr/>
          <p:nvPr/>
        </p:nvSpPr>
        <p:spPr>
          <a:xfrm>
            <a:off x="1691640" y="4754880"/>
            <a:ext cx="8695944" cy="0"/>
          </a:xfrm>
          <a:prstGeom prst="line">
            <a:avLst/>
          </a:prstGeom>
          <a:noFill/>
          <a:ln w="22225">
            <a:solidFill>
              <a:srgbClr val="C3CCD7"/>
            </a:solidFill>
            <a:prstDash val="solid"/>
          </a:ln>
        </p:spPr>
      </p:sp>
      <p:sp>
        <p:nvSpPr>
          <p:cNvPr id="28" name="Shape 25"/>
          <p:cNvSpPr/>
          <p:nvPr/>
        </p:nvSpPr>
        <p:spPr>
          <a:xfrm>
            <a:off x="1691640" y="2286000"/>
            <a:ext cx="0" cy="2468880"/>
          </a:xfrm>
          <a:prstGeom prst="line">
            <a:avLst/>
          </a:prstGeom>
          <a:noFill/>
          <a:ln w="22225">
            <a:solidFill>
              <a:srgbClr val="C3CCD7"/>
            </a:solidFill>
            <a:prstDash val="solid"/>
            <a:tailEnd type="triangle"/>
          </a:ln>
        </p:spPr>
      </p:sp>
      <p:sp>
        <p:nvSpPr>
          <p:cNvPr id="29" name="Text 26"/>
          <p:cNvSpPr txBox="1"/>
          <p:nvPr/>
        </p:nvSpPr>
        <p:spPr>
          <a:xfrm>
            <a:off x="1837944" y="3383280"/>
            <a:ext cx="2194560" cy="256032"/>
          </a:xfrm>
          <a:prstGeom prst="rect">
            <a:avLst/>
          </a:prstGeom>
          <a:noFill/>
          <a:ln/>
        </p:spPr>
        <p:txBody>
          <a:bodyPr wrap="square" lIns="0" tIns="0" rIns="0" bIns="0" rtlCol="0" anchor="t"/>
          <a:lstStyle/>
          <a:p>
            <a:pPr indent="0" marL="0">
              <a:lnSpc>
                <a:spcPct val="120000"/>
              </a:lnSpc>
              <a:buNone/>
            </a:pPr>
            <a:r>
              <a:rPr lang="ko-KR" altLang="en-US" sz="1200" dirty="0">
                <a:solidFill>
                  <a:srgbClr val="A3ADBA"/>
                </a:solidFill>
              </a:rPr>
              <a:t>다음 판: 로비로 돌아옴</a:t>
            </a:r>
            <a:endParaRPr lang="ko-KR" sz="1200" dirty="0"/>
          </a:p>
        </p:txBody>
      </p:sp>
      <p:sp>
        <p:nvSpPr>
          <p:cNvPr id="30" name="Shape 27"/>
          <p:cNvSpPr/>
          <p:nvPr/>
        </p:nvSpPr>
        <p:spPr>
          <a:xfrm>
            <a:off x="457200" y="5120640"/>
            <a:ext cx="11274552" cy="777240"/>
          </a:xfrm>
          <a:prstGeom prst="rect">
            <a:avLst/>
          </a:prstGeom>
          <a:solidFill>
            <a:schemeClr val="tx2"/>
          </a:solidFill>
          <a:ln w="9525">
            <a:solidFill>
              <a:srgbClr val="2A2F36"/>
            </a:solidFill>
            <a:prstDash val="solid"/>
          </a:ln>
        </p:spPr>
      </p:sp>
      <p:sp>
        <p:nvSpPr>
          <p:cNvPr id="31" name="Text 28"/>
          <p:cNvSpPr txBox="1"/>
          <p:nvPr/>
        </p:nvSpPr>
        <p:spPr>
          <a:xfrm>
            <a:off x="685800" y="5120640"/>
            <a:ext cx="10881360" cy="777240"/>
          </a:xfrm>
          <a:prstGeom prst="rect">
            <a:avLst/>
          </a:prstGeom>
          <a:noFill/>
          <a:ln/>
        </p:spPr>
        <p:txBody>
          <a:bodyPr wrap="square" lIns="0" tIns="0" rIns="0" bIns="0" rtlCol="0" anchor="ctr"/>
          <a:lstStyle/>
          <a:p>
            <a:pPr indent="0" marL="0">
              <a:lnSpc>
                <a:spcPct val="120000"/>
              </a:lnSpc>
              <a:buNone/>
            </a:pPr>
            <a:r>
              <a:rPr lang="ko-KR" altLang="en-US" sz="1250" b="1" dirty="0">
                <a:solidFill>
                  <a:schemeClr val="accent1"/>
                </a:solidFill>
              </a:rPr>
              <a:t>시스템 개입 지점   </a:t>
            </a:r>
            <a:pPr indent="0" marL="0">
              <a:lnSpc>
                <a:spcPct val="120000"/>
              </a:lnSpc>
              <a:buNone/>
            </a:pPr>
            <a:r>
              <a:rPr lang="ko-KR" altLang="en-US" sz="1250" dirty="0">
                <a:solidFill>
                  <a:schemeClr val="bg2"/>
                </a:solidFill>
              </a:rPr>
              <a:t>①  매칭 — BP_NullPointGM      ②  탈출 판정 — BP_Extaction → GameMode 타이머      ③  레벨 전환 — OpenLevel</a:t>
            </a:r>
            <a:endParaRPr lang="ko-KR" sz="125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01 · GAME LOOP</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탈출 루프 · 10초 카운트다운</a:t>
            </a:r>
            <a:endParaRPr lang="en-US" sz="2800" dirty="0"/>
          </a:p>
        </p:txBody>
      </p:sp>
      <p:sp>
        <p:nvSpPr>
          <p:cNvPr id="5" name="Shape 2"/>
          <p:cNvSpPr/>
          <p:nvPr/>
        </p:nvSpPr>
        <p:spPr>
          <a:xfrm>
            <a:off x="457200" y="1417320"/>
            <a:ext cx="6400800" cy="2788920"/>
          </a:xfrm>
          <a:prstGeom prst="rect">
            <a:avLst/>
          </a:prstGeom>
          <a:solidFill>
            <a:srgbClr val="0A0C0E"/>
          </a:solidFill>
          <a:ln w="9525">
            <a:solidFill>
              <a:srgbClr val="2A2F36"/>
            </a:solidFill>
            <a:prstDash val="solid"/>
          </a:ln>
        </p:spPr>
      </p:sp>
      <p:sp>
        <p:nvSpPr>
          <p:cNvPr id="6" name="Text 3"/>
          <p:cNvSpPr txBox="1"/>
          <p:nvPr/>
        </p:nvSpPr>
        <p:spPr>
          <a:xfrm>
            <a:off x="640080" y="1572768"/>
            <a:ext cx="6126480" cy="2523744"/>
          </a:xfrm>
          <a:prstGeom prst="rect">
            <a:avLst/>
          </a:prstGeom>
          <a:noFill/>
          <a:ln/>
        </p:spPr>
        <p:txBody>
          <a:bodyPr wrap="square" lIns="0" tIns="0" rIns="0" bIns="0" rtlCol="0" anchor="t"/>
          <a:lstStyle/>
          <a:p>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BP_Extaction — 탈출 구역</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on BeginOverlap(Player) → GM.StartExtractUser()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탈출 시작</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on EndOverlap(Player)   → GM.StopExtractUser()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Time = 100</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a:t>
            </a:r>
            <a:endParaRPr lang="ko-KR" sz="1100" dirty="0"/>
          </a:p>
          <a:p>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BP_FirstPersonGameMode — 0.1초 반복 타이머</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Timer():</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if not bIsExtracting: return</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Time -= 1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100 → 0 = 10초</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if Time % 10 == 0: HUD.PlayCountDownWIdget(Time / 10)</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if Time == 0: PauseTimer();  OpenLevel("Lv_NullPoint")</a:t>
            </a:r>
            <a:endParaRPr lang="ko-KR" sz="1100" dirty="0"/>
          </a:p>
        </p:txBody>
      </p:sp>
      <p:sp>
        <p:nvSpPr>
          <p:cNvPr id="7" name="Shape 4"/>
          <p:cNvSpPr/>
          <p:nvPr/>
        </p:nvSpPr>
        <p:spPr>
          <a:xfrm>
            <a:off x="7059168" y="1362456"/>
            <a:ext cx="4681728" cy="2962656"/>
          </a:xfrm>
          <a:prstGeom prst="rect">
            <a:avLst/>
          </a:prstGeom>
          <a:solidFill>
            <a:schemeClr val="tx2"/>
          </a:solidFill>
          <a:ln w="9525">
            <a:solidFill>
              <a:srgbClr val="2A2F36"/>
            </a:solidFill>
            <a:prstDash val="solid"/>
          </a:ln>
        </p:spPr>
      </p:sp>
      <p:pic>
        <p:nvPicPr>
          <p:cNvPr id="8" name="탈출 카운트다운 GIF" descr="탈출 카운트다운 GIF">    </p:cNvPr>
          <p:cNvPicPr>
            <a:picLocks noChangeAspect="1"/>
          </p:cNvPicPr>
          <p:nvPr/>
        </p:nvPicPr>
        <p:blipFill>
          <a:blip r:embed="rId1"/>
          <a:stretch>
            <a:fillRect/>
          </a:stretch>
        </p:blipFill>
        <p:spPr>
          <a:xfrm>
            <a:off x="7114032" y="1417320"/>
            <a:ext cx="4572000" cy="2395728"/>
          </a:xfrm>
          <a:prstGeom prst="rect">
            <a:avLst/>
          </a:prstGeom>
        </p:spPr>
      </p:pic>
      <p:sp>
        <p:nvSpPr>
          <p:cNvPr id="9" name="Shape 5"/>
          <p:cNvSpPr/>
          <p:nvPr/>
        </p:nvSpPr>
        <p:spPr>
          <a:xfrm>
            <a:off x="7004304" y="1307592"/>
            <a:ext cx="201168" cy="0"/>
          </a:xfrm>
          <a:prstGeom prst="line">
            <a:avLst/>
          </a:prstGeom>
          <a:noFill/>
          <a:ln w="22225">
            <a:solidFill>
              <a:schemeClr val="accent1"/>
            </a:solidFill>
            <a:prstDash val="solid"/>
          </a:ln>
        </p:spPr>
      </p:sp>
      <p:sp>
        <p:nvSpPr>
          <p:cNvPr id="10" name="Shape 6"/>
          <p:cNvSpPr/>
          <p:nvPr/>
        </p:nvSpPr>
        <p:spPr>
          <a:xfrm>
            <a:off x="7004304" y="1307592"/>
            <a:ext cx="0" cy="201168"/>
          </a:xfrm>
          <a:prstGeom prst="line">
            <a:avLst/>
          </a:prstGeom>
          <a:noFill/>
          <a:ln w="22225">
            <a:solidFill>
              <a:schemeClr val="accent1"/>
            </a:solidFill>
            <a:prstDash val="solid"/>
          </a:ln>
        </p:spPr>
      </p:sp>
      <p:sp>
        <p:nvSpPr>
          <p:cNvPr id="11" name="Shape 7"/>
          <p:cNvSpPr/>
          <p:nvPr/>
        </p:nvSpPr>
        <p:spPr>
          <a:xfrm>
            <a:off x="11594592" y="1307592"/>
            <a:ext cx="201168" cy="0"/>
          </a:xfrm>
          <a:prstGeom prst="line">
            <a:avLst/>
          </a:prstGeom>
          <a:noFill/>
          <a:ln w="22225">
            <a:solidFill>
              <a:schemeClr val="accent1"/>
            </a:solidFill>
            <a:prstDash val="solid"/>
          </a:ln>
        </p:spPr>
      </p:sp>
      <p:sp>
        <p:nvSpPr>
          <p:cNvPr id="12" name="Shape 8"/>
          <p:cNvSpPr/>
          <p:nvPr/>
        </p:nvSpPr>
        <p:spPr>
          <a:xfrm>
            <a:off x="11795760" y="1307592"/>
            <a:ext cx="0" cy="201168"/>
          </a:xfrm>
          <a:prstGeom prst="line">
            <a:avLst/>
          </a:prstGeom>
          <a:noFill/>
          <a:ln w="22225">
            <a:solidFill>
              <a:schemeClr val="accent1"/>
            </a:solidFill>
            <a:prstDash val="solid"/>
          </a:ln>
        </p:spPr>
      </p:sp>
      <p:sp>
        <p:nvSpPr>
          <p:cNvPr id="13" name="Shape 9"/>
          <p:cNvSpPr/>
          <p:nvPr/>
        </p:nvSpPr>
        <p:spPr>
          <a:xfrm>
            <a:off x="7004304" y="4379976"/>
            <a:ext cx="201168" cy="0"/>
          </a:xfrm>
          <a:prstGeom prst="line">
            <a:avLst/>
          </a:prstGeom>
          <a:noFill/>
          <a:ln w="22225">
            <a:solidFill>
              <a:schemeClr val="accent1"/>
            </a:solidFill>
            <a:prstDash val="solid"/>
          </a:ln>
        </p:spPr>
      </p:sp>
      <p:sp>
        <p:nvSpPr>
          <p:cNvPr id="14" name="Shape 10"/>
          <p:cNvSpPr/>
          <p:nvPr/>
        </p:nvSpPr>
        <p:spPr>
          <a:xfrm>
            <a:off x="7004304" y="4178808"/>
            <a:ext cx="0" cy="201168"/>
          </a:xfrm>
          <a:prstGeom prst="line">
            <a:avLst/>
          </a:prstGeom>
          <a:noFill/>
          <a:ln w="22225">
            <a:solidFill>
              <a:schemeClr val="accent1"/>
            </a:solidFill>
            <a:prstDash val="solid"/>
          </a:ln>
        </p:spPr>
      </p:sp>
      <p:sp>
        <p:nvSpPr>
          <p:cNvPr id="15" name="Shape 11"/>
          <p:cNvSpPr/>
          <p:nvPr/>
        </p:nvSpPr>
        <p:spPr>
          <a:xfrm>
            <a:off x="11594592" y="4379976"/>
            <a:ext cx="201168" cy="0"/>
          </a:xfrm>
          <a:prstGeom prst="line">
            <a:avLst/>
          </a:prstGeom>
          <a:noFill/>
          <a:ln w="22225">
            <a:solidFill>
              <a:schemeClr val="accent1"/>
            </a:solidFill>
            <a:prstDash val="solid"/>
          </a:ln>
        </p:spPr>
      </p:sp>
      <p:sp>
        <p:nvSpPr>
          <p:cNvPr id="16" name="Shape 12"/>
          <p:cNvSpPr/>
          <p:nvPr/>
        </p:nvSpPr>
        <p:spPr>
          <a:xfrm>
            <a:off x="11795760" y="4178808"/>
            <a:ext cx="0" cy="201168"/>
          </a:xfrm>
          <a:prstGeom prst="line">
            <a:avLst/>
          </a:prstGeom>
          <a:noFill/>
          <a:ln w="22225">
            <a:solidFill>
              <a:schemeClr val="accent1"/>
            </a:solidFill>
            <a:prstDash val="solid"/>
          </a:ln>
        </p:spPr>
      </p:sp>
      <p:sp>
        <p:nvSpPr>
          <p:cNvPr id="17" name="Text 13"/>
          <p:cNvSpPr txBox="1"/>
          <p:nvPr/>
        </p:nvSpPr>
        <p:spPr>
          <a:xfrm>
            <a:off x="7205472" y="1508760"/>
            <a:ext cx="1051560" cy="219456"/>
          </a:xfrm>
          <a:prstGeom prst="rect">
            <a:avLst/>
          </a:prstGeom>
          <a:solidFill>
            <a:schemeClr val="tx1">
              <a:alpha val="90000"/>
            </a:schemeClr>
          </a:solidFill>
          <a:ln/>
        </p:spPr>
        <p:txBody>
          <a:bodyPr wrap="square" lIns="0" tIns="0" rIns="0" bIns="0" rtlCol="0" anchor="ctr"/>
          <a:lstStyle/>
          <a:p>
            <a:pPr algn="ctr" indent="0" marL="0">
              <a:lnSpc>
                <a:spcPct val="120000"/>
              </a:lnSpc>
              <a:buNone/>
            </a:pPr>
            <a:r>
              <a:rPr lang="ko-KR" altLang="en-US" sz="900" b="1" spc="100" kern="0" dirty="0">
                <a:solidFill>
                  <a:schemeClr val="accent1"/>
                </a:solidFill>
                <a:latin typeface="Consolas" pitchFamily="34" charset="0"/>
                <a:ea typeface="Consolas" pitchFamily="34" charset="-122"/>
                <a:cs typeface="Consolas" pitchFamily="34" charset="-120"/>
              </a:rPr>
              <a:t>● GAMEPLAY</a:t>
            </a:r>
            <a:endParaRPr lang="ko-KR" sz="900" dirty="0"/>
          </a:p>
        </p:txBody>
      </p:sp>
      <p:sp>
        <p:nvSpPr>
          <p:cNvPr id="18" name="Text 14"/>
          <p:cNvSpPr txBox="1"/>
          <p:nvPr/>
        </p:nvSpPr>
        <p:spPr>
          <a:xfrm>
            <a:off x="7187184" y="3849624"/>
            <a:ext cx="4425696" cy="420624"/>
          </a:xfrm>
          <a:prstGeom prst="rect">
            <a:avLst/>
          </a:prstGeom>
          <a:noFill/>
          <a:ln/>
        </p:spPr>
        <p:txBody>
          <a:bodyPr wrap="square" lIns="0" tIns="0" rIns="0" bIns="0" rtlCol="0" anchor="ctr"/>
          <a:lstStyle/>
          <a:p>
            <a:pPr indent="0" marL="0">
              <a:lnSpc>
                <a:spcPct val="110000"/>
              </a:lnSpc>
              <a:buNone/>
            </a:pPr>
            <a:r>
              <a:rPr lang="ko-KR" altLang="en-US" sz="1100" dirty="0">
                <a:solidFill>
                  <a:schemeClr val="bg2"/>
                </a:solidFill>
              </a:rPr>
              <a:t>실제 플레이 · 구역에 머물면 카운트다운 → 0이면 로비 복귀</a:t>
            </a:r>
            <a:endParaRPr lang="ko-KR" sz="1100" dirty="0"/>
          </a:p>
        </p:txBody>
      </p:sp>
      <p:sp>
        <p:nvSpPr>
          <p:cNvPr id="19" name="Shape 15"/>
          <p:cNvSpPr/>
          <p:nvPr/>
        </p:nvSpPr>
        <p:spPr>
          <a:xfrm>
            <a:off x="457200" y="4434840"/>
            <a:ext cx="11274552" cy="1828800"/>
          </a:xfrm>
          <a:prstGeom prst="rect">
            <a:avLst/>
          </a:prstGeom>
          <a:solidFill>
            <a:schemeClr val="tx2"/>
          </a:solidFill>
          <a:ln w="9525">
            <a:solidFill>
              <a:srgbClr val="2A2F36"/>
            </a:solidFill>
            <a:prstDash val="solid"/>
          </a:ln>
        </p:spPr>
      </p:sp>
      <p:sp>
        <p:nvSpPr>
          <p:cNvPr id="20" name="Shape 16"/>
          <p:cNvSpPr/>
          <p:nvPr/>
        </p:nvSpPr>
        <p:spPr>
          <a:xfrm>
            <a:off x="457200" y="4434840"/>
            <a:ext cx="182880" cy="0"/>
          </a:xfrm>
          <a:prstGeom prst="line">
            <a:avLst/>
          </a:prstGeom>
          <a:noFill/>
          <a:ln w="22225">
            <a:solidFill>
              <a:schemeClr val="accent1"/>
            </a:solidFill>
            <a:prstDash val="solid"/>
          </a:ln>
        </p:spPr>
      </p:sp>
      <p:sp>
        <p:nvSpPr>
          <p:cNvPr id="21" name="Shape 17"/>
          <p:cNvSpPr/>
          <p:nvPr/>
        </p:nvSpPr>
        <p:spPr>
          <a:xfrm>
            <a:off x="457200" y="4434840"/>
            <a:ext cx="0" cy="182880"/>
          </a:xfrm>
          <a:prstGeom prst="line">
            <a:avLst/>
          </a:prstGeom>
          <a:noFill/>
          <a:ln w="22225">
            <a:solidFill>
              <a:schemeClr val="accent1"/>
            </a:solidFill>
            <a:prstDash val="solid"/>
          </a:ln>
        </p:spPr>
      </p:sp>
      <p:sp>
        <p:nvSpPr>
          <p:cNvPr id="22" name="Shape 18"/>
          <p:cNvSpPr/>
          <p:nvPr/>
        </p:nvSpPr>
        <p:spPr>
          <a:xfrm>
            <a:off x="11548872" y="6263640"/>
            <a:ext cx="182880" cy="0"/>
          </a:xfrm>
          <a:prstGeom prst="line">
            <a:avLst/>
          </a:prstGeom>
          <a:noFill/>
          <a:ln w="22225">
            <a:solidFill>
              <a:schemeClr val="accent1"/>
            </a:solidFill>
            <a:prstDash val="solid"/>
          </a:ln>
        </p:spPr>
      </p:sp>
      <p:sp>
        <p:nvSpPr>
          <p:cNvPr id="23" name="Shape 19"/>
          <p:cNvSpPr/>
          <p:nvPr/>
        </p:nvSpPr>
        <p:spPr>
          <a:xfrm>
            <a:off x="11731752" y="6080760"/>
            <a:ext cx="0" cy="182880"/>
          </a:xfrm>
          <a:prstGeom prst="line">
            <a:avLst/>
          </a:prstGeom>
          <a:noFill/>
          <a:ln w="22225">
            <a:solidFill>
              <a:schemeClr val="accent1"/>
            </a:solidFill>
            <a:prstDash val="solid"/>
          </a:ln>
        </p:spPr>
      </p:sp>
      <p:sp>
        <p:nvSpPr>
          <p:cNvPr id="24" name="Text 20"/>
          <p:cNvSpPr txBox="1"/>
          <p:nvPr/>
        </p:nvSpPr>
        <p:spPr>
          <a:xfrm>
            <a:off x="731520" y="4617720"/>
            <a:ext cx="548640" cy="274320"/>
          </a:xfrm>
          <a:prstGeom prst="rect">
            <a:avLst/>
          </a:prstGeom>
          <a:noFill/>
          <a:ln/>
        </p:spPr>
        <p:txBody>
          <a:bodyPr wrap="square" lIns="0" tIns="0" rIns="0" bIns="0" rtlCol="0" anchor="t"/>
          <a:lstStyle/>
          <a:p>
            <a:pPr indent="0" marL="0">
              <a:lnSpc>
                <a:spcPct val="120000"/>
              </a:lnSpc>
              <a:buNone/>
            </a:pPr>
            <a:r>
              <a:rPr lang="ko-KR" altLang="en-US" sz="1200" b="1" dirty="0">
                <a:solidFill>
                  <a:schemeClr val="accent1"/>
                </a:solidFill>
                <a:latin typeface="Consolas" pitchFamily="34" charset="0"/>
                <a:ea typeface="Consolas" pitchFamily="34" charset="-122"/>
                <a:cs typeface="Consolas" pitchFamily="34" charset="-120"/>
              </a:rPr>
              <a:t>01</a:t>
            </a:r>
            <a:endParaRPr lang="ko-KR" sz="1200" dirty="0"/>
          </a:p>
        </p:txBody>
      </p:sp>
      <p:sp>
        <p:nvSpPr>
          <p:cNvPr id="25" name="Text 21"/>
          <p:cNvSpPr txBox="1"/>
          <p:nvPr/>
        </p:nvSpPr>
        <p:spPr>
          <a:xfrm>
            <a:off x="731520" y="4919472"/>
            <a:ext cx="3383280" cy="310896"/>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구역은 판정만</a:t>
            </a:r>
            <a:endParaRPr lang="ko-KR" sz="1450" dirty="0"/>
          </a:p>
        </p:txBody>
      </p:sp>
      <p:sp>
        <p:nvSpPr>
          <p:cNvPr id="26" name="Text 22"/>
          <p:cNvSpPr txBox="1"/>
          <p:nvPr/>
        </p:nvSpPr>
        <p:spPr>
          <a:xfrm>
            <a:off x="731520" y="5303520"/>
            <a:ext cx="3383280" cy="731520"/>
          </a:xfrm>
          <a:prstGeom prst="rect">
            <a:avLst/>
          </a:prstGeom>
          <a:noFill/>
          <a:ln/>
        </p:spPr>
        <p:txBody>
          <a:bodyPr wrap="square" lIns="0" tIns="0" rIns="0" bIns="0" rtlCol="0" anchor="t"/>
          <a:lstStyle/>
          <a:p>
            <a:pPr indent="0" marL="0">
              <a:lnSpc>
                <a:spcPct val="125000"/>
              </a:lnSpc>
              <a:buNone/>
            </a:pPr>
            <a:r>
              <a:rPr lang="ko-KR" altLang="en-US" sz="1200" dirty="0">
                <a:solidFill>
                  <a:schemeClr val="bg2"/>
                </a:solidFill>
              </a:rPr>
              <a:t>규칙은 GameMode 한 곳 — 구역을 여러 개 놓아도 그대로</a:t>
            </a:r>
            <a:endParaRPr lang="ko-KR" sz="1200" dirty="0"/>
          </a:p>
        </p:txBody>
      </p:sp>
      <p:sp>
        <p:nvSpPr>
          <p:cNvPr id="27" name="Text 23"/>
          <p:cNvSpPr txBox="1"/>
          <p:nvPr/>
        </p:nvSpPr>
        <p:spPr>
          <a:xfrm>
            <a:off x="4434840" y="4617720"/>
            <a:ext cx="548640" cy="274320"/>
          </a:xfrm>
          <a:prstGeom prst="rect">
            <a:avLst/>
          </a:prstGeom>
          <a:noFill/>
          <a:ln/>
        </p:spPr>
        <p:txBody>
          <a:bodyPr wrap="square" lIns="0" tIns="0" rIns="0" bIns="0" rtlCol="0" anchor="t"/>
          <a:lstStyle/>
          <a:p>
            <a:pPr indent="0" marL="0">
              <a:lnSpc>
                <a:spcPct val="120000"/>
              </a:lnSpc>
              <a:buNone/>
            </a:pPr>
            <a:r>
              <a:rPr lang="ko-KR" altLang="en-US" sz="1200" b="1" dirty="0">
                <a:solidFill>
                  <a:schemeClr val="accent1"/>
                </a:solidFill>
                <a:latin typeface="Consolas" pitchFamily="34" charset="0"/>
                <a:ea typeface="Consolas" pitchFamily="34" charset="-122"/>
                <a:cs typeface="Consolas" pitchFamily="34" charset="-120"/>
              </a:rPr>
              <a:t>02</a:t>
            </a:r>
            <a:endParaRPr lang="ko-KR" sz="1200" dirty="0"/>
          </a:p>
        </p:txBody>
      </p:sp>
      <p:sp>
        <p:nvSpPr>
          <p:cNvPr id="28" name="Text 24"/>
          <p:cNvSpPr txBox="1"/>
          <p:nvPr/>
        </p:nvSpPr>
        <p:spPr>
          <a:xfrm>
            <a:off x="4434840" y="4919472"/>
            <a:ext cx="3383280" cy="310896"/>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오차 없는 10초</a:t>
            </a:r>
            <a:endParaRPr lang="ko-KR" sz="1450" dirty="0"/>
          </a:p>
        </p:txBody>
      </p:sp>
      <p:sp>
        <p:nvSpPr>
          <p:cNvPr id="29" name="Text 25"/>
          <p:cNvSpPr txBox="1"/>
          <p:nvPr/>
        </p:nvSpPr>
        <p:spPr>
          <a:xfrm>
            <a:off x="4434840" y="5303520"/>
            <a:ext cx="3383280" cy="731520"/>
          </a:xfrm>
          <a:prstGeom prst="rect">
            <a:avLst/>
          </a:prstGeom>
          <a:noFill/>
          <a:ln/>
        </p:spPr>
        <p:txBody>
          <a:bodyPr wrap="square" lIns="0" tIns="0" rIns="0" bIns="0" rtlCol="0" anchor="t"/>
          <a:lstStyle/>
          <a:p>
            <a:pPr indent="0" marL="0">
              <a:lnSpc>
                <a:spcPct val="125000"/>
              </a:lnSpc>
              <a:buNone/>
            </a:pPr>
            <a:r>
              <a:rPr lang="ko-KR" altLang="en-US" sz="1200" dirty="0">
                <a:solidFill>
                  <a:schemeClr val="bg2"/>
                </a:solidFill>
              </a:rPr>
              <a:t>0.1초 타이머 × 정수 카운터 (float 누적 없음)</a:t>
            </a:r>
            <a:endParaRPr lang="ko-KR" sz="1200" dirty="0"/>
          </a:p>
        </p:txBody>
      </p:sp>
      <p:sp>
        <p:nvSpPr>
          <p:cNvPr id="30" name="Text 26"/>
          <p:cNvSpPr txBox="1"/>
          <p:nvPr/>
        </p:nvSpPr>
        <p:spPr>
          <a:xfrm>
            <a:off x="8138160" y="4617720"/>
            <a:ext cx="548640" cy="274320"/>
          </a:xfrm>
          <a:prstGeom prst="rect">
            <a:avLst/>
          </a:prstGeom>
          <a:noFill/>
          <a:ln/>
        </p:spPr>
        <p:txBody>
          <a:bodyPr wrap="square" lIns="0" tIns="0" rIns="0" bIns="0" rtlCol="0" anchor="t"/>
          <a:lstStyle/>
          <a:p>
            <a:pPr indent="0" marL="0">
              <a:lnSpc>
                <a:spcPct val="120000"/>
              </a:lnSpc>
              <a:buNone/>
            </a:pPr>
            <a:r>
              <a:rPr lang="ko-KR" altLang="en-US" sz="1200" b="1" dirty="0">
                <a:solidFill>
                  <a:schemeClr val="accent1"/>
                </a:solidFill>
                <a:latin typeface="Consolas" pitchFamily="34" charset="0"/>
                <a:ea typeface="Consolas" pitchFamily="34" charset="-122"/>
                <a:cs typeface="Consolas" pitchFamily="34" charset="-120"/>
              </a:rPr>
              <a:t>03</a:t>
            </a:r>
            <a:endParaRPr lang="ko-KR" sz="1200" dirty="0"/>
          </a:p>
        </p:txBody>
      </p:sp>
      <p:sp>
        <p:nvSpPr>
          <p:cNvPr id="31" name="Text 27"/>
          <p:cNvSpPr txBox="1"/>
          <p:nvPr/>
        </p:nvSpPr>
        <p:spPr>
          <a:xfrm>
            <a:off x="8138160" y="4919472"/>
            <a:ext cx="3383280" cy="310896"/>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중복 호출 방지</a:t>
            </a:r>
            <a:endParaRPr lang="ko-KR" sz="1450" dirty="0"/>
          </a:p>
        </p:txBody>
      </p:sp>
      <p:sp>
        <p:nvSpPr>
          <p:cNvPr id="32" name="Text 28"/>
          <p:cNvSpPr txBox="1"/>
          <p:nvPr/>
        </p:nvSpPr>
        <p:spPr>
          <a:xfrm>
            <a:off x="8138160" y="5303520"/>
            <a:ext cx="3383280" cy="731520"/>
          </a:xfrm>
          <a:prstGeom prst="rect">
            <a:avLst/>
          </a:prstGeom>
          <a:noFill/>
          <a:ln/>
        </p:spPr>
        <p:txBody>
          <a:bodyPr wrap="square" lIns="0" tIns="0" rIns="0" bIns="0" rtlCol="0" anchor="t"/>
          <a:lstStyle/>
          <a:p>
            <a:pPr indent="0" marL="0">
              <a:lnSpc>
                <a:spcPct val="125000"/>
              </a:lnSpc>
              <a:buNone/>
            </a:pPr>
            <a:r>
              <a:rPr lang="ko-KR" altLang="en-US" sz="1200" dirty="0">
                <a:solidFill>
                  <a:schemeClr val="bg2"/>
                </a:solidFill>
              </a:rPr>
              <a:t>0이 되면 타이머부터 멈추고 레벨 전환</a:t>
            </a:r>
            <a:endParaRPr lang="ko-KR" sz="12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02 · GRID INVENTORY</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그리드 인벤토리 · 칸 · 아이템 · 섹션</a:t>
            </a:r>
            <a:endParaRPr lang="en-US" sz="2800" dirty="0"/>
          </a:p>
        </p:txBody>
      </p:sp>
      <p:sp>
        <p:nvSpPr>
          <p:cNvPr id="5" name="Shape 2"/>
          <p:cNvSpPr/>
          <p:nvPr/>
        </p:nvSpPr>
        <p:spPr>
          <a:xfrm>
            <a:off x="457200" y="1371600"/>
            <a:ext cx="6583680" cy="3154680"/>
          </a:xfrm>
          <a:prstGeom prst="rect">
            <a:avLst/>
          </a:prstGeom>
          <a:solidFill>
            <a:schemeClr val="tx2"/>
          </a:solidFill>
          <a:ln w="9525">
            <a:solidFill>
              <a:srgbClr val="2A2F36"/>
            </a:solidFill>
            <a:prstDash val="solid"/>
          </a:ln>
        </p:spPr>
      </p:sp>
      <p:sp>
        <p:nvSpPr>
          <p:cNvPr id="6" name="Shape 3"/>
          <p:cNvSpPr/>
          <p:nvPr/>
        </p:nvSpPr>
        <p:spPr>
          <a:xfrm>
            <a:off x="1481328" y="1554480"/>
            <a:ext cx="566928" cy="566928"/>
          </a:xfrm>
          <a:prstGeom prst="rect">
            <a:avLst/>
          </a:prstGeom>
          <a:solidFill>
            <a:schemeClr val="accent6"/>
          </a:solidFill>
          <a:ln w="9525">
            <a:solidFill>
              <a:srgbClr val="2A2F36"/>
            </a:solidFill>
            <a:prstDash val="solid"/>
          </a:ln>
        </p:spPr>
      </p:sp>
      <p:sp>
        <p:nvSpPr>
          <p:cNvPr id="7" name="Text 4"/>
          <p:cNvSpPr txBox="1"/>
          <p:nvPr/>
        </p:nvSpPr>
        <p:spPr>
          <a:xfrm>
            <a:off x="1527048" y="1581912"/>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0</a:t>
            </a:r>
            <a:endParaRPr lang="ko-KR" sz="800" dirty="0"/>
          </a:p>
        </p:txBody>
      </p:sp>
      <p:sp>
        <p:nvSpPr>
          <p:cNvPr id="8" name="Shape 5"/>
          <p:cNvSpPr/>
          <p:nvPr/>
        </p:nvSpPr>
        <p:spPr>
          <a:xfrm>
            <a:off x="2048256" y="1554480"/>
            <a:ext cx="566928" cy="566928"/>
          </a:xfrm>
          <a:prstGeom prst="rect">
            <a:avLst/>
          </a:prstGeom>
          <a:solidFill>
            <a:schemeClr val="accent6"/>
          </a:solidFill>
          <a:ln w="9525">
            <a:solidFill>
              <a:srgbClr val="2A2F36"/>
            </a:solidFill>
            <a:prstDash val="solid"/>
          </a:ln>
        </p:spPr>
      </p:sp>
      <p:sp>
        <p:nvSpPr>
          <p:cNvPr id="9" name="Text 6"/>
          <p:cNvSpPr txBox="1"/>
          <p:nvPr/>
        </p:nvSpPr>
        <p:spPr>
          <a:xfrm>
            <a:off x="2093976" y="1581912"/>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a:t>
            </a:r>
            <a:endParaRPr lang="ko-KR" sz="800" dirty="0"/>
          </a:p>
        </p:txBody>
      </p:sp>
      <p:sp>
        <p:nvSpPr>
          <p:cNvPr id="10" name="Shape 7"/>
          <p:cNvSpPr/>
          <p:nvPr/>
        </p:nvSpPr>
        <p:spPr>
          <a:xfrm>
            <a:off x="2615184" y="1554480"/>
            <a:ext cx="566928" cy="566928"/>
          </a:xfrm>
          <a:prstGeom prst="rect">
            <a:avLst/>
          </a:prstGeom>
          <a:solidFill>
            <a:schemeClr val="accent6"/>
          </a:solidFill>
          <a:ln w="9525">
            <a:solidFill>
              <a:srgbClr val="2A2F36"/>
            </a:solidFill>
            <a:prstDash val="solid"/>
          </a:ln>
        </p:spPr>
      </p:sp>
      <p:sp>
        <p:nvSpPr>
          <p:cNvPr id="11" name="Text 8"/>
          <p:cNvSpPr txBox="1"/>
          <p:nvPr/>
        </p:nvSpPr>
        <p:spPr>
          <a:xfrm>
            <a:off x="2660904" y="1581912"/>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a:t>
            </a:r>
            <a:endParaRPr lang="ko-KR" sz="800" dirty="0"/>
          </a:p>
        </p:txBody>
      </p:sp>
      <p:sp>
        <p:nvSpPr>
          <p:cNvPr id="12" name="Shape 9"/>
          <p:cNvSpPr/>
          <p:nvPr/>
        </p:nvSpPr>
        <p:spPr>
          <a:xfrm>
            <a:off x="3182112" y="1554480"/>
            <a:ext cx="566928" cy="566928"/>
          </a:xfrm>
          <a:prstGeom prst="rect">
            <a:avLst/>
          </a:prstGeom>
          <a:solidFill>
            <a:schemeClr val="accent6"/>
          </a:solidFill>
          <a:ln w="9525">
            <a:solidFill>
              <a:srgbClr val="2A2F36"/>
            </a:solidFill>
            <a:prstDash val="solid"/>
          </a:ln>
        </p:spPr>
      </p:sp>
      <p:sp>
        <p:nvSpPr>
          <p:cNvPr id="13" name="Text 10"/>
          <p:cNvSpPr txBox="1"/>
          <p:nvPr/>
        </p:nvSpPr>
        <p:spPr>
          <a:xfrm>
            <a:off x="3227832" y="1581912"/>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3</a:t>
            </a:r>
            <a:endParaRPr lang="ko-KR" sz="800" dirty="0"/>
          </a:p>
        </p:txBody>
      </p:sp>
      <p:sp>
        <p:nvSpPr>
          <p:cNvPr id="14" name="Shape 11"/>
          <p:cNvSpPr/>
          <p:nvPr/>
        </p:nvSpPr>
        <p:spPr>
          <a:xfrm>
            <a:off x="3749040" y="1554480"/>
            <a:ext cx="566928" cy="566928"/>
          </a:xfrm>
          <a:prstGeom prst="rect">
            <a:avLst/>
          </a:prstGeom>
          <a:solidFill>
            <a:schemeClr val="accent6"/>
          </a:solidFill>
          <a:ln w="9525">
            <a:solidFill>
              <a:srgbClr val="2A2F36"/>
            </a:solidFill>
            <a:prstDash val="solid"/>
          </a:ln>
        </p:spPr>
      </p:sp>
      <p:sp>
        <p:nvSpPr>
          <p:cNvPr id="15" name="Text 12"/>
          <p:cNvSpPr txBox="1"/>
          <p:nvPr/>
        </p:nvSpPr>
        <p:spPr>
          <a:xfrm>
            <a:off x="3794760" y="1581912"/>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4</a:t>
            </a:r>
            <a:endParaRPr lang="ko-KR" sz="800" dirty="0"/>
          </a:p>
        </p:txBody>
      </p:sp>
      <p:sp>
        <p:nvSpPr>
          <p:cNvPr id="16" name="Shape 13"/>
          <p:cNvSpPr/>
          <p:nvPr/>
        </p:nvSpPr>
        <p:spPr>
          <a:xfrm>
            <a:off x="4315968" y="1554480"/>
            <a:ext cx="566928" cy="566928"/>
          </a:xfrm>
          <a:prstGeom prst="rect">
            <a:avLst/>
          </a:prstGeom>
          <a:solidFill>
            <a:schemeClr val="accent6"/>
          </a:solidFill>
          <a:ln w="9525">
            <a:solidFill>
              <a:srgbClr val="2A2F36"/>
            </a:solidFill>
            <a:prstDash val="solid"/>
          </a:ln>
        </p:spPr>
      </p:sp>
      <p:sp>
        <p:nvSpPr>
          <p:cNvPr id="17" name="Text 14"/>
          <p:cNvSpPr txBox="1"/>
          <p:nvPr/>
        </p:nvSpPr>
        <p:spPr>
          <a:xfrm>
            <a:off x="4361688" y="1581912"/>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5</a:t>
            </a:r>
            <a:endParaRPr lang="ko-KR" sz="800" dirty="0"/>
          </a:p>
        </p:txBody>
      </p:sp>
      <p:sp>
        <p:nvSpPr>
          <p:cNvPr id="18" name="Shape 15"/>
          <p:cNvSpPr/>
          <p:nvPr/>
        </p:nvSpPr>
        <p:spPr>
          <a:xfrm>
            <a:off x="4882896" y="1554480"/>
            <a:ext cx="566928" cy="566928"/>
          </a:xfrm>
          <a:prstGeom prst="rect">
            <a:avLst/>
          </a:prstGeom>
          <a:solidFill>
            <a:schemeClr val="accent6"/>
          </a:solidFill>
          <a:ln w="9525">
            <a:solidFill>
              <a:srgbClr val="2A2F36"/>
            </a:solidFill>
            <a:prstDash val="solid"/>
          </a:ln>
        </p:spPr>
      </p:sp>
      <p:sp>
        <p:nvSpPr>
          <p:cNvPr id="19" name="Text 16"/>
          <p:cNvSpPr txBox="1"/>
          <p:nvPr/>
        </p:nvSpPr>
        <p:spPr>
          <a:xfrm>
            <a:off x="4928616" y="1581912"/>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6</a:t>
            </a:r>
            <a:endParaRPr lang="ko-KR" sz="800" dirty="0"/>
          </a:p>
        </p:txBody>
      </p:sp>
      <p:sp>
        <p:nvSpPr>
          <p:cNvPr id="20" name="Shape 17"/>
          <p:cNvSpPr/>
          <p:nvPr/>
        </p:nvSpPr>
        <p:spPr>
          <a:xfrm>
            <a:off x="5449824" y="1554480"/>
            <a:ext cx="566928" cy="566928"/>
          </a:xfrm>
          <a:prstGeom prst="rect">
            <a:avLst/>
          </a:prstGeom>
          <a:solidFill>
            <a:schemeClr val="accent6"/>
          </a:solidFill>
          <a:ln w="9525">
            <a:solidFill>
              <a:srgbClr val="2A2F36"/>
            </a:solidFill>
            <a:prstDash val="solid"/>
          </a:ln>
        </p:spPr>
      </p:sp>
      <p:sp>
        <p:nvSpPr>
          <p:cNvPr id="21" name="Text 18"/>
          <p:cNvSpPr txBox="1"/>
          <p:nvPr/>
        </p:nvSpPr>
        <p:spPr>
          <a:xfrm>
            <a:off x="5495544" y="1581912"/>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7</a:t>
            </a:r>
            <a:endParaRPr lang="ko-KR" sz="800" dirty="0"/>
          </a:p>
        </p:txBody>
      </p:sp>
      <p:sp>
        <p:nvSpPr>
          <p:cNvPr id="22" name="Shape 19"/>
          <p:cNvSpPr/>
          <p:nvPr/>
        </p:nvSpPr>
        <p:spPr>
          <a:xfrm>
            <a:off x="1481328" y="2121408"/>
            <a:ext cx="566928" cy="566928"/>
          </a:xfrm>
          <a:prstGeom prst="rect">
            <a:avLst/>
          </a:prstGeom>
          <a:solidFill>
            <a:schemeClr val="accent6"/>
          </a:solidFill>
          <a:ln w="9525">
            <a:solidFill>
              <a:srgbClr val="2A2F36"/>
            </a:solidFill>
            <a:prstDash val="solid"/>
          </a:ln>
        </p:spPr>
      </p:sp>
      <p:sp>
        <p:nvSpPr>
          <p:cNvPr id="23" name="Text 20"/>
          <p:cNvSpPr txBox="1"/>
          <p:nvPr/>
        </p:nvSpPr>
        <p:spPr>
          <a:xfrm>
            <a:off x="1527048" y="2148840"/>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8</a:t>
            </a:r>
            <a:endParaRPr lang="ko-KR" sz="800" dirty="0"/>
          </a:p>
        </p:txBody>
      </p:sp>
      <p:sp>
        <p:nvSpPr>
          <p:cNvPr id="24" name="Shape 21"/>
          <p:cNvSpPr/>
          <p:nvPr/>
        </p:nvSpPr>
        <p:spPr>
          <a:xfrm>
            <a:off x="2048256" y="2121408"/>
            <a:ext cx="566928" cy="566928"/>
          </a:xfrm>
          <a:prstGeom prst="rect">
            <a:avLst/>
          </a:prstGeom>
          <a:solidFill>
            <a:schemeClr val="accent6"/>
          </a:solidFill>
          <a:ln w="9525">
            <a:solidFill>
              <a:srgbClr val="2A2F36"/>
            </a:solidFill>
            <a:prstDash val="solid"/>
          </a:ln>
        </p:spPr>
      </p:sp>
      <p:sp>
        <p:nvSpPr>
          <p:cNvPr id="25" name="Text 22"/>
          <p:cNvSpPr txBox="1"/>
          <p:nvPr/>
        </p:nvSpPr>
        <p:spPr>
          <a:xfrm>
            <a:off x="2093976" y="2148840"/>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9</a:t>
            </a:r>
            <a:endParaRPr lang="ko-KR" sz="800" dirty="0"/>
          </a:p>
        </p:txBody>
      </p:sp>
      <p:sp>
        <p:nvSpPr>
          <p:cNvPr id="26" name="Shape 23"/>
          <p:cNvSpPr/>
          <p:nvPr/>
        </p:nvSpPr>
        <p:spPr>
          <a:xfrm>
            <a:off x="2615184" y="2121408"/>
            <a:ext cx="566928" cy="566928"/>
          </a:xfrm>
          <a:prstGeom prst="rect">
            <a:avLst/>
          </a:prstGeom>
          <a:solidFill>
            <a:schemeClr val="accent6"/>
          </a:solidFill>
          <a:ln w="9525">
            <a:solidFill>
              <a:srgbClr val="2A2F36"/>
            </a:solidFill>
            <a:prstDash val="solid"/>
          </a:ln>
        </p:spPr>
      </p:sp>
      <p:sp>
        <p:nvSpPr>
          <p:cNvPr id="27" name="Text 24"/>
          <p:cNvSpPr txBox="1"/>
          <p:nvPr/>
        </p:nvSpPr>
        <p:spPr>
          <a:xfrm>
            <a:off x="2660904" y="2148840"/>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10</a:t>
            </a:r>
            <a:endParaRPr lang="ko-KR" sz="800" dirty="0"/>
          </a:p>
        </p:txBody>
      </p:sp>
      <p:sp>
        <p:nvSpPr>
          <p:cNvPr id="28" name="Shape 25"/>
          <p:cNvSpPr/>
          <p:nvPr/>
        </p:nvSpPr>
        <p:spPr>
          <a:xfrm>
            <a:off x="3182112" y="2121408"/>
            <a:ext cx="566928" cy="566928"/>
          </a:xfrm>
          <a:prstGeom prst="rect">
            <a:avLst/>
          </a:prstGeom>
          <a:solidFill>
            <a:schemeClr val="accent6"/>
          </a:solidFill>
          <a:ln w="9525">
            <a:solidFill>
              <a:srgbClr val="2A2F36"/>
            </a:solidFill>
            <a:prstDash val="solid"/>
          </a:ln>
        </p:spPr>
      </p:sp>
      <p:sp>
        <p:nvSpPr>
          <p:cNvPr id="29" name="Text 26"/>
          <p:cNvSpPr txBox="1"/>
          <p:nvPr/>
        </p:nvSpPr>
        <p:spPr>
          <a:xfrm>
            <a:off x="3227832" y="2148840"/>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11</a:t>
            </a:r>
            <a:endParaRPr lang="ko-KR" sz="800" dirty="0"/>
          </a:p>
        </p:txBody>
      </p:sp>
      <p:sp>
        <p:nvSpPr>
          <p:cNvPr id="30" name="Shape 27"/>
          <p:cNvSpPr/>
          <p:nvPr/>
        </p:nvSpPr>
        <p:spPr>
          <a:xfrm>
            <a:off x="3749040" y="2121408"/>
            <a:ext cx="566928" cy="566928"/>
          </a:xfrm>
          <a:prstGeom prst="rect">
            <a:avLst/>
          </a:prstGeom>
          <a:solidFill>
            <a:schemeClr val="accent6"/>
          </a:solidFill>
          <a:ln w="9525">
            <a:solidFill>
              <a:srgbClr val="2A2F36"/>
            </a:solidFill>
            <a:prstDash val="solid"/>
          </a:ln>
        </p:spPr>
      </p:sp>
      <p:sp>
        <p:nvSpPr>
          <p:cNvPr id="31" name="Text 28"/>
          <p:cNvSpPr txBox="1"/>
          <p:nvPr/>
        </p:nvSpPr>
        <p:spPr>
          <a:xfrm>
            <a:off x="3794760" y="2148840"/>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12</a:t>
            </a:r>
            <a:endParaRPr lang="ko-KR" sz="800" dirty="0"/>
          </a:p>
        </p:txBody>
      </p:sp>
      <p:sp>
        <p:nvSpPr>
          <p:cNvPr id="32" name="Shape 29"/>
          <p:cNvSpPr/>
          <p:nvPr/>
        </p:nvSpPr>
        <p:spPr>
          <a:xfrm>
            <a:off x="4315968" y="2121408"/>
            <a:ext cx="566928" cy="566928"/>
          </a:xfrm>
          <a:prstGeom prst="rect">
            <a:avLst/>
          </a:prstGeom>
          <a:solidFill>
            <a:schemeClr val="accent6"/>
          </a:solidFill>
          <a:ln w="9525">
            <a:solidFill>
              <a:srgbClr val="2A2F36"/>
            </a:solidFill>
            <a:prstDash val="solid"/>
          </a:ln>
        </p:spPr>
      </p:sp>
      <p:sp>
        <p:nvSpPr>
          <p:cNvPr id="33" name="Text 30"/>
          <p:cNvSpPr txBox="1"/>
          <p:nvPr/>
        </p:nvSpPr>
        <p:spPr>
          <a:xfrm>
            <a:off x="4361688" y="2148840"/>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13</a:t>
            </a:r>
            <a:endParaRPr lang="ko-KR" sz="800" dirty="0"/>
          </a:p>
        </p:txBody>
      </p:sp>
      <p:sp>
        <p:nvSpPr>
          <p:cNvPr id="34" name="Shape 31"/>
          <p:cNvSpPr/>
          <p:nvPr/>
        </p:nvSpPr>
        <p:spPr>
          <a:xfrm>
            <a:off x="4882896" y="2121408"/>
            <a:ext cx="566928" cy="566928"/>
          </a:xfrm>
          <a:prstGeom prst="rect">
            <a:avLst/>
          </a:prstGeom>
          <a:solidFill>
            <a:schemeClr val="accent6"/>
          </a:solidFill>
          <a:ln w="9525">
            <a:solidFill>
              <a:srgbClr val="2A2F36"/>
            </a:solidFill>
            <a:prstDash val="solid"/>
          </a:ln>
        </p:spPr>
      </p:sp>
      <p:sp>
        <p:nvSpPr>
          <p:cNvPr id="35" name="Text 32"/>
          <p:cNvSpPr txBox="1"/>
          <p:nvPr/>
        </p:nvSpPr>
        <p:spPr>
          <a:xfrm>
            <a:off x="4928616" y="2148840"/>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14</a:t>
            </a:r>
            <a:endParaRPr lang="ko-KR" sz="800" dirty="0"/>
          </a:p>
        </p:txBody>
      </p:sp>
      <p:sp>
        <p:nvSpPr>
          <p:cNvPr id="36" name="Shape 33"/>
          <p:cNvSpPr/>
          <p:nvPr/>
        </p:nvSpPr>
        <p:spPr>
          <a:xfrm>
            <a:off x="5449824" y="2121408"/>
            <a:ext cx="566928" cy="566928"/>
          </a:xfrm>
          <a:prstGeom prst="rect">
            <a:avLst/>
          </a:prstGeom>
          <a:solidFill>
            <a:schemeClr val="accent6"/>
          </a:solidFill>
          <a:ln w="9525">
            <a:solidFill>
              <a:srgbClr val="2A2F36"/>
            </a:solidFill>
            <a:prstDash val="solid"/>
          </a:ln>
        </p:spPr>
      </p:sp>
      <p:sp>
        <p:nvSpPr>
          <p:cNvPr id="37" name="Text 34"/>
          <p:cNvSpPr txBox="1"/>
          <p:nvPr/>
        </p:nvSpPr>
        <p:spPr>
          <a:xfrm>
            <a:off x="5495544" y="2148840"/>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15</a:t>
            </a:r>
            <a:endParaRPr lang="ko-KR" sz="800" dirty="0"/>
          </a:p>
        </p:txBody>
      </p:sp>
      <p:sp>
        <p:nvSpPr>
          <p:cNvPr id="38" name="Shape 35"/>
          <p:cNvSpPr/>
          <p:nvPr/>
        </p:nvSpPr>
        <p:spPr>
          <a:xfrm>
            <a:off x="1481328" y="2688336"/>
            <a:ext cx="566928" cy="566928"/>
          </a:xfrm>
          <a:prstGeom prst="rect">
            <a:avLst/>
          </a:prstGeom>
          <a:solidFill>
            <a:schemeClr val="accent6"/>
          </a:solidFill>
          <a:ln w="9525">
            <a:solidFill>
              <a:srgbClr val="2A2F36"/>
            </a:solidFill>
            <a:prstDash val="solid"/>
          </a:ln>
        </p:spPr>
      </p:sp>
      <p:sp>
        <p:nvSpPr>
          <p:cNvPr id="39" name="Text 36"/>
          <p:cNvSpPr txBox="1"/>
          <p:nvPr/>
        </p:nvSpPr>
        <p:spPr>
          <a:xfrm>
            <a:off x="1527048" y="2715768"/>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16</a:t>
            </a:r>
            <a:endParaRPr lang="ko-KR" sz="800" dirty="0"/>
          </a:p>
        </p:txBody>
      </p:sp>
      <p:sp>
        <p:nvSpPr>
          <p:cNvPr id="40" name="Shape 37"/>
          <p:cNvSpPr/>
          <p:nvPr/>
        </p:nvSpPr>
        <p:spPr>
          <a:xfrm>
            <a:off x="2048256" y="2688336"/>
            <a:ext cx="566928" cy="566928"/>
          </a:xfrm>
          <a:prstGeom prst="rect">
            <a:avLst/>
          </a:prstGeom>
          <a:solidFill>
            <a:schemeClr val="accent6"/>
          </a:solidFill>
          <a:ln w="9525">
            <a:solidFill>
              <a:srgbClr val="2A2F36"/>
            </a:solidFill>
            <a:prstDash val="solid"/>
          </a:ln>
        </p:spPr>
      </p:sp>
      <p:sp>
        <p:nvSpPr>
          <p:cNvPr id="41" name="Text 38"/>
          <p:cNvSpPr txBox="1"/>
          <p:nvPr/>
        </p:nvSpPr>
        <p:spPr>
          <a:xfrm>
            <a:off x="2093976" y="2715768"/>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17</a:t>
            </a:r>
            <a:endParaRPr lang="ko-KR" sz="800" dirty="0"/>
          </a:p>
        </p:txBody>
      </p:sp>
      <p:sp>
        <p:nvSpPr>
          <p:cNvPr id="42" name="Shape 39"/>
          <p:cNvSpPr/>
          <p:nvPr/>
        </p:nvSpPr>
        <p:spPr>
          <a:xfrm>
            <a:off x="2615184" y="2688336"/>
            <a:ext cx="566928" cy="566928"/>
          </a:xfrm>
          <a:prstGeom prst="rect">
            <a:avLst/>
          </a:prstGeom>
          <a:solidFill>
            <a:schemeClr val="accent6"/>
          </a:solidFill>
          <a:ln w="9525">
            <a:solidFill>
              <a:srgbClr val="2A2F36"/>
            </a:solidFill>
            <a:prstDash val="solid"/>
          </a:ln>
        </p:spPr>
      </p:sp>
      <p:sp>
        <p:nvSpPr>
          <p:cNvPr id="43" name="Text 40"/>
          <p:cNvSpPr txBox="1"/>
          <p:nvPr/>
        </p:nvSpPr>
        <p:spPr>
          <a:xfrm>
            <a:off x="2660904" y="2715768"/>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18</a:t>
            </a:r>
            <a:endParaRPr lang="ko-KR" sz="800" dirty="0"/>
          </a:p>
        </p:txBody>
      </p:sp>
      <p:sp>
        <p:nvSpPr>
          <p:cNvPr id="44" name="Shape 41"/>
          <p:cNvSpPr/>
          <p:nvPr/>
        </p:nvSpPr>
        <p:spPr>
          <a:xfrm>
            <a:off x="3182112" y="2688336"/>
            <a:ext cx="566928" cy="566928"/>
          </a:xfrm>
          <a:prstGeom prst="rect">
            <a:avLst/>
          </a:prstGeom>
          <a:solidFill>
            <a:schemeClr val="accent6"/>
          </a:solidFill>
          <a:ln w="9525">
            <a:solidFill>
              <a:srgbClr val="2A2F36"/>
            </a:solidFill>
            <a:prstDash val="solid"/>
          </a:ln>
        </p:spPr>
      </p:sp>
      <p:sp>
        <p:nvSpPr>
          <p:cNvPr id="45" name="Text 42"/>
          <p:cNvSpPr txBox="1"/>
          <p:nvPr/>
        </p:nvSpPr>
        <p:spPr>
          <a:xfrm>
            <a:off x="3227832" y="2715768"/>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19</a:t>
            </a:r>
            <a:endParaRPr lang="ko-KR" sz="800" dirty="0"/>
          </a:p>
        </p:txBody>
      </p:sp>
      <p:sp>
        <p:nvSpPr>
          <p:cNvPr id="46" name="Shape 43"/>
          <p:cNvSpPr/>
          <p:nvPr/>
        </p:nvSpPr>
        <p:spPr>
          <a:xfrm>
            <a:off x="3749040" y="2688336"/>
            <a:ext cx="566928" cy="566928"/>
          </a:xfrm>
          <a:prstGeom prst="rect">
            <a:avLst/>
          </a:prstGeom>
          <a:solidFill>
            <a:schemeClr val="accent6"/>
          </a:solidFill>
          <a:ln w="9525">
            <a:solidFill>
              <a:srgbClr val="2A2F36"/>
            </a:solidFill>
            <a:prstDash val="solid"/>
          </a:ln>
        </p:spPr>
      </p:sp>
      <p:sp>
        <p:nvSpPr>
          <p:cNvPr id="47" name="Text 44"/>
          <p:cNvSpPr txBox="1"/>
          <p:nvPr/>
        </p:nvSpPr>
        <p:spPr>
          <a:xfrm>
            <a:off x="3794760" y="2715768"/>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20</a:t>
            </a:r>
            <a:endParaRPr lang="ko-KR" sz="800" dirty="0"/>
          </a:p>
        </p:txBody>
      </p:sp>
      <p:sp>
        <p:nvSpPr>
          <p:cNvPr id="48" name="Shape 45"/>
          <p:cNvSpPr/>
          <p:nvPr/>
        </p:nvSpPr>
        <p:spPr>
          <a:xfrm>
            <a:off x="4315968" y="2688336"/>
            <a:ext cx="566928" cy="566928"/>
          </a:xfrm>
          <a:prstGeom prst="rect">
            <a:avLst/>
          </a:prstGeom>
          <a:solidFill>
            <a:schemeClr val="accent6"/>
          </a:solidFill>
          <a:ln w="9525">
            <a:solidFill>
              <a:srgbClr val="2A2F36"/>
            </a:solidFill>
            <a:prstDash val="solid"/>
          </a:ln>
        </p:spPr>
      </p:sp>
      <p:sp>
        <p:nvSpPr>
          <p:cNvPr id="49" name="Text 46"/>
          <p:cNvSpPr txBox="1"/>
          <p:nvPr/>
        </p:nvSpPr>
        <p:spPr>
          <a:xfrm>
            <a:off x="4361688" y="2715768"/>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21</a:t>
            </a:r>
            <a:endParaRPr lang="ko-KR" sz="800" dirty="0"/>
          </a:p>
        </p:txBody>
      </p:sp>
      <p:sp>
        <p:nvSpPr>
          <p:cNvPr id="50" name="Shape 47"/>
          <p:cNvSpPr/>
          <p:nvPr/>
        </p:nvSpPr>
        <p:spPr>
          <a:xfrm>
            <a:off x="4882896" y="2688336"/>
            <a:ext cx="566928" cy="566928"/>
          </a:xfrm>
          <a:prstGeom prst="rect">
            <a:avLst/>
          </a:prstGeom>
          <a:solidFill>
            <a:schemeClr val="accent6"/>
          </a:solidFill>
          <a:ln w="9525">
            <a:solidFill>
              <a:srgbClr val="2A2F36"/>
            </a:solidFill>
            <a:prstDash val="solid"/>
          </a:ln>
        </p:spPr>
      </p:sp>
      <p:sp>
        <p:nvSpPr>
          <p:cNvPr id="51" name="Text 48"/>
          <p:cNvSpPr txBox="1"/>
          <p:nvPr/>
        </p:nvSpPr>
        <p:spPr>
          <a:xfrm>
            <a:off x="4928616" y="2715768"/>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22</a:t>
            </a:r>
            <a:endParaRPr lang="ko-KR" sz="800" dirty="0"/>
          </a:p>
        </p:txBody>
      </p:sp>
      <p:sp>
        <p:nvSpPr>
          <p:cNvPr id="52" name="Shape 49"/>
          <p:cNvSpPr/>
          <p:nvPr/>
        </p:nvSpPr>
        <p:spPr>
          <a:xfrm>
            <a:off x="5449824" y="2688336"/>
            <a:ext cx="566928" cy="566928"/>
          </a:xfrm>
          <a:prstGeom prst="rect">
            <a:avLst/>
          </a:prstGeom>
          <a:solidFill>
            <a:schemeClr val="accent6"/>
          </a:solidFill>
          <a:ln w="9525">
            <a:solidFill>
              <a:srgbClr val="2A2F36"/>
            </a:solidFill>
            <a:prstDash val="solid"/>
          </a:ln>
        </p:spPr>
      </p:sp>
      <p:sp>
        <p:nvSpPr>
          <p:cNvPr id="53" name="Text 50"/>
          <p:cNvSpPr txBox="1"/>
          <p:nvPr/>
        </p:nvSpPr>
        <p:spPr>
          <a:xfrm>
            <a:off x="5495544" y="2715768"/>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23</a:t>
            </a:r>
            <a:endParaRPr lang="ko-KR" sz="800" dirty="0"/>
          </a:p>
        </p:txBody>
      </p:sp>
      <p:sp>
        <p:nvSpPr>
          <p:cNvPr id="54" name="Shape 51"/>
          <p:cNvSpPr/>
          <p:nvPr/>
        </p:nvSpPr>
        <p:spPr>
          <a:xfrm>
            <a:off x="1481328" y="3255264"/>
            <a:ext cx="566928" cy="566928"/>
          </a:xfrm>
          <a:prstGeom prst="rect">
            <a:avLst/>
          </a:prstGeom>
          <a:solidFill>
            <a:schemeClr val="accent6"/>
          </a:solidFill>
          <a:ln w="9525">
            <a:solidFill>
              <a:srgbClr val="2A2F36"/>
            </a:solidFill>
            <a:prstDash val="solid"/>
          </a:ln>
        </p:spPr>
      </p:sp>
      <p:sp>
        <p:nvSpPr>
          <p:cNvPr id="55" name="Text 52"/>
          <p:cNvSpPr txBox="1"/>
          <p:nvPr/>
        </p:nvSpPr>
        <p:spPr>
          <a:xfrm>
            <a:off x="1527048" y="3282696"/>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24</a:t>
            </a:r>
            <a:endParaRPr lang="ko-KR" sz="800" dirty="0"/>
          </a:p>
        </p:txBody>
      </p:sp>
      <p:sp>
        <p:nvSpPr>
          <p:cNvPr id="56" name="Shape 53"/>
          <p:cNvSpPr/>
          <p:nvPr/>
        </p:nvSpPr>
        <p:spPr>
          <a:xfrm>
            <a:off x="2048256" y="3255264"/>
            <a:ext cx="566928" cy="566928"/>
          </a:xfrm>
          <a:prstGeom prst="rect">
            <a:avLst/>
          </a:prstGeom>
          <a:solidFill>
            <a:schemeClr val="accent6"/>
          </a:solidFill>
          <a:ln w="9525">
            <a:solidFill>
              <a:srgbClr val="2A2F36"/>
            </a:solidFill>
            <a:prstDash val="solid"/>
          </a:ln>
        </p:spPr>
      </p:sp>
      <p:sp>
        <p:nvSpPr>
          <p:cNvPr id="57" name="Text 54"/>
          <p:cNvSpPr txBox="1"/>
          <p:nvPr/>
        </p:nvSpPr>
        <p:spPr>
          <a:xfrm>
            <a:off x="2093976" y="3282696"/>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25</a:t>
            </a:r>
            <a:endParaRPr lang="ko-KR" sz="800" dirty="0"/>
          </a:p>
        </p:txBody>
      </p:sp>
      <p:sp>
        <p:nvSpPr>
          <p:cNvPr id="58" name="Shape 55"/>
          <p:cNvSpPr/>
          <p:nvPr/>
        </p:nvSpPr>
        <p:spPr>
          <a:xfrm>
            <a:off x="2615184" y="3255264"/>
            <a:ext cx="566928" cy="566928"/>
          </a:xfrm>
          <a:prstGeom prst="rect">
            <a:avLst/>
          </a:prstGeom>
          <a:solidFill>
            <a:schemeClr val="accent6"/>
          </a:solidFill>
          <a:ln w="9525">
            <a:solidFill>
              <a:srgbClr val="2A2F36"/>
            </a:solidFill>
            <a:prstDash val="solid"/>
          </a:ln>
        </p:spPr>
      </p:sp>
      <p:sp>
        <p:nvSpPr>
          <p:cNvPr id="59" name="Text 56"/>
          <p:cNvSpPr txBox="1"/>
          <p:nvPr/>
        </p:nvSpPr>
        <p:spPr>
          <a:xfrm>
            <a:off x="2660904" y="3282696"/>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26</a:t>
            </a:r>
            <a:endParaRPr lang="ko-KR" sz="800" dirty="0"/>
          </a:p>
        </p:txBody>
      </p:sp>
      <p:sp>
        <p:nvSpPr>
          <p:cNvPr id="60" name="Shape 57"/>
          <p:cNvSpPr/>
          <p:nvPr/>
        </p:nvSpPr>
        <p:spPr>
          <a:xfrm>
            <a:off x="3182112" y="3255264"/>
            <a:ext cx="566928" cy="566928"/>
          </a:xfrm>
          <a:prstGeom prst="rect">
            <a:avLst/>
          </a:prstGeom>
          <a:solidFill>
            <a:schemeClr val="accent6"/>
          </a:solidFill>
          <a:ln w="9525">
            <a:solidFill>
              <a:srgbClr val="2A2F36"/>
            </a:solidFill>
            <a:prstDash val="solid"/>
          </a:ln>
        </p:spPr>
      </p:sp>
      <p:sp>
        <p:nvSpPr>
          <p:cNvPr id="61" name="Text 58"/>
          <p:cNvSpPr txBox="1"/>
          <p:nvPr/>
        </p:nvSpPr>
        <p:spPr>
          <a:xfrm>
            <a:off x="3227832" y="3282696"/>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27</a:t>
            </a:r>
            <a:endParaRPr lang="ko-KR" sz="800" dirty="0"/>
          </a:p>
        </p:txBody>
      </p:sp>
      <p:sp>
        <p:nvSpPr>
          <p:cNvPr id="62" name="Shape 59"/>
          <p:cNvSpPr/>
          <p:nvPr/>
        </p:nvSpPr>
        <p:spPr>
          <a:xfrm>
            <a:off x="3749040" y="3255264"/>
            <a:ext cx="566928" cy="566928"/>
          </a:xfrm>
          <a:prstGeom prst="rect">
            <a:avLst/>
          </a:prstGeom>
          <a:solidFill>
            <a:schemeClr val="accent6"/>
          </a:solidFill>
          <a:ln w="9525">
            <a:solidFill>
              <a:srgbClr val="2A2F36"/>
            </a:solidFill>
            <a:prstDash val="solid"/>
          </a:ln>
        </p:spPr>
      </p:sp>
      <p:sp>
        <p:nvSpPr>
          <p:cNvPr id="63" name="Text 60"/>
          <p:cNvSpPr txBox="1"/>
          <p:nvPr/>
        </p:nvSpPr>
        <p:spPr>
          <a:xfrm>
            <a:off x="3794760" y="3282696"/>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28</a:t>
            </a:r>
            <a:endParaRPr lang="ko-KR" sz="800" dirty="0"/>
          </a:p>
        </p:txBody>
      </p:sp>
      <p:sp>
        <p:nvSpPr>
          <p:cNvPr id="64" name="Shape 61"/>
          <p:cNvSpPr/>
          <p:nvPr/>
        </p:nvSpPr>
        <p:spPr>
          <a:xfrm>
            <a:off x="4315968" y="3255264"/>
            <a:ext cx="566928" cy="566928"/>
          </a:xfrm>
          <a:prstGeom prst="rect">
            <a:avLst/>
          </a:prstGeom>
          <a:solidFill>
            <a:schemeClr val="accent6"/>
          </a:solidFill>
          <a:ln w="9525">
            <a:solidFill>
              <a:srgbClr val="2A2F36"/>
            </a:solidFill>
            <a:prstDash val="solid"/>
          </a:ln>
        </p:spPr>
      </p:sp>
      <p:sp>
        <p:nvSpPr>
          <p:cNvPr id="65" name="Text 62"/>
          <p:cNvSpPr txBox="1"/>
          <p:nvPr/>
        </p:nvSpPr>
        <p:spPr>
          <a:xfrm>
            <a:off x="4361688" y="3282696"/>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29</a:t>
            </a:r>
            <a:endParaRPr lang="ko-KR" sz="800" dirty="0"/>
          </a:p>
        </p:txBody>
      </p:sp>
      <p:sp>
        <p:nvSpPr>
          <p:cNvPr id="66" name="Shape 63"/>
          <p:cNvSpPr/>
          <p:nvPr/>
        </p:nvSpPr>
        <p:spPr>
          <a:xfrm>
            <a:off x="4882896" y="3255264"/>
            <a:ext cx="566928" cy="566928"/>
          </a:xfrm>
          <a:prstGeom prst="rect">
            <a:avLst/>
          </a:prstGeom>
          <a:solidFill>
            <a:schemeClr val="accent6"/>
          </a:solidFill>
          <a:ln w="9525">
            <a:solidFill>
              <a:srgbClr val="2A2F36"/>
            </a:solidFill>
            <a:prstDash val="solid"/>
          </a:ln>
        </p:spPr>
      </p:sp>
      <p:sp>
        <p:nvSpPr>
          <p:cNvPr id="67" name="Text 64"/>
          <p:cNvSpPr txBox="1"/>
          <p:nvPr/>
        </p:nvSpPr>
        <p:spPr>
          <a:xfrm>
            <a:off x="4928616" y="3282696"/>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30</a:t>
            </a:r>
            <a:endParaRPr lang="ko-KR" sz="800" dirty="0"/>
          </a:p>
        </p:txBody>
      </p:sp>
      <p:sp>
        <p:nvSpPr>
          <p:cNvPr id="68" name="Shape 65"/>
          <p:cNvSpPr/>
          <p:nvPr/>
        </p:nvSpPr>
        <p:spPr>
          <a:xfrm>
            <a:off x="5449824" y="3255264"/>
            <a:ext cx="566928" cy="566928"/>
          </a:xfrm>
          <a:prstGeom prst="rect">
            <a:avLst/>
          </a:prstGeom>
          <a:solidFill>
            <a:schemeClr val="accent6"/>
          </a:solidFill>
          <a:ln w="9525">
            <a:solidFill>
              <a:srgbClr val="2A2F36"/>
            </a:solidFill>
            <a:prstDash val="solid"/>
          </a:ln>
        </p:spPr>
      </p:sp>
      <p:sp>
        <p:nvSpPr>
          <p:cNvPr id="69" name="Text 66"/>
          <p:cNvSpPr txBox="1"/>
          <p:nvPr/>
        </p:nvSpPr>
        <p:spPr>
          <a:xfrm>
            <a:off x="5495544" y="3282696"/>
            <a:ext cx="274320" cy="155448"/>
          </a:xfrm>
          <a:prstGeom prst="rect">
            <a:avLst/>
          </a:prstGeom>
          <a:noFill/>
          <a:ln/>
        </p:spPr>
        <p:txBody>
          <a:bodyPr wrap="square" lIns="0" tIns="0" rIns="0" bIns="0" rtlCol="0" anchor="t"/>
          <a:lstStyle/>
          <a:p>
            <a:pPr indent="0" marL="0">
              <a:lnSpc>
                <a:spcPct val="120000"/>
              </a:lnSpc>
              <a:buNone/>
            </a:pPr>
            <a:r>
              <a:rPr lang="ko-KR" altLang="en-US" sz="800" dirty="0">
                <a:solidFill>
                  <a:schemeClr val="accent5"/>
                </a:solidFill>
                <a:latin typeface="Consolas" pitchFamily="34" charset="0"/>
                <a:ea typeface="Consolas" pitchFamily="34" charset="-122"/>
                <a:cs typeface="Consolas" pitchFamily="34" charset="-120"/>
              </a:rPr>
              <a:t>31</a:t>
            </a:r>
            <a:endParaRPr lang="ko-KR" sz="800" dirty="0"/>
          </a:p>
        </p:txBody>
      </p:sp>
      <p:sp>
        <p:nvSpPr>
          <p:cNvPr id="70" name="Shape 67"/>
          <p:cNvSpPr/>
          <p:nvPr/>
        </p:nvSpPr>
        <p:spPr>
          <a:xfrm>
            <a:off x="1527048" y="1600200"/>
            <a:ext cx="475488" cy="1042416"/>
          </a:xfrm>
          <a:prstGeom prst="rect">
            <a:avLst/>
          </a:prstGeom>
          <a:solidFill>
            <a:srgbClr val="33270F"/>
          </a:solidFill>
          <a:ln w="19050">
            <a:solidFill>
              <a:srgbClr val="FFB020"/>
            </a:solidFill>
            <a:prstDash val="solid"/>
          </a:ln>
        </p:spPr>
      </p:sp>
      <p:sp>
        <p:nvSpPr>
          <p:cNvPr id="71" name="Text 68"/>
          <p:cNvSpPr txBox="1"/>
          <p:nvPr/>
        </p:nvSpPr>
        <p:spPr>
          <a:xfrm>
            <a:off x="1563624" y="1618488"/>
            <a:ext cx="274320" cy="155448"/>
          </a:xfrm>
          <a:prstGeom prst="rect">
            <a:avLst/>
          </a:prstGeom>
          <a:noFill/>
          <a:ln/>
        </p:spPr>
        <p:txBody>
          <a:bodyPr wrap="square" lIns="0" tIns="0" rIns="0" bIns="0" rtlCol="0" anchor="t"/>
          <a:lstStyle/>
          <a:p>
            <a:pPr indent="0" marL="0">
              <a:lnSpc>
                <a:spcPct val="120000"/>
              </a:lnSpc>
              <a:buNone/>
            </a:pPr>
            <a:r>
              <a:rPr lang="ko-KR" altLang="en-US" sz="800" b="1" dirty="0">
                <a:solidFill>
                  <a:schemeClr val="accent2"/>
                </a:solidFill>
                <a:latin typeface="Consolas" pitchFamily="34" charset="0"/>
                <a:ea typeface="Consolas" pitchFamily="34" charset="-122"/>
                <a:cs typeface="Consolas" pitchFamily="34" charset="-120"/>
              </a:rPr>
              <a:t>0</a:t>
            </a:r>
            <a:endParaRPr lang="ko-KR" sz="800" dirty="0"/>
          </a:p>
        </p:txBody>
      </p:sp>
      <p:sp>
        <p:nvSpPr>
          <p:cNvPr id="72" name="Text 69"/>
          <p:cNvSpPr txBox="1"/>
          <p:nvPr/>
        </p:nvSpPr>
        <p:spPr>
          <a:xfrm>
            <a:off x="1527048" y="1600200"/>
            <a:ext cx="475488" cy="1042416"/>
          </a:xfrm>
          <a:prstGeom prst="rect">
            <a:avLst/>
          </a:prstGeom>
          <a:noFill/>
          <a:ln/>
        </p:spPr>
        <p:txBody>
          <a:bodyPr wrap="square" lIns="0" tIns="0" rIns="0" bIns="0" rtlCol="0" anchor="ctr"/>
          <a:lstStyle/>
          <a:p>
            <a:pPr algn="ctr" indent="0" marL="0">
              <a:lnSpc>
                <a:spcPct val="105000"/>
              </a:lnSpc>
              <a:buNone/>
            </a:pPr>
            <a:r>
              <a:rPr lang="ko-KR" altLang="en-US" sz="950" b="1" dirty="0">
                <a:solidFill>
                  <a:schemeClr val="bg1"/>
                </a:solidFill>
              </a:rPr>
              <a:t>골드바</a:t>
            </a:r>
            <a:endParaRPr lang="ko-KR" sz="1200" dirty="0"/>
          </a:p>
          <a:p>
            <a:pPr algn="ctr" indent="0" marL="0">
              <a:lnSpc>
                <a:spcPct val="105000"/>
              </a:lnSpc>
              <a:buNone/>
            </a:pPr>
            <a:r>
              <a:rPr lang="ko-KR" altLang="en-US" sz="1100" b="1" dirty="0">
                <a:solidFill>
                  <a:schemeClr val="accent2"/>
                </a:solidFill>
                <a:latin typeface="Consolas" pitchFamily="34" charset="0"/>
                <a:ea typeface="Consolas" pitchFamily="34" charset="-122"/>
                <a:cs typeface="Consolas" pitchFamily="34" charset="-120"/>
              </a:rPr>
              <a:t>1×2</a:t>
            </a:r>
            <a:endParaRPr lang="ko-KR" sz="1200" dirty="0"/>
          </a:p>
        </p:txBody>
      </p:sp>
      <p:sp>
        <p:nvSpPr>
          <p:cNvPr id="73" name="Shape 70"/>
          <p:cNvSpPr/>
          <p:nvPr/>
        </p:nvSpPr>
        <p:spPr>
          <a:xfrm>
            <a:off x="2660904" y="1600200"/>
            <a:ext cx="1042416" cy="1042416"/>
          </a:xfrm>
          <a:prstGeom prst="rect">
            <a:avLst/>
          </a:prstGeom>
          <a:solidFill>
            <a:srgbClr val="33270F"/>
          </a:solidFill>
          <a:ln w="19050">
            <a:solidFill>
              <a:srgbClr val="FFB020"/>
            </a:solidFill>
            <a:prstDash val="solid"/>
          </a:ln>
        </p:spPr>
      </p:sp>
      <p:sp>
        <p:nvSpPr>
          <p:cNvPr id="74" name="Text 71"/>
          <p:cNvSpPr txBox="1"/>
          <p:nvPr/>
        </p:nvSpPr>
        <p:spPr>
          <a:xfrm>
            <a:off x="2697480" y="1618488"/>
            <a:ext cx="274320" cy="155448"/>
          </a:xfrm>
          <a:prstGeom prst="rect">
            <a:avLst/>
          </a:prstGeom>
          <a:noFill/>
          <a:ln/>
        </p:spPr>
        <p:txBody>
          <a:bodyPr wrap="square" lIns="0" tIns="0" rIns="0" bIns="0" rtlCol="0" anchor="t"/>
          <a:lstStyle/>
          <a:p>
            <a:pPr indent="0" marL="0">
              <a:lnSpc>
                <a:spcPct val="120000"/>
              </a:lnSpc>
              <a:buNone/>
            </a:pPr>
            <a:r>
              <a:rPr lang="ko-KR" altLang="en-US" sz="800" b="1" dirty="0">
                <a:solidFill>
                  <a:schemeClr val="accent2"/>
                </a:solidFill>
                <a:latin typeface="Consolas" pitchFamily="34" charset="0"/>
                <a:ea typeface="Consolas" pitchFamily="34" charset="-122"/>
                <a:cs typeface="Consolas" pitchFamily="34" charset="-120"/>
              </a:rPr>
              <a:t>2</a:t>
            </a:r>
            <a:endParaRPr lang="ko-KR" sz="800" dirty="0"/>
          </a:p>
        </p:txBody>
      </p:sp>
      <p:sp>
        <p:nvSpPr>
          <p:cNvPr id="75" name="Text 72"/>
          <p:cNvSpPr txBox="1"/>
          <p:nvPr/>
        </p:nvSpPr>
        <p:spPr>
          <a:xfrm>
            <a:off x="2660904" y="1600200"/>
            <a:ext cx="1042416" cy="1042416"/>
          </a:xfrm>
          <a:prstGeom prst="rect">
            <a:avLst/>
          </a:prstGeom>
          <a:noFill/>
          <a:ln/>
        </p:spPr>
        <p:txBody>
          <a:bodyPr wrap="square" lIns="0" tIns="0" rIns="0" bIns="0" rtlCol="0" anchor="ctr"/>
          <a:lstStyle/>
          <a:p>
            <a:pPr algn="ctr" indent="0" marL="0">
              <a:lnSpc>
                <a:spcPct val="105000"/>
              </a:lnSpc>
              <a:buNone/>
            </a:pPr>
            <a:r>
              <a:rPr lang="ko-KR" altLang="en-US" sz="950" b="1" dirty="0">
                <a:solidFill>
                  <a:schemeClr val="bg1"/>
                </a:solidFill>
              </a:rPr>
              <a:t>H70 헬멧</a:t>
            </a:r>
            <a:endParaRPr lang="ko-KR" sz="1200" dirty="0"/>
          </a:p>
          <a:p>
            <a:pPr algn="ctr" indent="0" marL="0">
              <a:lnSpc>
                <a:spcPct val="105000"/>
              </a:lnSpc>
              <a:buNone/>
            </a:pPr>
            <a:r>
              <a:rPr lang="ko-KR" altLang="en-US" sz="1100" b="1" dirty="0">
                <a:solidFill>
                  <a:schemeClr val="accent2"/>
                </a:solidFill>
                <a:latin typeface="Consolas" pitchFamily="34" charset="0"/>
                <a:ea typeface="Consolas" pitchFamily="34" charset="-122"/>
                <a:cs typeface="Consolas" pitchFamily="34" charset="-120"/>
              </a:rPr>
              <a:t>2×2</a:t>
            </a:r>
            <a:endParaRPr lang="ko-KR" sz="1200" dirty="0"/>
          </a:p>
        </p:txBody>
      </p:sp>
      <p:sp>
        <p:nvSpPr>
          <p:cNvPr id="76" name="Shape 73"/>
          <p:cNvSpPr/>
          <p:nvPr/>
        </p:nvSpPr>
        <p:spPr>
          <a:xfrm>
            <a:off x="4361688" y="1600200"/>
            <a:ext cx="475488" cy="475488"/>
          </a:xfrm>
          <a:prstGeom prst="rect">
            <a:avLst/>
          </a:prstGeom>
          <a:solidFill>
            <a:srgbClr val="33270F"/>
          </a:solidFill>
          <a:ln w="19050">
            <a:solidFill>
              <a:srgbClr val="FFB020"/>
            </a:solidFill>
            <a:prstDash val="solid"/>
          </a:ln>
        </p:spPr>
      </p:sp>
      <p:sp>
        <p:nvSpPr>
          <p:cNvPr id="77" name="Text 74"/>
          <p:cNvSpPr txBox="1"/>
          <p:nvPr/>
        </p:nvSpPr>
        <p:spPr>
          <a:xfrm>
            <a:off x="4398264" y="1618488"/>
            <a:ext cx="274320" cy="155448"/>
          </a:xfrm>
          <a:prstGeom prst="rect">
            <a:avLst/>
          </a:prstGeom>
          <a:noFill/>
          <a:ln/>
        </p:spPr>
        <p:txBody>
          <a:bodyPr wrap="square" lIns="0" tIns="0" rIns="0" bIns="0" rtlCol="0" anchor="t"/>
          <a:lstStyle/>
          <a:p>
            <a:pPr indent="0" marL="0">
              <a:lnSpc>
                <a:spcPct val="120000"/>
              </a:lnSpc>
              <a:buNone/>
            </a:pPr>
            <a:r>
              <a:rPr lang="ko-KR" altLang="en-US" sz="800" b="1" dirty="0">
                <a:solidFill>
                  <a:schemeClr val="accent2"/>
                </a:solidFill>
                <a:latin typeface="Consolas" pitchFamily="34" charset="0"/>
                <a:ea typeface="Consolas" pitchFamily="34" charset="-122"/>
                <a:cs typeface="Consolas" pitchFamily="34" charset="-120"/>
              </a:rPr>
              <a:t>5</a:t>
            </a:r>
            <a:endParaRPr lang="ko-KR" sz="800" dirty="0"/>
          </a:p>
        </p:txBody>
      </p:sp>
      <p:sp>
        <p:nvSpPr>
          <p:cNvPr id="78" name="Text 75"/>
          <p:cNvSpPr txBox="1"/>
          <p:nvPr/>
        </p:nvSpPr>
        <p:spPr>
          <a:xfrm>
            <a:off x="4361688" y="1600200"/>
            <a:ext cx="475488" cy="475488"/>
          </a:xfrm>
          <a:prstGeom prst="rect">
            <a:avLst/>
          </a:prstGeom>
          <a:noFill/>
          <a:ln/>
        </p:spPr>
        <p:txBody>
          <a:bodyPr wrap="square" lIns="0" tIns="0" rIns="0" bIns="0" rtlCol="0" anchor="ctr"/>
          <a:lstStyle/>
          <a:p>
            <a:pPr algn="ctr" indent="0" marL="0">
              <a:lnSpc>
                <a:spcPct val="105000"/>
              </a:lnSpc>
              <a:buNone/>
            </a:pPr>
            <a:r>
              <a:rPr lang="ko-KR" altLang="en-US" sz="950" b="1" dirty="0">
                <a:solidFill>
                  <a:schemeClr val="bg1"/>
                </a:solidFill>
              </a:rPr>
              <a:t>탄약</a:t>
            </a:r>
            <a:endParaRPr lang="ko-KR" sz="1200" dirty="0"/>
          </a:p>
          <a:p>
            <a:pPr algn="ctr" indent="0" marL="0">
              <a:lnSpc>
                <a:spcPct val="105000"/>
              </a:lnSpc>
              <a:buNone/>
            </a:pPr>
            <a:r>
              <a:rPr lang="ko-KR" altLang="en-US" sz="1100" b="1" dirty="0">
                <a:solidFill>
                  <a:schemeClr val="accent2"/>
                </a:solidFill>
                <a:latin typeface="Consolas" pitchFamily="34" charset="0"/>
                <a:ea typeface="Consolas" pitchFamily="34" charset="-122"/>
                <a:cs typeface="Consolas" pitchFamily="34" charset="-120"/>
              </a:rPr>
              <a:t>1×1</a:t>
            </a:r>
            <a:endParaRPr lang="ko-KR" sz="1200" dirty="0"/>
          </a:p>
        </p:txBody>
      </p:sp>
      <p:sp>
        <p:nvSpPr>
          <p:cNvPr id="79" name="Shape 76"/>
          <p:cNvSpPr/>
          <p:nvPr/>
        </p:nvSpPr>
        <p:spPr>
          <a:xfrm>
            <a:off x="2093976" y="2734056"/>
            <a:ext cx="2743200" cy="1042416"/>
          </a:xfrm>
          <a:prstGeom prst="rect">
            <a:avLst/>
          </a:prstGeom>
          <a:solidFill>
            <a:srgbClr val="33270F"/>
          </a:solidFill>
          <a:ln w="19050">
            <a:solidFill>
              <a:srgbClr val="FFB020"/>
            </a:solidFill>
            <a:prstDash val="solid"/>
          </a:ln>
        </p:spPr>
      </p:sp>
      <p:sp>
        <p:nvSpPr>
          <p:cNvPr id="80" name="Text 77"/>
          <p:cNvSpPr txBox="1"/>
          <p:nvPr/>
        </p:nvSpPr>
        <p:spPr>
          <a:xfrm>
            <a:off x="2130552" y="2752344"/>
            <a:ext cx="274320" cy="155448"/>
          </a:xfrm>
          <a:prstGeom prst="rect">
            <a:avLst/>
          </a:prstGeom>
          <a:noFill/>
          <a:ln/>
        </p:spPr>
        <p:txBody>
          <a:bodyPr wrap="square" lIns="0" tIns="0" rIns="0" bIns="0" rtlCol="0" anchor="t"/>
          <a:lstStyle/>
          <a:p>
            <a:pPr indent="0" marL="0">
              <a:lnSpc>
                <a:spcPct val="120000"/>
              </a:lnSpc>
              <a:buNone/>
            </a:pPr>
            <a:r>
              <a:rPr lang="ko-KR" altLang="en-US" sz="800" b="1" dirty="0">
                <a:solidFill>
                  <a:schemeClr val="accent2"/>
                </a:solidFill>
                <a:latin typeface="Consolas" pitchFamily="34" charset="0"/>
                <a:ea typeface="Consolas" pitchFamily="34" charset="-122"/>
                <a:cs typeface="Consolas" pitchFamily="34" charset="-120"/>
              </a:rPr>
              <a:t>17</a:t>
            </a:r>
            <a:endParaRPr lang="ko-KR" sz="800" dirty="0"/>
          </a:p>
        </p:txBody>
      </p:sp>
      <p:sp>
        <p:nvSpPr>
          <p:cNvPr id="81" name="Text 78"/>
          <p:cNvSpPr txBox="1"/>
          <p:nvPr/>
        </p:nvSpPr>
        <p:spPr>
          <a:xfrm>
            <a:off x="2093976" y="2734056"/>
            <a:ext cx="2743200" cy="1042416"/>
          </a:xfrm>
          <a:prstGeom prst="rect">
            <a:avLst/>
          </a:prstGeom>
          <a:noFill/>
          <a:ln/>
        </p:spPr>
        <p:txBody>
          <a:bodyPr wrap="square" lIns="0" tIns="0" rIns="0" bIns="0" rtlCol="0" anchor="ctr"/>
          <a:lstStyle/>
          <a:p>
            <a:pPr algn="ctr" indent="0" marL="0">
              <a:lnSpc>
                <a:spcPct val="105000"/>
              </a:lnSpc>
              <a:buNone/>
            </a:pPr>
            <a:r>
              <a:rPr lang="ko-KR" altLang="en-US" sz="950" b="1" dirty="0">
                <a:solidFill>
                  <a:schemeClr val="bg1"/>
                </a:solidFill>
              </a:rPr>
              <a:t>M14 Marksman Rifle</a:t>
            </a:r>
            <a:endParaRPr lang="ko-KR" sz="1200" dirty="0"/>
          </a:p>
          <a:p>
            <a:pPr algn="ctr" indent="0" marL="0">
              <a:lnSpc>
                <a:spcPct val="105000"/>
              </a:lnSpc>
              <a:buNone/>
            </a:pPr>
            <a:r>
              <a:rPr lang="ko-KR" altLang="en-US" sz="1100" b="1" dirty="0">
                <a:solidFill>
                  <a:schemeClr val="accent2"/>
                </a:solidFill>
                <a:latin typeface="Consolas" pitchFamily="34" charset="0"/>
                <a:ea typeface="Consolas" pitchFamily="34" charset="-122"/>
                <a:cs typeface="Consolas" pitchFamily="34" charset="-120"/>
              </a:rPr>
              <a:t>5×2</a:t>
            </a:r>
            <a:endParaRPr lang="ko-KR" sz="1200" dirty="0"/>
          </a:p>
        </p:txBody>
      </p:sp>
      <p:sp>
        <p:nvSpPr>
          <p:cNvPr id="82" name="Text 79"/>
          <p:cNvSpPr txBox="1"/>
          <p:nvPr/>
        </p:nvSpPr>
        <p:spPr>
          <a:xfrm>
            <a:off x="676656" y="3931920"/>
            <a:ext cx="6144768" cy="411480"/>
          </a:xfrm>
          <a:prstGeom prst="rect">
            <a:avLst/>
          </a:prstGeom>
          <a:noFill/>
          <a:ln/>
        </p:spPr>
        <p:txBody>
          <a:bodyPr wrap="square" lIns="0" tIns="0" rIns="0" bIns="0" rtlCol="0" anchor="ctr"/>
          <a:lstStyle/>
          <a:p>
            <a:pPr algn="ctr" indent="0" marL="0">
              <a:lnSpc>
                <a:spcPct val="120000"/>
              </a:lnSpc>
              <a:buNone/>
            </a:pPr>
            <a:r>
              <a:rPr lang="ko-KR" altLang="en-US" sz="1200" b="1" dirty="0">
                <a:solidFill>
                  <a:schemeClr val="accent2"/>
                </a:solidFill>
                <a:latin typeface="Consolas" pitchFamily="34" charset="0"/>
                <a:ea typeface="Consolas" pitchFamily="34" charset="-122"/>
                <a:cs typeface="Consolas" pitchFamily="34" charset="-120"/>
              </a:rPr>
              <a:t>칸 번호 = X + Y × 가로 칸 수</a:t>
            </a:r>
            <a:pPr algn="ctr" indent="0" marL="0">
              <a:lnSpc>
                <a:spcPct val="120000"/>
              </a:lnSpc>
              <a:buNone/>
            </a:pPr>
            <a:r>
              <a:rPr lang="ko-KR" altLang="en-US" sz="1200" dirty="0">
                <a:solidFill>
                  <a:schemeClr val="accent5"/>
                </a:solidFill>
              </a:rPr>
              <a:t>     예) 헬멧의 왼쪽 위 칸 = 2 + 0 × 8 = 2</a:t>
            </a:r>
            <a:endParaRPr lang="ko-KR" sz="1200" dirty="0"/>
          </a:p>
        </p:txBody>
      </p:sp>
      <p:sp>
        <p:nvSpPr>
          <p:cNvPr id="83" name="Shape 80"/>
          <p:cNvSpPr/>
          <p:nvPr/>
        </p:nvSpPr>
        <p:spPr>
          <a:xfrm>
            <a:off x="7269480" y="1371600"/>
            <a:ext cx="4462272" cy="3154680"/>
          </a:xfrm>
          <a:prstGeom prst="rect">
            <a:avLst/>
          </a:prstGeom>
          <a:solidFill>
            <a:schemeClr val="tx2"/>
          </a:solidFill>
          <a:ln w="9525">
            <a:solidFill>
              <a:srgbClr val="2A2F36"/>
            </a:solidFill>
            <a:prstDash val="solid"/>
          </a:ln>
        </p:spPr>
      </p:sp>
      <p:sp>
        <p:nvSpPr>
          <p:cNvPr id="84" name="Shape 81"/>
          <p:cNvSpPr/>
          <p:nvPr/>
        </p:nvSpPr>
        <p:spPr>
          <a:xfrm>
            <a:off x="7269480" y="1371600"/>
            <a:ext cx="182880" cy="0"/>
          </a:xfrm>
          <a:prstGeom prst="line">
            <a:avLst/>
          </a:prstGeom>
          <a:noFill/>
          <a:ln w="22225">
            <a:solidFill>
              <a:schemeClr val="accent1"/>
            </a:solidFill>
            <a:prstDash val="solid"/>
          </a:ln>
        </p:spPr>
      </p:sp>
      <p:sp>
        <p:nvSpPr>
          <p:cNvPr id="85" name="Shape 82"/>
          <p:cNvSpPr/>
          <p:nvPr/>
        </p:nvSpPr>
        <p:spPr>
          <a:xfrm>
            <a:off x="7269480" y="1371600"/>
            <a:ext cx="0" cy="182880"/>
          </a:xfrm>
          <a:prstGeom prst="line">
            <a:avLst/>
          </a:prstGeom>
          <a:noFill/>
          <a:ln w="22225">
            <a:solidFill>
              <a:schemeClr val="accent1"/>
            </a:solidFill>
            <a:prstDash val="solid"/>
          </a:ln>
        </p:spPr>
      </p:sp>
      <p:sp>
        <p:nvSpPr>
          <p:cNvPr id="86" name="Shape 83"/>
          <p:cNvSpPr/>
          <p:nvPr/>
        </p:nvSpPr>
        <p:spPr>
          <a:xfrm>
            <a:off x="11548872" y="4526280"/>
            <a:ext cx="182880" cy="0"/>
          </a:xfrm>
          <a:prstGeom prst="line">
            <a:avLst/>
          </a:prstGeom>
          <a:noFill/>
          <a:ln w="22225">
            <a:solidFill>
              <a:schemeClr val="accent1"/>
            </a:solidFill>
            <a:prstDash val="solid"/>
          </a:ln>
        </p:spPr>
      </p:sp>
      <p:sp>
        <p:nvSpPr>
          <p:cNvPr id="87" name="Shape 84"/>
          <p:cNvSpPr/>
          <p:nvPr/>
        </p:nvSpPr>
        <p:spPr>
          <a:xfrm>
            <a:off x="11731752" y="4343400"/>
            <a:ext cx="0" cy="182880"/>
          </a:xfrm>
          <a:prstGeom prst="line">
            <a:avLst/>
          </a:prstGeom>
          <a:noFill/>
          <a:ln w="22225">
            <a:solidFill>
              <a:schemeClr val="accent1"/>
            </a:solidFill>
            <a:prstDash val="solid"/>
          </a:ln>
        </p:spPr>
      </p:sp>
      <p:sp>
        <p:nvSpPr>
          <p:cNvPr id="88" name="Text 85"/>
          <p:cNvSpPr txBox="1"/>
          <p:nvPr/>
        </p:nvSpPr>
        <p:spPr>
          <a:xfrm>
            <a:off x="7488936" y="1527048"/>
            <a:ext cx="4023360"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아이템 514종 · 칸 크기 분포</a:t>
            </a:r>
            <a:endParaRPr lang="ko-KR" sz="1450" dirty="0"/>
          </a:p>
        </p:txBody>
      </p:sp>
      <p:graphicFrame>
        <p:nvGraphicFramePr>
          <p:cNvPr id="89" name="Chart 0" descr=""/>
          <p:cNvGraphicFramePr/>
          <p:nvPr/>
        </p:nvGraphicFramePr>
        <p:xfrm>
          <a:off x="7360920" y="1847088"/>
          <a:ext cx="4279392" cy="2606040"/>
        </p:xfrm>
        <a:graphic xmlns:a="http://schemas.openxmlformats.org/drawingml/2006/main">
          <a:graphicData uri="http://schemas.openxmlformats.org/drawingml/2006/chart">
            <c:chart xmlns:c="http://schemas.openxmlformats.org/drawingml/2006/chart" r:id="rId1"/>
          </a:graphicData>
        </a:graphic>
      </p:graphicFrame>
      <p:sp>
        <p:nvSpPr>
          <p:cNvPr id="90" name="Shape 86"/>
          <p:cNvSpPr/>
          <p:nvPr/>
        </p:nvSpPr>
        <p:spPr>
          <a:xfrm>
            <a:off x="457200" y="4709160"/>
            <a:ext cx="3636264" cy="1554480"/>
          </a:xfrm>
          <a:prstGeom prst="rect">
            <a:avLst/>
          </a:prstGeom>
          <a:solidFill>
            <a:schemeClr val="tx2"/>
          </a:solidFill>
          <a:ln w="9525">
            <a:solidFill>
              <a:srgbClr val="2A2F36"/>
            </a:solidFill>
            <a:prstDash val="solid"/>
          </a:ln>
        </p:spPr>
      </p:sp>
      <p:sp>
        <p:nvSpPr>
          <p:cNvPr id="91" name="Shape 87"/>
          <p:cNvSpPr/>
          <p:nvPr/>
        </p:nvSpPr>
        <p:spPr>
          <a:xfrm>
            <a:off x="457200" y="4709160"/>
            <a:ext cx="182880" cy="0"/>
          </a:xfrm>
          <a:prstGeom prst="line">
            <a:avLst/>
          </a:prstGeom>
          <a:noFill/>
          <a:ln w="22225">
            <a:solidFill>
              <a:schemeClr val="accent1"/>
            </a:solidFill>
            <a:prstDash val="solid"/>
          </a:ln>
        </p:spPr>
      </p:sp>
      <p:sp>
        <p:nvSpPr>
          <p:cNvPr id="92" name="Shape 88"/>
          <p:cNvSpPr/>
          <p:nvPr/>
        </p:nvSpPr>
        <p:spPr>
          <a:xfrm>
            <a:off x="457200" y="4709160"/>
            <a:ext cx="0" cy="182880"/>
          </a:xfrm>
          <a:prstGeom prst="line">
            <a:avLst/>
          </a:prstGeom>
          <a:noFill/>
          <a:ln w="22225">
            <a:solidFill>
              <a:schemeClr val="accent1"/>
            </a:solidFill>
            <a:prstDash val="solid"/>
          </a:ln>
        </p:spPr>
      </p:sp>
      <p:sp>
        <p:nvSpPr>
          <p:cNvPr id="93" name="Shape 89"/>
          <p:cNvSpPr/>
          <p:nvPr/>
        </p:nvSpPr>
        <p:spPr>
          <a:xfrm>
            <a:off x="3910584" y="6263640"/>
            <a:ext cx="182880" cy="0"/>
          </a:xfrm>
          <a:prstGeom prst="line">
            <a:avLst/>
          </a:prstGeom>
          <a:noFill/>
          <a:ln w="22225">
            <a:solidFill>
              <a:schemeClr val="accent1"/>
            </a:solidFill>
            <a:prstDash val="solid"/>
          </a:ln>
        </p:spPr>
      </p:sp>
      <p:sp>
        <p:nvSpPr>
          <p:cNvPr id="94" name="Shape 90"/>
          <p:cNvSpPr/>
          <p:nvPr/>
        </p:nvSpPr>
        <p:spPr>
          <a:xfrm>
            <a:off x="4093464" y="6080760"/>
            <a:ext cx="0" cy="182880"/>
          </a:xfrm>
          <a:prstGeom prst="line">
            <a:avLst/>
          </a:prstGeom>
          <a:noFill/>
          <a:ln w="22225">
            <a:solidFill>
              <a:schemeClr val="accent1"/>
            </a:solidFill>
            <a:prstDash val="solid"/>
          </a:ln>
        </p:spPr>
      </p:sp>
      <p:sp>
        <p:nvSpPr>
          <p:cNvPr id="95" name="Text 91"/>
          <p:cNvSpPr txBox="1"/>
          <p:nvPr/>
        </p:nvSpPr>
        <p:spPr>
          <a:xfrm>
            <a:off x="676656" y="4864608"/>
            <a:ext cx="3197352"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칸 · WBP_GridCell</a:t>
            </a:r>
            <a:endParaRPr lang="ko-KR" sz="1450" dirty="0"/>
          </a:p>
        </p:txBody>
      </p:sp>
      <p:sp>
        <p:nvSpPr>
          <p:cNvPr id="96" name="Text 92"/>
          <p:cNvSpPr txBox="1"/>
          <p:nvPr/>
        </p:nvSpPr>
        <p:spPr>
          <a:xfrm>
            <a:off x="676656" y="5239512"/>
            <a:ext cx="3197352" cy="886968"/>
          </a:xfrm>
          <a:prstGeom prst="rect">
            <a:avLst/>
          </a:prstGeom>
          <a:noFill/>
          <a:ln/>
        </p:spPr>
        <p:txBody>
          <a:bodyPr wrap="square" lIns="0" tIns="0" rIns="0" bIns="0" rtlCol="0" anchor="t"/>
          <a:lstStyle/>
          <a:p>
            <a:pPr indent="0" marL="0">
              <a:lnSpc>
                <a:spcPct val="125000"/>
              </a:lnSpc>
              <a:buNone/>
            </a:pPr>
            <a:r>
              <a:rPr lang="ko-KR" altLang="en-US" sz="1200" dirty="0">
                <a:solidFill>
                  <a:schemeClr val="bg2"/>
                </a:solidFill>
              </a:rPr>
              <a:t>64px 한 칸. 왼쪽 위부터 0, 1, 2… 번호를 매기고, 아이템이 놓였는지(bIsPlaceItem)를 가진다.</a:t>
            </a:r>
            <a:endParaRPr lang="ko-KR" sz="1200" dirty="0"/>
          </a:p>
        </p:txBody>
      </p:sp>
      <p:sp>
        <p:nvSpPr>
          <p:cNvPr id="97" name="Shape 93"/>
          <p:cNvSpPr/>
          <p:nvPr/>
        </p:nvSpPr>
        <p:spPr>
          <a:xfrm>
            <a:off x="4276344" y="4709160"/>
            <a:ext cx="3636264" cy="1554480"/>
          </a:xfrm>
          <a:prstGeom prst="rect">
            <a:avLst/>
          </a:prstGeom>
          <a:solidFill>
            <a:schemeClr val="tx2"/>
          </a:solidFill>
          <a:ln w="9525">
            <a:solidFill>
              <a:srgbClr val="2A2F36"/>
            </a:solidFill>
            <a:prstDash val="solid"/>
          </a:ln>
        </p:spPr>
      </p:sp>
      <p:sp>
        <p:nvSpPr>
          <p:cNvPr id="98" name="Shape 94"/>
          <p:cNvSpPr/>
          <p:nvPr/>
        </p:nvSpPr>
        <p:spPr>
          <a:xfrm>
            <a:off x="4276344" y="4709160"/>
            <a:ext cx="182880" cy="0"/>
          </a:xfrm>
          <a:prstGeom prst="line">
            <a:avLst/>
          </a:prstGeom>
          <a:noFill/>
          <a:ln w="22225">
            <a:solidFill>
              <a:schemeClr val="accent1"/>
            </a:solidFill>
            <a:prstDash val="solid"/>
          </a:ln>
        </p:spPr>
      </p:sp>
      <p:sp>
        <p:nvSpPr>
          <p:cNvPr id="99" name="Shape 95"/>
          <p:cNvSpPr/>
          <p:nvPr/>
        </p:nvSpPr>
        <p:spPr>
          <a:xfrm>
            <a:off x="4276344" y="4709160"/>
            <a:ext cx="0" cy="182880"/>
          </a:xfrm>
          <a:prstGeom prst="line">
            <a:avLst/>
          </a:prstGeom>
          <a:noFill/>
          <a:ln w="22225">
            <a:solidFill>
              <a:schemeClr val="accent1"/>
            </a:solidFill>
            <a:prstDash val="solid"/>
          </a:ln>
        </p:spPr>
      </p:sp>
      <p:sp>
        <p:nvSpPr>
          <p:cNvPr id="100" name="Shape 96"/>
          <p:cNvSpPr/>
          <p:nvPr/>
        </p:nvSpPr>
        <p:spPr>
          <a:xfrm>
            <a:off x="7729728" y="6263640"/>
            <a:ext cx="182880" cy="0"/>
          </a:xfrm>
          <a:prstGeom prst="line">
            <a:avLst/>
          </a:prstGeom>
          <a:noFill/>
          <a:ln w="22225">
            <a:solidFill>
              <a:schemeClr val="accent1"/>
            </a:solidFill>
            <a:prstDash val="solid"/>
          </a:ln>
        </p:spPr>
      </p:sp>
      <p:sp>
        <p:nvSpPr>
          <p:cNvPr id="101" name="Shape 97"/>
          <p:cNvSpPr/>
          <p:nvPr/>
        </p:nvSpPr>
        <p:spPr>
          <a:xfrm>
            <a:off x="7912608" y="6080760"/>
            <a:ext cx="0" cy="182880"/>
          </a:xfrm>
          <a:prstGeom prst="line">
            <a:avLst/>
          </a:prstGeom>
          <a:noFill/>
          <a:ln w="22225">
            <a:solidFill>
              <a:schemeClr val="accent1"/>
            </a:solidFill>
            <a:prstDash val="solid"/>
          </a:ln>
        </p:spPr>
      </p:sp>
      <p:sp>
        <p:nvSpPr>
          <p:cNvPr id="102" name="Text 98"/>
          <p:cNvSpPr txBox="1"/>
          <p:nvPr/>
        </p:nvSpPr>
        <p:spPr>
          <a:xfrm>
            <a:off x="4495800" y="4864608"/>
            <a:ext cx="3197352"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아이템 · 가로 × 세로 칸</a:t>
            </a:r>
            <a:endParaRPr lang="ko-KR" sz="1450" dirty="0"/>
          </a:p>
        </p:txBody>
      </p:sp>
      <p:sp>
        <p:nvSpPr>
          <p:cNvPr id="103" name="Text 99"/>
          <p:cNvSpPr txBox="1"/>
          <p:nvPr/>
        </p:nvSpPr>
        <p:spPr>
          <a:xfrm>
            <a:off x="4495800" y="5239512"/>
            <a:ext cx="3197352" cy="886968"/>
          </a:xfrm>
          <a:prstGeom prst="rect">
            <a:avLst/>
          </a:prstGeom>
          <a:noFill/>
          <a:ln/>
        </p:spPr>
        <p:txBody>
          <a:bodyPr wrap="square" lIns="0" tIns="0" rIns="0" bIns="0" rtlCol="0" anchor="t"/>
          <a:lstStyle/>
          <a:p>
            <a:pPr indent="0" marL="0">
              <a:lnSpc>
                <a:spcPct val="125000"/>
              </a:lnSpc>
              <a:buNone/>
            </a:pPr>
            <a:r>
              <a:rPr lang="ko-KR" altLang="en-US" sz="1200" dirty="0">
                <a:solidFill>
                  <a:schemeClr val="bg2"/>
                </a:solidFill>
              </a:rPr>
              <a:t>DT_ItemDefinition의 GridWidth × GridHeight. 왼쪽 위 칸부터 W × H칸을 차지한다.</a:t>
            </a:r>
            <a:endParaRPr lang="ko-KR" sz="1200" dirty="0"/>
          </a:p>
        </p:txBody>
      </p:sp>
      <p:sp>
        <p:nvSpPr>
          <p:cNvPr id="104" name="Shape 100"/>
          <p:cNvSpPr/>
          <p:nvPr/>
        </p:nvSpPr>
        <p:spPr>
          <a:xfrm>
            <a:off x="8095488" y="4709160"/>
            <a:ext cx="3636264" cy="1554480"/>
          </a:xfrm>
          <a:prstGeom prst="rect">
            <a:avLst/>
          </a:prstGeom>
          <a:solidFill>
            <a:schemeClr val="tx2"/>
          </a:solidFill>
          <a:ln w="9525">
            <a:solidFill>
              <a:srgbClr val="2A2F36"/>
            </a:solidFill>
            <a:prstDash val="solid"/>
          </a:ln>
        </p:spPr>
      </p:sp>
      <p:sp>
        <p:nvSpPr>
          <p:cNvPr id="105" name="Shape 101"/>
          <p:cNvSpPr/>
          <p:nvPr/>
        </p:nvSpPr>
        <p:spPr>
          <a:xfrm>
            <a:off x="8095488" y="4709160"/>
            <a:ext cx="182880" cy="0"/>
          </a:xfrm>
          <a:prstGeom prst="line">
            <a:avLst/>
          </a:prstGeom>
          <a:noFill/>
          <a:ln w="22225">
            <a:solidFill>
              <a:schemeClr val="accent1"/>
            </a:solidFill>
            <a:prstDash val="solid"/>
          </a:ln>
        </p:spPr>
      </p:sp>
      <p:sp>
        <p:nvSpPr>
          <p:cNvPr id="106" name="Shape 102"/>
          <p:cNvSpPr/>
          <p:nvPr/>
        </p:nvSpPr>
        <p:spPr>
          <a:xfrm>
            <a:off x="8095488" y="4709160"/>
            <a:ext cx="0" cy="182880"/>
          </a:xfrm>
          <a:prstGeom prst="line">
            <a:avLst/>
          </a:prstGeom>
          <a:noFill/>
          <a:ln w="22225">
            <a:solidFill>
              <a:schemeClr val="accent1"/>
            </a:solidFill>
            <a:prstDash val="solid"/>
          </a:ln>
        </p:spPr>
      </p:sp>
      <p:sp>
        <p:nvSpPr>
          <p:cNvPr id="107" name="Shape 103"/>
          <p:cNvSpPr/>
          <p:nvPr/>
        </p:nvSpPr>
        <p:spPr>
          <a:xfrm>
            <a:off x="11548872" y="6263640"/>
            <a:ext cx="182880" cy="0"/>
          </a:xfrm>
          <a:prstGeom prst="line">
            <a:avLst/>
          </a:prstGeom>
          <a:noFill/>
          <a:ln w="22225">
            <a:solidFill>
              <a:schemeClr val="accent1"/>
            </a:solidFill>
            <a:prstDash val="solid"/>
          </a:ln>
        </p:spPr>
      </p:sp>
      <p:sp>
        <p:nvSpPr>
          <p:cNvPr id="108" name="Shape 104"/>
          <p:cNvSpPr/>
          <p:nvPr/>
        </p:nvSpPr>
        <p:spPr>
          <a:xfrm>
            <a:off x="11731752" y="6080760"/>
            <a:ext cx="0" cy="182880"/>
          </a:xfrm>
          <a:prstGeom prst="line">
            <a:avLst/>
          </a:prstGeom>
          <a:noFill/>
          <a:ln w="22225">
            <a:solidFill>
              <a:schemeClr val="accent1"/>
            </a:solidFill>
            <a:prstDash val="solid"/>
          </a:ln>
        </p:spPr>
      </p:sp>
      <p:sp>
        <p:nvSpPr>
          <p:cNvPr id="109" name="Text 105"/>
          <p:cNvSpPr txBox="1"/>
          <p:nvPr/>
        </p:nvSpPr>
        <p:spPr>
          <a:xfrm>
            <a:off x="8314944" y="4864608"/>
            <a:ext cx="3197352"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섹션 · WBP_GridSlot</a:t>
            </a:r>
            <a:endParaRPr lang="ko-KR" sz="1450" dirty="0"/>
          </a:p>
        </p:txBody>
      </p:sp>
      <p:sp>
        <p:nvSpPr>
          <p:cNvPr id="110" name="Text 106"/>
          <p:cNvSpPr txBox="1"/>
          <p:nvPr/>
        </p:nvSpPr>
        <p:spPr>
          <a:xfrm>
            <a:off x="8314944" y="5239512"/>
            <a:ext cx="3197352" cy="886968"/>
          </a:xfrm>
          <a:prstGeom prst="rect">
            <a:avLst/>
          </a:prstGeom>
          <a:noFill/>
          <a:ln/>
        </p:spPr>
        <p:txBody>
          <a:bodyPr wrap="square" lIns="0" tIns="0" rIns="0" bIns="0" rtlCol="0" anchor="t"/>
          <a:lstStyle/>
          <a:p>
            <a:pPr indent="0" marL="0">
              <a:lnSpc>
                <a:spcPct val="125000"/>
              </a:lnSpc>
              <a:buNone/>
            </a:pPr>
            <a:r>
              <a:rPr lang="ko-KR" altLang="en-US" sz="1200" dirty="0">
                <a:solidFill>
                  <a:schemeClr val="bg2"/>
                </a:solidFill>
              </a:rPr>
              <a:t>칸 묶음 하나 = 작은 그리드 하나. 창고는 9×25 섹션 1개, 주머니는 1×1 섹션 5개, DARAssault 조끼는 섹션 7개.</a:t>
            </a:r>
            <a:endParaRPr lang="ko-KR" sz="12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02 · GRID INVENTORY</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데이터 구조 · DataTable 중심 설계</a:t>
            </a:r>
            <a:endParaRPr lang="en-US" sz="2800" dirty="0"/>
          </a:p>
        </p:txBody>
      </p:sp>
      <p:sp>
        <p:nvSpPr>
          <p:cNvPr id="5" name="Text 2"/>
          <p:cNvSpPr txBox="1"/>
          <p:nvPr/>
        </p:nvSpPr>
        <p:spPr>
          <a:xfrm>
            <a:off x="457200" y="1188720"/>
            <a:ext cx="10789920" cy="274320"/>
          </a:xfrm>
          <a:prstGeom prst="rect">
            <a:avLst/>
          </a:prstGeom>
          <a:noFill/>
          <a:ln/>
        </p:spPr>
        <p:txBody>
          <a:bodyPr wrap="square" lIns="0" tIns="0" rIns="0" bIns="0" rtlCol="0" anchor="t"/>
          <a:lstStyle/>
          <a:p>
            <a:pPr indent="0" marL="0">
              <a:lnSpc>
                <a:spcPct val="120000"/>
              </a:lnSpc>
              <a:buNone/>
            </a:pPr>
            <a:r>
              <a:rPr lang="ko-KR" altLang="en-US" sz="1300" dirty="0">
                <a:solidFill>
                  <a:schemeClr val="bg2"/>
                </a:solidFill>
              </a:rPr>
              <a:t>위젯마다 하드코딩하지 않고, 데이터(DataTable · DataAsset)와 화면(Widget)을 나눴다</a:t>
            </a:r>
            <a:endParaRPr lang="ko-KR"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74552" cy="914400"/>
        </p:xfrm>
        <a:graphic>
          <a:graphicData uri="http://schemas.openxmlformats.org/drawingml/2006/table">
            <a:tbl>
              <a:tblPr/>
              <a:tblGrid>
                <a:gridCol w="3291840"/>
                <a:gridCol w="7982712"/>
              </a:tblGrid>
              <a:tr h="384048">
                <a:tc>
                  <a:txBody>
                    <a:bodyPr/>
                    <a:lstStyle/>
                    <a:p>
                      <a:pPr indent="0" marL="0">
                        <a:buNone/>
                      </a:pPr>
                      <a:r>
                        <a:rPr lang="en-US" sz="1250" b="1" dirty="0">
                          <a:solidFill>
                            <a:schemeClr val="accent1"/>
                          </a:solidFill>
                        </a:rPr>
                        <a:t>데이터</a:t>
                      </a:r>
                      <a:endParaRPr lang="en-US" sz="1250" dirty="0"/>
                    </a:p>
                  </a:txBody>
                  <a:tcPr marL="146304" marR="146304" marT="54864" marB="54864">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accent6"/>
                    </a:solidFill>
                  </a:tcPr>
                </a:tc>
                <a:tc>
                  <a:txBody>
                    <a:bodyPr/>
                    <a:lstStyle/>
                    <a:p>
                      <a:pPr indent="0" marL="0">
                        <a:buNone/>
                      </a:pPr>
                      <a:r>
                        <a:rPr lang="en-US" sz="1250" b="1" dirty="0">
                          <a:solidFill>
                            <a:schemeClr val="bg1"/>
                          </a:solidFill>
                        </a:rPr>
                        <a:t>담는 것</a:t>
                      </a:r>
                      <a:endParaRPr lang="en-US" sz="1250" dirty="0"/>
                    </a:p>
                  </a:txBody>
                  <a:tcPr marL="146304" marR="146304" marT="54864" marB="54864">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accent6"/>
                    </a:solidFill>
                  </a:tcPr>
                </a:tc>
              </a:tr>
              <a:tr h="502920">
                <a:tc>
                  <a:txBody>
                    <a:bodyPr/>
                    <a:lstStyle/>
                    <a:p>
                      <a:pPr indent="0" marL="0">
                        <a:buNone/>
                      </a:pPr>
                      <a:r>
                        <a:rPr lang="en-US" sz="1250" dirty="0">
                          <a:solidFill>
                            <a:schemeClr val="bg1"/>
                          </a:solidFill>
                        </a:rPr>
                        <a:t>DT_GridLayoutData · 72행</a:t>
                      </a:r>
                      <a:endParaRPr lang="en-US" sz="1250" dirty="0"/>
                    </a:p>
                  </a:txBody>
                  <a:tcPr marL="146304" marR="146304" marT="54864" marB="54864" anchor="ctr">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tx2"/>
                    </a:solidFill>
                  </a:tcPr>
                </a:tc>
                <a:tc>
                  <a:txBody>
                    <a:bodyPr/>
                    <a:lstStyle/>
                    <a:p>
                      <a:pPr indent="0" marL="0">
                        <a:buNone/>
                      </a:pPr>
                      <a:r>
                        <a:rPr lang="en-US" sz="1250" dirty="0">
                          <a:solidFill>
                            <a:schemeClr val="bg2"/>
                          </a:solidFill>
                        </a:rPr>
                        <a:t>조끼 18 · 가방 26 · 창고 · 상자의 칸 배치 (섹션 크기 · 위치 · 반 칸)</a:t>
                      </a:r>
                      <a:endParaRPr lang="en-US" sz="1250" dirty="0"/>
                    </a:p>
                  </a:txBody>
                  <a:tcPr marL="146304" marR="146304" marT="54864" marB="54864" anchor="ctr">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tx2"/>
                    </a:solidFill>
                  </a:tcPr>
                </a:tc>
              </a:tr>
              <a:tr h="502920">
                <a:tc>
                  <a:txBody>
                    <a:bodyPr/>
                    <a:lstStyle/>
                    <a:p>
                      <a:pPr indent="0" marL="0">
                        <a:buNone/>
                      </a:pPr>
                      <a:r>
                        <a:rPr lang="en-US" sz="1250" dirty="0">
                          <a:solidFill>
                            <a:schemeClr val="bg1"/>
                          </a:solidFill>
                        </a:rPr>
                        <a:t>DT_ItemDefinition · 514행</a:t>
                      </a:r>
                      <a:endParaRPr lang="en-US" sz="1250" dirty="0"/>
                    </a:p>
                  </a:txBody>
                  <a:tcPr marL="146304" marR="146304" marT="54864" marB="54864" anchor="ctr">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tx2"/>
                    </a:solidFill>
                  </a:tcPr>
                </a:tc>
                <a:tc>
                  <a:txBody>
                    <a:bodyPr/>
                    <a:lstStyle/>
                    <a:p>
                      <a:pPr indent="0" marL="0">
                        <a:buNone/>
                      </a:pPr>
                      <a:r>
                        <a:rPr lang="en-US" sz="1250" dirty="0">
                          <a:solidFill>
                            <a:schemeClr val="bg2"/>
                          </a:solidFill>
                        </a:rPr>
                        <a:t>아이템 이름 · 등급 · 가로/세로 칸 · 아이콘</a:t>
                      </a:r>
                      <a:endParaRPr lang="en-US" sz="1250" dirty="0"/>
                    </a:p>
                  </a:txBody>
                  <a:tcPr marL="146304" marR="146304" marT="54864" marB="54864" anchor="ctr">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tx2"/>
                    </a:solidFill>
                  </a:tcPr>
                </a:tc>
              </a:tr>
              <a:tr h="502920">
                <a:tc>
                  <a:txBody>
                    <a:bodyPr/>
                    <a:lstStyle/>
                    <a:p>
                      <a:pPr indent="0" marL="0">
                        <a:buNone/>
                      </a:pPr>
                      <a:r>
                        <a:rPr lang="en-US" sz="1250" dirty="0">
                          <a:solidFill>
                            <a:schemeClr val="bg1"/>
                          </a:solidFill>
                        </a:rPr>
                        <a:t>ST_StashItemInfo</a:t>
                      </a:r>
                      <a:endParaRPr lang="en-US" sz="1250" dirty="0"/>
                    </a:p>
                  </a:txBody>
                  <a:tcPr marL="146304" marR="146304" marT="54864" marB="54864" anchor="ctr">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tx2"/>
                    </a:solidFill>
                  </a:tcPr>
                </a:tc>
                <a:tc>
                  <a:txBody>
                    <a:bodyPr/>
                    <a:lstStyle/>
                    <a:p>
                      <a:pPr indent="0" marL="0">
                        <a:buNone/>
                      </a:pPr>
                      <a:r>
                        <a:rPr lang="en-US" sz="1250" dirty="0">
                          <a:solidFill>
                            <a:schemeClr val="bg2"/>
                          </a:solidFill>
                        </a:rPr>
                        <a:t>창고에 놓인 아이템 (슬롯 · 칸 번호 · 아이템) — 시작 아이템 9개 배치</a:t>
                      </a:r>
                      <a:endParaRPr lang="en-US" sz="1250" dirty="0"/>
                    </a:p>
                  </a:txBody>
                  <a:tcPr marL="146304" marR="146304" marT="54864" marB="54864" anchor="ctr">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tx2"/>
                    </a:solidFill>
                  </a:tcPr>
                </a:tc>
              </a:tr>
              <a:tr h="502920">
                <a:tc>
                  <a:txBody>
                    <a:bodyPr/>
                    <a:lstStyle/>
                    <a:p>
                      <a:pPr indent="0" marL="0">
                        <a:buNone/>
                      </a:pPr>
                      <a:r>
                        <a:rPr lang="en-US" sz="1250" dirty="0">
                          <a:solidFill>
                            <a:schemeClr val="bg1"/>
                          </a:solidFill>
                        </a:rPr>
                        <a:t>DA_UISetting</a:t>
                      </a:r>
                      <a:endParaRPr lang="en-US" sz="1250" dirty="0"/>
                    </a:p>
                  </a:txBody>
                  <a:tcPr marL="146304" marR="146304" marT="54864" marB="54864" anchor="ctr">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tx2"/>
                    </a:solidFill>
                  </a:tcPr>
                </a:tc>
                <a:tc>
                  <a:txBody>
                    <a:bodyPr/>
                    <a:lstStyle/>
                    <a:p>
                      <a:pPr indent="0" marL="0">
                        <a:buNone/>
                      </a:pPr>
                      <a:r>
                        <a:rPr lang="en-US" sz="1250" dirty="0">
                          <a:solidFill>
                            <a:schemeClr val="bg2"/>
                          </a:solidFill>
                        </a:rPr>
                        <a:t>칸 크기(64) 등 UI 공통 값을 한 곳에서 관리</a:t>
                      </a:r>
                      <a:endParaRPr lang="en-US" sz="1250" dirty="0"/>
                    </a:p>
                  </a:txBody>
                  <a:tcPr marL="146304" marR="146304" marT="54864" marB="54864" anchor="ctr">
                    <a:lnL w="9525" cap="flat" cmpd="sng" algn="ctr">
                      <a:solidFill>
                        <a:srgbClr val="2A2F36"/>
                      </a:solidFill>
                      <a:prstDash val="solid"/>
                      <a:round/>
                      <a:headEnd type="none" w="med" len="med"/>
                      <a:tailEnd type="none" w="med" len="med"/>
                    </a:lnL>
                    <a:lnR w="9525" cap="flat" cmpd="sng" algn="ctr">
                      <a:solidFill>
                        <a:srgbClr val="2A2F36"/>
                      </a:solidFill>
                      <a:prstDash val="solid"/>
                      <a:round/>
                      <a:headEnd type="none" w="med" len="med"/>
                      <a:tailEnd type="none" w="med" len="med"/>
                    </a:lnR>
                    <a:lnT w="9525" cap="flat" cmpd="sng" algn="ctr">
                      <a:solidFill>
                        <a:srgbClr val="2A2F36"/>
                      </a:solidFill>
                      <a:prstDash val="solid"/>
                      <a:round/>
                      <a:headEnd type="none" w="med" len="med"/>
                      <a:tailEnd type="none" w="med" len="med"/>
                    </a:lnT>
                    <a:lnB w="9525" cap="flat" cmpd="sng" algn="ctr">
                      <a:solidFill>
                        <a:srgbClr val="2A2F36"/>
                      </a:solidFill>
                      <a:prstDash val="solid"/>
                      <a:round/>
                      <a:headEnd type="none" w="med" len="med"/>
                      <a:tailEnd type="none" w="med" len="med"/>
                    </a:lnB>
                    <a:solidFill>
                      <a:schemeClr val="tx2"/>
                    </a:solidFill>
                  </a:tcPr>
                </a:tc>
              </a:tr>
            </a:tbl>
          </a:graphicData>
        </a:graphic>
      </p:graphicFrame>
      <p:sp>
        <p:nvSpPr>
          <p:cNvPr id="7" name="Shape 3"/>
          <p:cNvSpPr/>
          <p:nvPr/>
        </p:nvSpPr>
        <p:spPr>
          <a:xfrm>
            <a:off x="457200" y="4434840"/>
            <a:ext cx="11274552" cy="1828800"/>
          </a:xfrm>
          <a:prstGeom prst="rect">
            <a:avLst/>
          </a:prstGeom>
          <a:solidFill>
            <a:schemeClr val="tx2"/>
          </a:solidFill>
          <a:ln w="9525">
            <a:solidFill>
              <a:srgbClr val="2A2F36"/>
            </a:solidFill>
            <a:prstDash val="solid"/>
          </a:ln>
        </p:spPr>
      </p:sp>
      <p:sp>
        <p:nvSpPr>
          <p:cNvPr id="8" name="Shape 4"/>
          <p:cNvSpPr/>
          <p:nvPr/>
        </p:nvSpPr>
        <p:spPr>
          <a:xfrm>
            <a:off x="457200" y="4434840"/>
            <a:ext cx="182880" cy="0"/>
          </a:xfrm>
          <a:prstGeom prst="line">
            <a:avLst/>
          </a:prstGeom>
          <a:noFill/>
          <a:ln w="22225">
            <a:solidFill>
              <a:schemeClr val="accent1"/>
            </a:solidFill>
            <a:prstDash val="solid"/>
          </a:ln>
        </p:spPr>
      </p:sp>
      <p:sp>
        <p:nvSpPr>
          <p:cNvPr id="9" name="Shape 5"/>
          <p:cNvSpPr/>
          <p:nvPr/>
        </p:nvSpPr>
        <p:spPr>
          <a:xfrm>
            <a:off x="457200" y="4434840"/>
            <a:ext cx="0" cy="182880"/>
          </a:xfrm>
          <a:prstGeom prst="line">
            <a:avLst/>
          </a:prstGeom>
          <a:noFill/>
          <a:ln w="22225">
            <a:solidFill>
              <a:schemeClr val="accent1"/>
            </a:solidFill>
            <a:prstDash val="solid"/>
          </a:ln>
        </p:spPr>
      </p:sp>
      <p:sp>
        <p:nvSpPr>
          <p:cNvPr id="10" name="Shape 6"/>
          <p:cNvSpPr/>
          <p:nvPr/>
        </p:nvSpPr>
        <p:spPr>
          <a:xfrm>
            <a:off x="11548872" y="6263640"/>
            <a:ext cx="182880" cy="0"/>
          </a:xfrm>
          <a:prstGeom prst="line">
            <a:avLst/>
          </a:prstGeom>
          <a:noFill/>
          <a:ln w="22225">
            <a:solidFill>
              <a:schemeClr val="accent1"/>
            </a:solidFill>
            <a:prstDash val="solid"/>
          </a:ln>
        </p:spPr>
      </p:sp>
      <p:sp>
        <p:nvSpPr>
          <p:cNvPr id="11" name="Shape 7"/>
          <p:cNvSpPr/>
          <p:nvPr/>
        </p:nvSpPr>
        <p:spPr>
          <a:xfrm>
            <a:off x="11731752" y="6080760"/>
            <a:ext cx="0" cy="182880"/>
          </a:xfrm>
          <a:prstGeom prst="line">
            <a:avLst/>
          </a:prstGeom>
          <a:noFill/>
          <a:ln w="22225">
            <a:solidFill>
              <a:schemeClr val="accent1"/>
            </a:solidFill>
            <a:prstDash val="solid"/>
          </a:ln>
        </p:spPr>
      </p:sp>
      <p:sp>
        <p:nvSpPr>
          <p:cNvPr id="12" name="Text 8"/>
          <p:cNvSpPr txBox="1"/>
          <p:nvPr/>
        </p:nvSpPr>
        <p:spPr>
          <a:xfrm>
            <a:off x="676656" y="4590288"/>
            <a:ext cx="10835640"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이름으로 연결된 데이터</a:t>
            </a:r>
            <a:endParaRPr lang="ko-KR" sz="1450" dirty="0"/>
          </a:p>
        </p:txBody>
      </p:sp>
      <p:sp>
        <p:nvSpPr>
          <p:cNvPr id="13" name="Text 9"/>
          <p:cNvSpPr txBox="1"/>
          <p:nvPr/>
        </p:nvSpPr>
        <p:spPr>
          <a:xfrm>
            <a:off x="5943600" y="4590288"/>
            <a:ext cx="5577840" cy="274320"/>
          </a:xfrm>
          <a:prstGeom prst="rect">
            <a:avLst/>
          </a:prstGeom>
          <a:noFill/>
          <a:ln/>
        </p:spPr>
        <p:txBody>
          <a:bodyPr wrap="square" lIns="0" tIns="0" rIns="0" bIns="0" rtlCol="0" anchor="t"/>
          <a:lstStyle/>
          <a:p>
            <a:pPr algn="r" indent="0" marL="0">
              <a:lnSpc>
                <a:spcPct val="120000"/>
              </a:lnSpc>
              <a:buNone/>
            </a:pPr>
            <a:r>
              <a:rPr lang="ko-KR" altLang="en-US" sz="1200" dirty="0">
                <a:solidFill>
                  <a:schemeClr val="accent5"/>
                </a:solidFill>
              </a:rPr>
              <a:t>장착하면 이 이름으로 DrawLayout → 칸 배치</a:t>
            </a:r>
            <a:endParaRPr lang="ko-KR" sz="1200" dirty="0"/>
          </a:p>
        </p:txBody>
      </p:sp>
      <p:sp>
        <p:nvSpPr>
          <p:cNvPr id="14" name="Shape 10"/>
          <p:cNvSpPr/>
          <p:nvPr/>
        </p:nvSpPr>
        <p:spPr>
          <a:xfrm>
            <a:off x="676656" y="5029200"/>
            <a:ext cx="5029200" cy="960120"/>
          </a:xfrm>
          <a:prstGeom prst="rect">
            <a:avLst/>
          </a:prstGeom>
          <a:solidFill>
            <a:schemeClr val="accent6"/>
          </a:solidFill>
          <a:ln w="9525">
            <a:solidFill>
              <a:srgbClr val="2A2F36"/>
            </a:solidFill>
            <a:prstDash val="solid"/>
          </a:ln>
        </p:spPr>
      </p:sp>
      <p:sp>
        <p:nvSpPr>
          <p:cNvPr id="15" name="Text 11"/>
          <p:cNvSpPr txBox="1"/>
          <p:nvPr/>
        </p:nvSpPr>
        <p:spPr>
          <a:xfrm>
            <a:off x="905256" y="5029200"/>
            <a:ext cx="4663440" cy="960120"/>
          </a:xfrm>
          <a:prstGeom prst="rect">
            <a:avLst/>
          </a:prstGeom>
          <a:noFill/>
          <a:ln/>
        </p:spPr>
        <p:txBody>
          <a:bodyPr wrap="square" lIns="0" tIns="0" rIns="0" bIns="0" rtlCol="0" anchor="ctr"/>
          <a:lstStyle/>
          <a:p>
            <a:pPr indent="0" marL="0">
              <a:lnSpc>
                <a:spcPct val="120000"/>
              </a:lnSpc>
              <a:spcAft>
                <a:spcPts val="300"/>
              </a:spcAft>
              <a:buNone/>
            </a:pPr>
            <a:r>
              <a:rPr lang="ko-KR" altLang="en-US" sz="1150" dirty="0">
                <a:solidFill>
                  <a:schemeClr val="accent5"/>
                </a:solidFill>
              </a:rPr>
              <a:t>아이템 이름 · DT_ItemDefinition</a:t>
            </a:r>
            <a:endParaRPr lang="ko-KR" sz="1200" dirty="0"/>
          </a:p>
          <a:p>
            <a:pPr indent="0" marL="0">
              <a:lnSpc>
                <a:spcPct val="120000"/>
              </a:lnSpc>
              <a:spcAft>
                <a:spcPts val="300"/>
              </a:spcAft>
              <a:buNone/>
            </a:pPr>
            <a:r>
              <a:rPr lang="ko-KR" altLang="en-US" sz="1400" b="1" dirty="0">
                <a:solidFill>
                  <a:schemeClr val="accent2"/>
                </a:solidFill>
                <a:latin typeface="Consolas" pitchFamily="34" charset="0"/>
                <a:ea typeface="Consolas" pitchFamily="34" charset="-122"/>
                <a:cs typeface="Consolas" pitchFamily="34" charset="-120"/>
              </a:rPr>
              <a:t>Gear_ChestRig_DARAssault</a:t>
            </a:r>
            <a:endParaRPr lang="ko-KR" sz="1200" dirty="0"/>
          </a:p>
        </p:txBody>
      </p:sp>
      <p:sp>
        <p:nvSpPr>
          <p:cNvPr id="16" name="Text 12"/>
          <p:cNvSpPr txBox="1"/>
          <p:nvPr/>
        </p:nvSpPr>
        <p:spPr>
          <a:xfrm>
            <a:off x="5705856" y="5029200"/>
            <a:ext cx="777240" cy="960120"/>
          </a:xfrm>
          <a:prstGeom prst="rect">
            <a:avLst/>
          </a:prstGeom>
          <a:noFill/>
          <a:ln/>
        </p:spPr>
        <p:txBody>
          <a:bodyPr wrap="square" lIns="0" tIns="0" rIns="0" bIns="0" rtlCol="0" anchor="ctr"/>
          <a:lstStyle/>
          <a:p>
            <a:pPr algn="ctr" indent="0" marL="0">
              <a:lnSpc>
                <a:spcPct val="120000"/>
              </a:lnSpc>
              <a:buNone/>
            </a:pPr>
            <a:r>
              <a:rPr lang="ko-KR" altLang="en-US" sz="3000" b="1" dirty="0">
                <a:solidFill>
                  <a:schemeClr val="accent1"/>
                </a:solidFill>
              </a:rPr>
              <a:t>=</a:t>
            </a:r>
            <a:endParaRPr lang="ko-KR" sz="3000" dirty="0"/>
          </a:p>
        </p:txBody>
      </p:sp>
      <p:sp>
        <p:nvSpPr>
          <p:cNvPr id="17" name="Shape 13"/>
          <p:cNvSpPr/>
          <p:nvPr/>
        </p:nvSpPr>
        <p:spPr>
          <a:xfrm>
            <a:off x="6483096" y="5029200"/>
            <a:ext cx="5029200" cy="960120"/>
          </a:xfrm>
          <a:prstGeom prst="rect">
            <a:avLst/>
          </a:prstGeom>
          <a:solidFill>
            <a:schemeClr val="accent6"/>
          </a:solidFill>
          <a:ln w="9525">
            <a:solidFill>
              <a:srgbClr val="2A2F36"/>
            </a:solidFill>
            <a:prstDash val="solid"/>
          </a:ln>
        </p:spPr>
      </p:sp>
      <p:sp>
        <p:nvSpPr>
          <p:cNvPr id="18" name="Text 14"/>
          <p:cNvSpPr txBox="1"/>
          <p:nvPr/>
        </p:nvSpPr>
        <p:spPr>
          <a:xfrm>
            <a:off x="6711696" y="5029200"/>
            <a:ext cx="4663440" cy="960120"/>
          </a:xfrm>
          <a:prstGeom prst="rect">
            <a:avLst/>
          </a:prstGeom>
          <a:noFill/>
          <a:ln/>
        </p:spPr>
        <p:txBody>
          <a:bodyPr wrap="square" lIns="0" tIns="0" rIns="0" bIns="0" rtlCol="0" anchor="ctr"/>
          <a:lstStyle/>
          <a:p>
            <a:pPr indent="0" marL="0">
              <a:lnSpc>
                <a:spcPct val="120000"/>
              </a:lnSpc>
              <a:spcAft>
                <a:spcPts val="300"/>
              </a:spcAft>
              <a:buNone/>
            </a:pPr>
            <a:r>
              <a:rPr lang="ko-KR" altLang="en-US" sz="1150" dirty="0">
                <a:solidFill>
                  <a:schemeClr val="accent5"/>
                </a:solidFill>
              </a:rPr>
              <a:t>칸 배치 행 이름 · DT_GridLayoutData</a:t>
            </a:r>
            <a:endParaRPr lang="ko-KR" sz="1200" dirty="0"/>
          </a:p>
          <a:p>
            <a:pPr indent="0" marL="0">
              <a:lnSpc>
                <a:spcPct val="120000"/>
              </a:lnSpc>
              <a:spcAft>
                <a:spcPts val="300"/>
              </a:spcAft>
              <a:buNone/>
            </a:pPr>
            <a:r>
              <a:rPr lang="ko-KR" altLang="en-US" sz="1400" b="1" dirty="0">
                <a:solidFill>
                  <a:schemeClr val="accent2"/>
                </a:solidFill>
                <a:latin typeface="Consolas" pitchFamily="34" charset="0"/>
                <a:ea typeface="Consolas" pitchFamily="34" charset="-122"/>
                <a:cs typeface="Consolas" pitchFamily="34" charset="-120"/>
              </a:rPr>
              <a:t>Gear_ChestRig_DARAssault</a:t>
            </a:r>
            <a:endParaRPr lang="ko-KR" sz="12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02 · GRID INVENTORY</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칸 배치 · 구조와 역할</a:t>
            </a:r>
            <a:endParaRPr lang="en-US" sz="2800" dirty="0"/>
          </a:p>
        </p:txBody>
      </p:sp>
      <p:sp>
        <p:nvSpPr>
          <p:cNvPr id="5" name="Shape 2"/>
          <p:cNvSpPr/>
          <p:nvPr/>
        </p:nvSpPr>
        <p:spPr>
          <a:xfrm>
            <a:off x="457200" y="1371600"/>
            <a:ext cx="5532120" cy="1188720"/>
          </a:xfrm>
          <a:prstGeom prst="rect">
            <a:avLst/>
          </a:prstGeom>
          <a:solidFill>
            <a:schemeClr val="tx2"/>
          </a:solidFill>
          <a:ln w="9525">
            <a:solidFill>
              <a:srgbClr val="2A2F36"/>
            </a:solidFill>
            <a:prstDash val="solid"/>
          </a:ln>
        </p:spPr>
      </p:sp>
      <p:sp>
        <p:nvSpPr>
          <p:cNvPr id="6" name="Shape 3"/>
          <p:cNvSpPr/>
          <p:nvPr/>
        </p:nvSpPr>
        <p:spPr>
          <a:xfrm>
            <a:off x="457200" y="1371600"/>
            <a:ext cx="182880" cy="0"/>
          </a:xfrm>
          <a:prstGeom prst="line">
            <a:avLst/>
          </a:prstGeom>
          <a:noFill/>
          <a:ln w="22225">
            <a:solidFill>
              <a:schemeClr val="accent1"/>
            </a:solidFill>
            <a:prstDash val="solid"/>
          </a:ln>
        </p:spPr>
      </p:sp>
      <p:sp>
        <p:nvSpPr>
          <p:cNvPr id="7" name="Shape 4"/>
          <p:cNvSpPr/>
          <p:nvPr/>
        </p:nvSpPr>
        <p:spPr>
          <a:xfrm>
            <a:off x="457200" y="1371600"/>
            <a:ext cx="0" cy="182880"/>
          </a:xfrm>
          <a:prstGeom prst="line">
            <a:avLst/>
          </a:prstGeom>
          <a:noFill/>
          <a:ln w="22225">
            <a:solidFill>
              <a:schemeClr val="accent1"/>
            </a:solidFill>
            <a:prstDash val="solid"/>
          </a:ln>
        </p:spPr>
      </p:sp>
      <p:sp>
        <p:nvSpPr>
          <p:cNvPr id="8" name="Shape 5"/>
          <p:cNvSpPr/>
          <p:nvPr/>
        </p:nvSpPr>
        <p:spPr>
          <a:xfrm>
            <a:off x="5806440" y="2560320"/>
            <a:ext cx="182880" cy="0"/>
          </a:xfrm>
          <a:prstGeom prst="line">
            <a:avLst/>
          </a:prstGeom>
          <a:noFill/>
          <a:ln w="22225">
            <a:solidFill>
              <a:schemeClr val="accent1"/>
            </a:solidFill>
            <a:prstDash val="solid"/>
          </a:ln>
        </p:spPr>
      </p:sp>
      <p:sp>
        <p:nvSpPr>
          <p:cNvPr id="9" name="Shape 6"/>
          <p:cNvSpPr/>
          <p:nvPr/>
        </p:nvSpPr>
        <p:spPr>
          <a:xfrm>
            <a:off x="5989320" y="2377440"/>
            <a:ext cx="0" cy="182880"/>
          </a:xfrm>
          <a:prstGeom prst="line">
            <a:avLst/>
          </a:prstGeom>
          <a:noFill/>
          <a:ln w="22225">
            <a:solidFill>
              <a:schemeClr val="accent1"/>
            </a:solidFill>
            <a:prstDash val="solid"/>
          </a:ln>
        </p:spPr>
      </p:sp>
      <p:sp>
        <p:nvSpPr>
          <p:cNvPr id="10" name="Text 7"/>
          <p:cNvSpPr txBox="1"/>
          <p:nvPr/>
        </p:nvSpPr>
        <p:spPr>
          <a:xfrm>
            <a:off x="676656" y="1527048"/>
            <a:ext cx="509320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시스템 개요</a:t>
            </a:r>
            <a:endParaRPr lang="ko-KR" sz="1450" dirty="0"/>
          </a:p>
        </p:txBody>
      </p:sp>
      <p:sp>
        <p:nvSpPr>
          <p:cNvPr id="11" name="Text 8"/>
          <p:cNvSpPr txBox="1"/>
          <p:nvPr/>
        </p:nvSpPr>
        <p:spPr>
          <a:xfrm>
            <a:off x="676656" y="1901952"/>
            <a:ext cx="5093208" cy="521208"/>
          </a:xfrm>
          <a:prstGeom prst="rect">
            <a:avLst/>
          </a:prstGeom>
          <a:noFill/>
          <a:ln/>
        </p:spPr>
        <p:txBody>
          <a:bodyPr wrap="square" lIns="0" tIns="0" rIns="0" bIns="0" rtlCol="0" anchor="t"/>
          <a:lstStyle/>
          <a:p>
            <a:pPr indent="0" marL="0">
              <a:lnSpc>
                <a:spcPct val="130000"/>
              </a:lnSpc>
              <a:buNone/>
            </a:pPr>
            <a:r>
              <a:rPr lang="ko-KR" altLang="en-US" sz="1200" dirty="0">
                <a:solidFill>
                  <a:schemeClr val="bg2"/>
                </a:solidFill>
              </a:rPr>
              <a:t>장비를 장착하면 GridLayout이 행 이름을 받아 섹션마다 GridSlot을 만들고, 슬롯이 칸(GridCell)을 채운다.</a:t>
            </a:r>
            <a:endParaRPr lang="ko-KR" sz="1200" dirty="0"/>
          </a:p>
        </p:txBody>
      </p:sp>
      <p:sp>
        <p:nvSpPr>
          <p:cNvPr id="12" name="Shape 9"/>
          <p:cNvSpPr/>
          <p:nvPr/>
        </p:nvSpPr>
        <p:spPr>
          <a:xfrm>
            <a:off x="6199632" y="1371600"/>
            <a:ext cx="5532120" cy="1188720"/>
          </a:xfrm>
          <a:prstGeom prst="rect">
            <a:avLst/>
          </a:prstGeom>
          <a:solidFill>
            <a:schemeClr val="tx2"/>
          </a:solidFill>
          <a:ln w="9525">
            <a:solidFill>
              <a:srgbClr val="2A2F36"/>
            </a:solidFill>
            <a:prstDash val="solid"/>
          </a:ln>
        </p:spPr>
      </p:sp>
      <p:sp>
        <p:nvSpPr>
          <p:cNvPr id="13" name="Shape 10"/>
          <p:cNvSpPr/>
          <p:nvPr/>
        </p:nvSpPr>
        <p:spPr>
          <a:xfrm>
            <a:off x="6199632" y="1371600"/>
            <a:ext cx="182880" cy="0"/>
          </a:xfrm>
          <a:prstGeom prst="line">
            <a:avLst/>
          </a:prstGeom>
          <a:noFill/>
          <a:ln w="22225">
            <a:solidFill>
              <a:schemeClr val="accent1"/>
            </a:solidFill>
            <a:prstDash val="solid"/>
          </a:ln>
        </p:spPr>
      </p:sp>
      <p:sp>
        <p:nvSpPr>
          <p:cNvPr id="14" name="Shape 11"/>
          <p:cNvSpPr/>
          <p:nvPr/>
        </p:nvSpPr>
        <p:spPr>
          <a:xfrm>
            <a:off x="6199632" y="1371600"/>
            <a:ext cx="0" cy="182880"/>
          </a:xfrm>
          <a:prstGeom prst="line">
            <a:avLst/>
          </a:prstGeom>
          <a:noFill/>
          <a:ln w="22225">
            <a:solidFill>
              <a:schemeClr val="accent1"/>
            </a:solidFill>
            <a:prstDash val="solid"/>
          </a:ln>
        </p:spPr>
      </p:sp>
      <p:sp>
        <p:nvSpPr>
          <p:cNvPr id="15" name="Shape 12"/>
          <p:cNvSpPr/>
          <p:nvPr/>
        </p:nvSpPr>
        <p:spPr>
          <a:xfrm>
            <a:off x="11548872" y="2560320"/>
            <a:ext cx="182880" cy="0"/>
          </a:xfrm>
          <a:prstGeom prst="line">
            <a:avLst/>
          </a:prstGeom>
          <a:noFill/>
          <a:ln w="22225">
            <a:solidFill>
              <a:schemeClr val="accent1"/>
            </a:solidFill>
            <a:prstDash val="solid"/>
          </a:ln>
        </p:spPr>
      </p:sp>
      <p:sp>
        <p:nvSpPr>
          <p:cNvPr id="16" name="Shape 13"/>
          <p:cNvSpPr/>
          <p:nvPr/>
        </p:nvSpPr>
        <p:spPr>
          <a:xfrm>
            <a:off x="11731752" y="2377440"/>
            <a:ext cx="0" cy="182880"/>
          </a:xfrm>
          <a:prstGeom prst="line">
            <a:avLst/>
          </a:prstGeom>
          <a:noFill/>
          <a:ln w="22225">
            <a:solidFill>
              <a:schemeClr val="accent1"/>
            </a:solidFill>
            <a:prstDash val="solid"/>
          </a:ln>
        </p:spPr>
      </p:sp>
      <p:sp>
        <p:nvSpPr>
          <p:cNvPr id="17" name="Text 14"/>
          <p:cNvSpPr txBox="1"/>
          <p:nvPr/>
        </p:nvSpPr>
        <p:spPr>
          <a:xfrm>
            <a:off x="6419088" y="1527048"/>
            <a:ext cx="509320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구현 의도</a:t>
            </a:r>
            <a:endParaRPr lang="ko-KR" sz="1450" dirty="0"/>
          </a:p>
        </p:txBody>
      </p:sp>
      <p:sp>
        <p:nvSpPr>
          <p:cNvPr id="18" name="Text 15"/>
          <p:cNvSpPr txBox="1"/>
          <p:nvPr/>
        </p:nvSpPr>
        <p:spPr>
          <a:xfrm>
            <a:off x="6419088" y="1901952"/>
            <a:ext cx="5093208" cy="521208"/>
          </a:xfrm>
          <a:prstGeom prst="rect">
            <a:avLst/>
          </a:prstGeom>
          <a:noFill/>
          <a:ln/>
        </p:spPr>
        <p:txBody>
          <a:bodyPr wrap="square" lIns="0" tIns="0" rIns="0" bIns="0" rtlCol="0" anchor="t"/>
          <a:lstStyle/>
          <a:p>
            <a:pPr indent="0" marL="0">
              <a:lnSpc>
                <a:spcPct val="130000"/>
              </a:lnSpc>
              <a:buNone/>
            </a:pPr>
            <a:r>
              <a:rPr lang="ko-KR" altLang="en-US" sz="1200" dirty="0">
                <a:solidFill>
                  <a:schemeClr val="bg2"/>
                </a:solidFill>
              </a:rPr>
              <a:t>반 칸씩 어긋난 조끼 칸 → GridPanel 2배 해상도 + ToMatrix 좌표 변환. 72종을 손으로 짜지 않기 위한 선택.</a:t>
            </a:r>
            <a:endParaRPr lang="ko-KR" sz="1200" dirty="0"/>
          </a:p>
        </p:txBody>
      </p:sp>
      <p:sp>
        <p:nvSpPr>
          <p:cNvPr id="19" name="Shape 16"/>
          <p:cNvSpPr/>
          <p:nvPr/>
        </p:nvSpPr>
        <p:spPr>
          <a:xfrm>
            <a:off x="457200" y="2724912"/>
            <a:ext cx="5532120" cy="3538728"/>
          </a:xfrm>
          <a:prstGeom prst="rect">
            <a:avLst/>
          </a:prstGeom>
          <a:solidFill>
            <a:schemeClr val="tx2"/>
          </a:solidFill>
          <a:ln w="9525">
            <a:solidFill>
              <a:srgbClr val="2A2F36"/>
            </a:solidFill>
            <a:prstDash val="solid"/>
          </a:ln>
        </p:spPr>
      </p:sp>
      <p:sp>
        <p:nvSpPr>
          <p:cNvPr id="20" name="Shape 17"/>
          <p:cNvSpPr/>
          <p:nvPr/>
        </p:nvSpPr>
        <p:spPr>
          <a:xfrm>
            <a:off x="603504" y="3044952"/>
            <a:ext cx="2540000" cy="533400"/>
          </a:xfrm>
          <a:prstGeom prst="rect">
            <a:avLst/>
          </a:prstGeom>
          <a:solidFill>
            <a:schemeClr val="accent6"/>
          </a:solidFill>
          <a:ln w="15875">
            <a:solidFill>
              <a:schemeClr val="accent1"/>
            </a:solidFill>
            <a:prstDash val="solid"/>
          </a:ln>
        </p:spPr>
      </p:sp>
      <p:sp>
        <p:nvSpPr>
          <p:cNvPr id="21" name="Text 18"/>
          <p:cNvSpPr txBox="1"/>
          <p:nvPr/>
        </p:nvSpPr>
        <p:spPr>
          <a:xfrm>
            <a:off x="722376" y="3044952"/>
            <a:ext cx="2357120" cy="533400"/>
          </a:xfrm>
          <a:prstGeom prst="rect">
            <a:avLst/>
          </a:prstGeom>
          <a:noFill/>
          <a:ln/>
        </p:spPr>
        <p:txBody>
          <a:bodyPr wrap="square" lIns="0" tIns="0" rIns="0" bIns="0" rtlCol="0" anchor="ctr"/>
          <a:lstStyle/>
          <a:p>
            <a:pPr indent="0" marL="0">
              <a:lnSpc>
                <a:spcPct val="110000"/>
              </a:lnSpc>
              <a:buNone/>
            </a:pPr>
            <a:r>
              <a:rPr lang="ko-KR" altLang="en-US" sz="1150" b="1" dirty="0">
                <a:solidFill>
                  <a:schemeClr val="bg1"/>
                </a:solidFill>
              </a:rPr>
              <a:t>WBP_GridContainerSection</a:t>
            </a:r>
            <a:endParaRPr lang="ko-KR" sz="1200" dirty="0"/>
          </a:p>
          <a:p>
            <a:pPr indent="0" marL="0">
              <a:lnSpc>
                <a:spcPct val="110000"/>
              </a:lnSpc>
              <a:buNone/>
            </a:pPr>
            <a:r>
              <a:rPr lang="ko-KR" altLang="en-US" sz="1100" dirty="0">
                <a:solidFill>
                  <a:srgbClr val="A3ADBA"/>
                </a:solidFill>
              </a:rPr>
              <a:t>장비 장착 → DrawLayout</a:t>
            </a:r>
            <a:endParaRPr lang="ko-KR" sz="1200" dirty="0"/>
          </a:p>
        </p:txBody>
      </p:sp>
      <p:sp>
        <p:nvSpPr>
          <p:cNvPr id="22" name="Shape 19"/>
          <p:cNvSpPr/>
          <p:nvPr/>
        </p:nvSpPr>
        <p:spPr>
          <a:xfrm>
            <a:off x="603504" y="3832352"/>
            <a:ext cx="2540000" cy="533400"/>
          </a:xfrm>
          <a:prstGeom prst="rect">
            <a:avLst/>
          </a:prstGeom>
          <a:solidFill>
            <a:schemeClr val="accent6"/>
          </a:solidFill>
          <a:ln w="15875">
            <a:solidFill>
              <a:schemeClr val="accent1"/>
            </a:solidFill>
            <a:prstDash val="solid"/>
          </a:ln>
        </p:spPr>
      </p:sp>
      <p:sp>
        <p:nvSpPr>
          <p:cNvPr id="23" name="Text 20"/>
          <p:cNvSpPr txBox="1"/>
          <p:nvPr/>
        </p:nvSpPr>
        <p:spPr>
          <a:xfrm>
            <a:off x="722376" y="3832352"/>
            <a:ext cx="2357120" cy="533400"/>
          </a:xfrm>
          <a:prstGeom prst="rect">
            <a:avLst/>
          </a:prstGeom>
          <a:noFill/>
          <a:ln/>
        </p:spPr>
        <p:txBody>
          <a:bodyPr wrap="square" lIns="0" tIns="0" rIns="0" bIns="0" rtlCol="0" anchor="ctr"/>
          <a:lstStyle/>
          <a:p>
            <a:pPr indent="0" marL="0">
              <a:lnSpc>
                <a:spcPct val="110000"/>
              </a:lnSpc>
              <a:buNone/>
            </a:pPr>
            <a:r>
              <a:rPr lang="ko-KR" altLang="en-US" sz="1150" b="1" dirty="0">
                <a:solidFill>
                  <a:schemeClr val="bg1"/>
                </a:solidFill>
              </a:rPr>
              <a:t>WBP_GridLayout</a:t>
            </a:r>
            <a:endParaRPr lang="ko-KR" sz="1200" dirty="0"/>
          </a:p>
          <a:p>
            <a:pPr indent="0" marL="0">
              <a:lnSpc>
                <a:spcPct val="110000"/>
              </a:lnSpc>
              <a:buNone/>
            </a:pPr>
            <a:r>
              <a:rPr lang="ko-KR" altLang="en-US" sz="1100" dirty="0">
                <a:solidFill>
                  <a:srgbClr val="A3ADBA"/>
                </a:solidFill>
              </a:rPr>
              <a:t>DrawLayout(RowName)</a:t>
            </a:r>
            <a:endParaRPr lang="ko-KR" sz="1200" dirty="0"/>
          </a:p>
        </p:txBody>
      </p:sp>
      <p:sp>
        <p:nvSpPr>
          <p:cNvPr id="24" name="Shape 21"/>
          <p:cNvSpPr/>
          <p:nvPr/>
        </p:nvSpPr>
        <p:spPr>
          <a:xfrm>
            <a:off x="603504" y="4619752"/>
            <a:ext cx="2540000" cy="533400"/>
          </a:xfrm>
          <a:prstGeom prst="rect">
            <a:avLst/>
          </a:prstGeom>
          <a:solidFill>
            <a:schemeClr val="accent6"/>
          </a:solidFill>
          <a:ln w="15875">
            <a:solidFill>
              <a:schemeClr val="accent1"/>
            </a:solidFill>
            <a:prstDash val="solid"/>
          </a:ln>
        </p:spPr>
      </p:sp>
      <p:sp>
        <p:nvSpPr>
          <p:cNvPr id="25" name="Text 22"/>
          <p:cNvSpPr txBox="1"/>
          <p:nvPr/>
        </p:nvSpPr>
        <p:spPr>
          <a:xfrm>
            <a:off x="722376" y="4619752"/>
            <a:ext cx="2357120" cy="533400"/>
          </a:xfrm>
          <a:prstGeom prst="rect">
            <a:avLst/>
          </a:prstGeom>
          <a:noFill/>
          <a:ln/>
        </p:spPr>
        <p:txBody>
          <a:bodyPr wrap="square" lIns="0" tIns="0" rIns="0" bIns="0" rtlCol="0" anchor="ctr"/>
          <a:lstStyle/>
          <a:p>
            <a:pPr indent="0" marL="0">
              <a:lnSpc>
                <a:spcPct val="110000"/>
              </a:lnSpc>
              <a:buNone/>
            </a:pPr>
            <a:r>
              <a:rPr lang="ko-KR" altLang="en-US" sz="1150" b="1" dirty="0">
                <a:solidFill>
                  <a:schemeClr val="bg1"/>
                </a:solidFill>
              </a:rPr>
              <a:t>WBP_GridSlot</a:t>
            </a:r>
            <a:endParaRPr lang="ko-KR" sz="1200" dirty="0"/>
          </a:p>
          <a:p>
            <a:pPr indent="0" marL="0">
              <a:lnSpc>
                <a:spcPct val="110000"/>
              </a:lnSpc>
              <a:buNone/>
            </a:pPr>
            <a:r>
              <a:rPr lang="ko-KR" altLang="en-US" sz="1100" dirty="0">
                <a:solidFill>
                  <a:srgbClr val="A3ADBA"/>
                </a:solidFill>
              </a:rPr>
              <a:t>칸 묶음 · 드래그 판정</a:t>
            </a:r>
            <a:endParaRPr lang="ko-KR" sz="1200" dirty="0"/>
          </a:p>
        </p:txBody>
      </p:sp>
      <p:sp>
        <p:nvSpPr>
          <p:cNvPr id="26" name="Shape 23"/>
          <p:cNvSpPr/>
          <p:nvPr/>
        </p:nvSpPr>
        <p:spPr>
          <a:xfrm>
            <a:off x="603504" y="5407152"/>
            <a:ext cx="2540000" cy="533400"/>
          </a:xfrm>
          <a:prstGeom prst="rect">
            <a:avLst/>
          </a:prstGeom>
          <a:solidFill>
            <a:schemeClr val="accent6"/>
          </a:solidFill>
          <a:ln w="15875">
            <a:solidFill>
              <a:schemeClr val="accent1"/>
            </a:solidFill>
            <a:prstDash val="solid"/>
          </a:ln>
        </p:spPr>
      </p:sp>
      <p:sp>
        <p:nvSpPr>
          <p:cNvPr id="27" name="Text 24"/>
          <p:cNvSpPr txBox="1"/>
          <p:nvPr/>
        </p:nvSpPr>
        <p:spPr>
          <a:xfrm>
            <a:off x="722376" y="5407152"/>
            <a:ext cx="2357120" cy="533400"/>
          </a:xfrm>
          <a:prstGeom prst="rect">
            <a:avLst/>
          </a:prstGeom>
          <a:noFill/>
          <a:ln/>
        </p:spPr>
        <p:txBody>
          <a:bodyPr wrap="square" lIns="0" tIns="0" rIns="0" bIns="0" rtlCol="0" anchor="ctr"/>
          <a:lstStyle/>
          <a:p>
            <a:pPr indent="0" marL="0">
              <a:lnSpc>
                <a:spcPct val="110000"/>
              </a:lnSpc>
              <a:buNone/>
            </a:pPr>
            <a:r>
              <a:rPr lang="ko-KR" altLang="en-US" sz="1150" b="1" dirty="0">
                <a:solidFill>
                  <a:schemeClr val="bg1"/>
                </a:solidFill>
              </a:rPr>
              <a:t>WBP_GridCell</a:t>
            </a:r>
            <a:endParaRPr lang="ko-KR" sz="1200" dirty="0"/>
          </a:p>
          <a:p>
            <a:pPr indent="0" marL="0">
              <a:lnSpc>
                <a:spcPct val="110000"/>
              </a:lnSpc>
              <a:buNone/>
            </a:pPr>
            <a:r>
              <a:rPr lang="ko-KR" altLang="en-US" sz="1100" dirty="0">
                <a:solidFill>
                  <a:srgbClr val="A3ADBA"/>
                </a:solidFill>
              </a:rPr>
              <a:t>한 칸 표시</a:t>
            </a:r>
            <a:endParaRPr lang="ko-KR" sz="1200" dirty="0"/>
          </a:p>
        </p:txBody>
      </p:sp>
      <p:sp>
        <p:nvSpPr>
          <p:cNvPr id="28" name="Shape 25"/>
          <p:cNvSpPr/>
          <p:nvPr/>
        </p:nvSpPr>
        <p:spPr>
          <a:xfrm>
            <a:off x="3588004" y="3832352"/>
            <a:ext cx="2159000" cy="533400"/>
          </a:xfrm>
          <a:prstGeom prst="rect">
            <a:avLst/>
          </a:prstGeom>
          <a:solidFill>
            <a:schemeClr val="accent6"/>
          </a:solidFill>
          <a:ln w="15875">
            <a:solidFill>
              <a:srgbClr val="5C6670"/>
            </a:solidFill>
            <a:prstDash val="solid"/>
          </a:ln>
        </p:spPr>
      </p:sp>
      <p:sp>
        <p:nvSpPr>
          <p:cNvPr id="29" name="Text 26"/>
          <p:cNvSpPr txBox="1"/>
          <p:nvPr/>
        </p:nvSpPr>
        <p:spPr>
          <a:xfrm>
            <a:off x="3706876" y="3832352"/>
            <a:ext cx="1976120" cy="533400"/>
          </a:xfrm>
          <a:prstGeom prst="rect">
            <a:avLst/>
          </a:prstGeom>
          <a:noFill/>
          <a:ln/>
        </p:spPr>
        <p:txBody>
          <a:bodyPr wrap="square" lIns="0" tIns="0" rIns="0" bIns="0" rtlCol="0" anchor="ctr"/>
          <a:lstStyle/>
          <a:p>
            <a:pPr indent="0" marL="0">
              <a:lnSpc>
                <a:spcPct val="110000"/>
              </a:lnSpc>
              <a:buNone/>
            </a:pPr>
            <a:r>
              <a:rPr lang="ko-KR" altLang="en-US" sz="1150" b="1" dirty="0">
                <a:solidFill>
                  <a:schemeClr val="bg1"/>
                </a:solidFill>
              </a:rPr>
              <a:t>DT_GridLayoutData</a:t>
            </a:r>
            <a:endParaRPr lang="ko-KR" sz="1200" dirty="0"/>
          </a:p>
          <a:p>
            <a:pPr indent="0" marL="0">
              <a:lnSpc>
                <a:spcPct val="110000"/>
              </a:lnSpc>
              <a:buNone/>
            </a:pPr>
            <a:r>
              <a:rPr lang="ko-KR" altLang="en-US" sz="1100" dirty="0">
                <a:solidFill>
                  <a:srgbClr val="A3ADBA"/>
                </a:solidFill>
              </a:rPr>
              <a:t>72행 · 섹션 배치</a:t>
            </a:r>
            <a:endParaRPr lang="ko-KR" sz="1200" dirty="0"/>
          </a:p>
        </p:txBody>
      </p:sp>
      <p:sp>
        <p:nvSpPr>
          <p:cNvPr id="30" name="Shape 27"/>
          <p:cNvSpPr/>
          <p:nvPr/>
        </p:nvSpPr>
        <p:spPr>
          <a:xfrm>
            <a:off x="3588004" y="4619752"/>
            <a:ext cx="2159000" cy="533400"/>
          </a:xfrm>
          <a:prstGeom prst="rect">
            <a:avLst/>
          </a:prstGeom>
          <a:solidFill>
            <a:schemeClr val="accent6"/>
          </a:solidFill>
          <a:ln w="15875">
            <a:solidFill>
              <a:srgbClr val="5C6670"/>
            </a:solidFill>
            <a:prstDash val="solid"/>
          </a:ln>
        </p:spPr>
      </p:sp>
      <p:sp>
        <p:nvSpPr>
          <p:cNvPr id="31" name="Text 28"/>
          <p:cNvSpPr txBox="1"/>
          <p:nvPr/>
        </p:nvSpPr>
        <p:spPr>
          <a:xfrm>
            <a:off x="3706876" y="4619752"/>
            <a:ext cx="1976120" cy="533400"/>
          </a:xfrm>
          <a:prstGeom prst="rect">
            <a:avLst/>
          </a:prstGeom>
          <a:noFill/>
          <a:ln/>
        </p:spPr>
        <p:txBody>
          <a:bodyPr wrap="square" lIns="0" tIns="0" rIns="0" bIns="0" rtlCol="0" anchor="ctr"/>
          <a:lstStyle/>
          <a:p>
            <a:pPr indent="0" marL="0">
              <a:lnSpc>
                <a:spcPct val="110000"/>
              </a:lnSpc>
              <a:buNone/>
            </a:pPr>
            <a:r>
              <a:rPr lang="ko-KR" altLang="en-US" sz="1150" b="1" dirty="0">
                <a:solidFill>
                  <a:schemeClr val="bg1"/>
                </a:solidFill>
              </a:rPr>
              <a:t>BFL_Util</a:t>
            </a:r>
            <a:endParaRPr lang="ko-KR" sz="1200" dirty="0"/>
          </a:p>
          <a:p>
            <a:pPr indent="0" marL="0">
              <a:lnSpc>
                <a:spcPct val="110000"/>
              </a:lnSpc>
              <a:buNone/>
            </a:pPr>
            <a:r>
              <a:rPr lang="ko-KR" altLang="en-US" sz="1100" dirty="0">
                <a:solidFill>
                  <a:srgbClr val="A3ADBA"/>
                </a:solidFill>
              </a:rPr>
              <a:t>ToMatrix · GetUISetting</a:t>
            </a:r>
            <a:endParaRPr lang="ko-KR" sz="1200" dirty="0"/>
          </a:p>
        </p:txBody>
      </p:sp>
      <p:sp>
        <p:nvSpPr>
          <p:cNvPr id="32" name="Shape 29"/>
          <p:cNvSpPr/>
          <p:nvPr/>
        </p:nvSpPr>
        <p:spPr>
          <a:xfrm>
            <a:off x="3588004" y="5407152"/>
            <a:ext cx="2159000" cy="533400"/>
          </a:xfrm>
          <a:prstGeom prst="rect">
            <a:avLst/>
          </a:prstGeom>
          <a:solidFill>
            <a:schemeClr val="accent6"/>
          </a:solidFill>
          <a:ln w="15875">
            <a:solidFill>
              <a:srgbClr val="5C6670"/>
            </a:solidFill>
            <a:prstDash val="solid"/>
          </a:ln>
        </p:spPr>
      </p:sp>
      <p:sp>
        <p:nvSpPr>
          <p:cNvPr id="33" name="Text 30"/>
          <p:cNvSpPr txBox="1"/>
          <p:nvPr/>
        </p:nvSpPr>
        <p:spPr>
          <a:xfrm>
            <a:off x="3706876" y="5407152"/>
            <a:ext cx="1976120" cy="533400"/>
          </a:xfrm>
          <a:prstGeom prst="rect">
            <a:avLst/>
          </a:prstGeom>
          <a:noFill/>
          <a:ln/>
        </p:spPr>
        <p:txBody>
          <a:bodyPr wrap="square" lIns="0" tIns="0" rIns="0" bIns="0" rtlCol="0" anchor="ctr"/>
          <a:lstStyle/>
          <a:p>
            <a:pPr indent="0" marL="0">
              <a:lnSpc>
                <a:spcPct val="110000"/>
              </a:lnSpc>
              <a:buNone/>
            </a:pPr>
            <a:r>
              <a:rPr lang="ko-KR" altLang="en-US" sz="1150" b="1" dirty="0">
                <a:solidFill>
                  <a:schemeClr val="bg1"/>
                </a:solidFill>
              </a:rPr>
              <a:t>DA_UISetting</a:t>
            </a:r>
            <a:endParaRPr lang="ko-KR" sz="1200" dirty="0"/>
          </a:p>
          <a:p>
            <a:pPr indent="0" marL="0">
              <a:lnSpc>
                <a:spcPct val="110000"/>
              </a:lnSpc>
              <a:buNone/>
            </a:pPr>
            <a:r>
              <a:rPr lang="ko-KR" altLang="en-US" sz="1100" dirty="0">
                <a:solidFill>
                  <a:srgbClr val="A3ADBA"/>
                </a:solidFill>
              </a:rPr>
              <a:t>CellSize = 64</a:t>
            </a:r>
            <a:endParaRPr lang="ko-KR" sz="1200" dirty="0"/>
          </a:p>
        </p:txBody>
      </p:sp>
      <p:sp>
        <p:nvSpPr>
          <p:cNvPr id="34" name="Shape 31"/>
          <p:cNvSpPr/>
          <p:nvPr/>
        </p:nvSpPr>
        <p:spPr>
          <a:xfrm>
            <a:off x="1873504" y="3578352"/>
            <a:ext cx="0" cy="254000"/>
          </a:xfrm>
          <a:prstGeom prst="line">
            <a:avLst/>
          </a:prstGeom>
          <a:noFill/>
          <a:ln w="22225">
            <a:solidFill>
              <a:srgbClr val="C3CCD7"/>
            </a:solidFill>
            <a:prstDash val="solid"/>
            <a:tailEnd type="triangle"/>
          </a:ln>
        </p:spPr>
      </p:sp>
      <p:sp>
        <p:nvSpPr>
          <p:cNvPr id="35" name="Shape 32"/>
          <p:cNvSpPr/>
          <p:nvPr/>
        </p:nvSpPr>
        <p:spPr>
          <a:xfrm>
            <a:off x="1873504" y="4365752"/>
            <a:ext cx="0" cy="254000"/>
          </a:xfrm>
          <a:prstGeom prst="line">
            <a:avLst/>
          </a:prstGeom>
          <a:noFill/>
          <a:ln w="22225">
            <a:solidFill>
              <a:srgbClr val="C3CCD7"/>
            </a:solidFill>
            <a:prstDash val="solid"/>
            <a:tailEnd type="triangle"/>
          </a:ln>
        </p:spPr>
      </p:sp>
      <p:sp>
        <p:nvSpPr>
          <p:cNvPr id="36" name="Shape 33"/>
          <p:cNvSpPr/>
          <p:nvPr/>
        </p:nvSpPr>
        <p:spPr>
          <a:xfrm>
            <a:off x="1873504" y="5153152"/>
            <a:ext cx="0" cy="254000"/>
          </a:xfrm>
          <a:prstGeom prst="line">
            <a:avLst/>
          </a:prstGeom>
          <a:noFill/>
          <a:ln w="22225">
            <a:solidFill>
              <a:srgbClr val="C3CCD7"/>
            </a:solidFill>
            <a:prstDash val="solid"/>
            <a:tailEnd type="triangle"/>
          </a:ln>
        </p:spPr>
      </p:sp>
      <p:sp>
        <p:nvSpPr>
          <p:cNvPr id="37" name="Shape 34"/>
          <p:cNvSpPr/>
          <p:nvPr/>
        </p:nvSpPr>
        <p:spPr>
          <a:xfrm>
            <a:off x="3143504" y="4099052"/>
            <a:ext cx="444500" cy="0"/>
          </a:xfrm>
          <a:prstGeom prst="line">
            <a:avLst/>
          </a:prstGeom>
          <a:noFill/>
          <a:ln w="22225">
            <a:solidFill>
              <a:srgbClr val="C3CCD7"/>
            </a:solidFill>
            <a:prstDash val="solid"/>
            <a:headEnd type="triangle"/>
          </a:ln>
        </p:spPr>
      </p:sp>
      <p:sp>
        <p:nvSpPr>
          <p:cNvPr id="38" name="Shape 35"/>
          <p:cNvSpPr/>
          <p:nvPr/>
        </p:nvSpPr>
        <p:spPr>
          <a:xfrm>
            <a:off x="3143504" y="4886452"/>
            <a:ext cx="444500" cy="0"/>
          </a:xfrm>
          <a:prstGeom prst="line">
            <a:avLst/>
          </a:prstGeom>
          <a:noFill/>
          <a:ln w="22225">
            <a:solidFill>
              <a:srgbClr val="C3CCD7"/>
            </a:solidFill>
            <a:prstDash val="solid"/>
            <a:headEnd type="triangle"/>
          </a:ln>
        </p:spPr>
      </p:sp>
      <p:sp>
        <p:nvSpPr>
          <p:cNvPr id="39" name="Shape 36"/>
          <p:cNvSpPr/>
          <p:nvPr/>
        </p:nvSpPr>
        <p:spPr>
          <a:xfrm>
            <a:off x="4667504" y="5153152"/>
            <a:ext cx="0" cy="254000"/>
          </a:xfrm>
          <a:prstGeom prst="line">
            <a:avLst/>
          </a:prstGeom>
          <a:noFill/>
          <a:ln w="22225">
            <a:solidFill>
              <a:srgbClr val="C3CCD7"/>
            </a:solidFill>
            <a:prstDash val="solid"/>
            <a:headEnd type="triangle"/>
          </a:ln>
        </p:spPr>
      </p:sp>
      <p:sp>
        <p:nvSpPr>
          <p:cNvPr id="40" name="Text 37"/>
          <p:cNvSpPr txBox="1"/>
          <p:nvPr/>
        </p:nvSpPr>
        <p:spPr>
          <a:xfrm>
            <a:off x="1987804" y="3597402"/>
            <a:ext cx="1554480" cy="228600"/>
          </a:xfrm>
          <a:prstGeom prst="rect">
            <a:avLst/>
          </a:prstGeom>
          <a:noFill/>
          <a:ln/>
        </p:spPr>
        <p:txBody>
          <a:bodyPr wrap="square" lIns="0" tIns="0" rIns="0" bIns="0" rtlCol="0" anchor="t"/>
          <a:lstStyle/>
          <a:p>
            <a:pPr indent="0" marL="0">
              <a:lnSpc>
                <a:spcPct val="120000"/>
              </a:lnSpc>
              <a:buNone/>
            </a:pPr>
            <a:r>
              <a:rPr lang="ko-KR" altLang="en-US" sz="1050" dirty="0">
                <a:solidFill>
                  <a:srgbClr val="A3ADBA"/>
                </a:solidFill>
              </a:rPr>
              <a:t>ItemName 전달</a:t>
            </a:r>
            <a:endParaRPr lang="ko-KR" sz="1050" dirty="0"/>
          </a:p>
        </p:txBody>
      </p:sp>
      <p:sp>
        <p:nvSpPr>
          <p:cNvPr id="41" name="Text 38"/>
          <p:cNvSpPr txBox="1"/>
          <p:nvPr/>
        </p:nvSpPr>
        <p:spPr>
          <a:xfrm>
            <a:off x="1987804" y="4384802"/>
            <a:ext cx="1554480" cy="228600"/>
          </a:xfrm>
          <a:prstGeom prst="rect">
            <a:avLst/>
          </a:prstGeom>
          <a:noFill/>
          <a:ln/>
        </p:spPr>
        <p:txBody>
          <a:bodyPr wrap="square" lIns="0" tIns="0" rIns="0" bIns="0" rtlCol="0" anchor="t"/>
          <a:lstStyle/>
          <a:p>
            <a:pPr indent="0" marL="0">
              <a:lnSpc>
                <a:spcPct val="120000"/>
              </a:lnSpc>
              <a:buNone/>
            </a:pPr>
            <a:r>
              <a:rPr lang="ko-KR" altLang="en-US" sz="1050" dirty="0">
                <a:solidFill>
                  <a:srgbClr val="A3ADBA"/>
                </a:solidFill>
              </a:rPr>
              <a:t>섹션 수만큼 생성</a:t>
            </a:r>
            <a:endParaRPr lang="ko-KR" sz="1050" dirty="0"/>
          </a:p>
        </p:txBody>
      </p:sp>
      <p:sp>
        <p:nvSpPr>
          <p:cNvPr id="42" name="Text 39"/>
          <p:cNvSpPr txBox="1"/>
          <p:nvPr/>
        </p:nvSpPr>
        <p:spPr>
          <a:xfrm>
            <a:off x="1987804" y="5172202"/>
            <a:ext cx="1554480" cy="228600"/>
          </a:xfrm>
          <a:prstGeom prst="rect">
            <a:avLst/>
          </a:prstGeom>
          <a:noFill/>
          <a:ln/>
        </p:spPr>
        <p:txBody>
          <a:bodyPr wrap="square" lIns="0" tIns="0" rIns="0" bIns="0" rtlCol="0" anchor="t"/>
          <a:lstStyle/>
          <a:p>
            <a:pPr indent="0" marL="0">
              <a:lnSpc>
                <a:spcPct val="120000"/>
              </a:lnSpc>
              <a:buNone/>
            </a:pPr>
            <a:r>
              <a:rPr lang="ko-KR" altLang="en-US" sz="1050" dirty="0">
                <a:solidFill>
                  <a:srgbClr val="A3ADBA"/>
                </a:solidFill>
              </a:rPr>
              <a:t>가로×세로 칸 생성</a:t>
            </a:r>
            <a:endParaRPr lang="ko-KR" sz="1050" dirty="0"/>
          </a:p>
        </p:txBody>
      </p:sp>
      <p:sp>
        <p:nvSpPr>
          <p:cNvPr id="43" name="Shape 40"/>
          <p:cNvSpPr/>
          <p:nvPr/>
        </p:nvSpPr>
        <p:spPr>
          <a:xfrm>
            <a:off x="6199632" y="2724912"/>
            <a:ext cx="5532120" cy="3538728"/>
          </a:xfrm>
          <a:prstGeom prst="rect">
            <a:avLst/>
          </a:prstGeom>
          <a:solidFill>
            <a:schemeClr val="tx2"/>
          </a:solidFill>
          <a:ln w="9525">
            <a:solidFill>
              <a:srgbClr val="2A2F36"/>
            </a:solidFill>
            <a:prstDash val="solid"/>
          </a:ln>
        </p:spPr>
      </p:sp>
      <p:sp>
        <p:nvSpPr>
          <p:cNvPr id="44" name="Text 41"/>
          <p:cNvSpPr txBox="1"/>
          <p:nvPr/>
        </p:nvSpPr>
        <p:spPr>
          <a:xfrm>
            <a:off x="6419088" y="2834640"/>
            <a:ext cx="5120640" cy="256032"/>
          </a:xfrm>
          <a:prstGeom prst="rect">
            <a:avLst/>
          </a:prstGeom>
          <a:noFill/>
          <a:ln/>
        </p:spPr>
        <p:txBody>
          <a:bodyPr wrap="square" lIns="0" tIns="0" rIns="0" bIns="0" rtlCol="0" anchor="t"/>
          <a:lstStyle/>
          <a:p>
            <a:pPr indent="0" marL="0">
              <a:lnSpc>
                <a:spcPct val="120000"/>
              </a:lnSpc>
              <a:buNone/>
            </a:pPr>
            <a:r>
              <a:rPr lang="ko-KR" altLang="en-US" sz="1200" b="1" dirty="0">
                <a:solidFill>
                  <a:schemeClr val="bg1"/>
                </a:solidFill>
              </a:rPr>
              <a:t>DT 행 → 실제 칸 배치</a:t>
            </a:r>
            <a:endParaRPr lang="ko-KR" sz="1200" dirty="0"/>
          </a:p>
        </p:txBody>
      </p:sp>
      <p:pic>
        <p:nvPicPr>
          <p:cNvPr id="45" name="DARAssault 실제 화면" descr="/tmp/claude-0/-home-claude-extractiongame-fin/818058c5-96e2-5afe-aef3-e35b23d32e50/scratchpad/pptx/assets/crop_chestrig.png">    </p:cNvPr>
          <p:cNvPicPr>
            <a:picLocks noChangeAspect="1"/>
          </p:cNvPicPr>
          <p:nvPr/>
        </p:nvPicPr>
        <p:blipFill>
          <a:blip r:embed="rId1"/>
          <a:stretch>
            <a:fillRect/>
          </a:stretch>
        </p:blipFill>
        <p:spPr>
          <a:xfrm>
            <a:off x="6495913" y="3182112"/>
            <a:ext cx="2679107" cy="2514600"/>
          </a:xfrm>
          <a:prstGeom prst="rect">
            <a:avLst/>
          </a:prstGeom>
        </p:spPr>
      </p:pic>
      <p:pic>
        <p:nvPicPr>
          <p:cNvPr id="46" name="DRCAdvancedRecon 재구성" descr="/tmp/claude-0/-home-claude-extractiongame-fin/818058c5-96e2-5afe-aef3-e35b23d32e50/scratchpad/pptx/assets/drc_recon_amber.png">    </p:cNvPr>
          <p:cNvPicPr>
            <a:picLocks noChangeAspect="1"/>
          </p:cNvPicPr>
          <p:nvPr/>
        </p:nvPicPr>
        <p:blipFill>
          <a:blip r:embed="rId2"/>
          <a:stretch>
            <a:fillRect/>
          </a:stretch>
        </p:blipFill>
        <p:spPr>
          <a:xfrm>
            <a:off x="9586500" y="3182112"/>
            <a:ext cx="1848971" cy="2514600"/>
          </a:xfrm>
          <a:prstGeom prst="rect">
            <a:avLst/>
          </a:prstGeom>
        </p:spPr>
      </p:pic>
      <p:sp>
        <p:nvSpPr>
          <p:cNvPr id="47" name="Text 42"/>
          <p:cNvSpPr txBox="1"/>
          <p:nvPr/>
        </p:nvSpPr>
        <p:spPr>
          <a:xfrm>
            <a:off x="6404473" y="5751576"/>
            <a:ext cx="2861987" cy="384048"/>
          </a:xfrm>
          <a:prstGeom prst="rect">
            <a:avLst/>
          </a:prstGeom>
          <a:noFill/>
          <a:ln/>
        </p:spPr>
        <p:txBody>
          <a:bodyPr wrap="square" lIns="0" tIns="0" rIns="0" bIns="0" rtlCol="0" anchor="t"/>
          <a:lstStyle/>
          <a:p>
            <a:pPr algn="ctr" indent="0" marL="0">
              <a:lnSpc>
                <a:spcPct val="105000"/>
              </a:lnSpc>
              <a:buNone/>
            </a:pPr>
            <a:r>
              <a:rPr lang="ko-KR" altLang="en-US" sz="1050" dirty="0">
                <a:solidFill>
                  <a:schemeClr val="bg1"/>
                </a:solidFill>
              </a:rPr>
              <a:t>DARAssault · 섹션 7개</a:t>
            </a:r>
            <a:endParaRPr lang="ko-KR" sz="1050" dirty="0"/>
          </a:p>
          <a:p>
            <a:pPr algn="ctr" indent="0" marL="0">
              <a:lnSpc>
                <a:spcPct val="105000"/>
              </a:lnSpc>
              <a:buNone/>
            </a:pPr>
            <a:r>
              <a:rPr lang="ko-KR" altLang="en-US" sz="1050" dirty="0">
                <a:solidFill>
                  <a:schemeClr val="bg2"/>
                </a:solidFill>
              </a:rPr>
              <a:t>실제 게임 화면</a:t>
            </a:r>
            <a:endParaRPr lang="ko-KR" sz="1050" dirty="0"/>
          </a:p>
        </p:txBody>
      </p:sp>
      <p:sp>
        <p:nvSpPr>
          <p:cNvPr id="48" name="Text 43"/>
          <p:cNvSpPr txBox="1"/>
          <p:nvPr/>
        </p:nvSpPr>
        <p:spPr>
          <a:xfrm>
            <a:off x="9266460" y="5751576"/>
            <a:ext cx="2489051" cy="384048"/>
          </a:xfrm>
          <a:prstGeom prst="rect">
            <a:avLst/>
          </a:prstGeom>
          <a:noFill/>
          <a:ln/>
        </p:spPr>
        <p:txBody>
          <a:bodyPr wrap="square" lIns="0" tIns="0" rIns="0" bIns="0" rtlCol="0" anchor="t"/>
          <a:lstStyle/>
          <a:p>
            <a:pPr algn="ctr" indent="0" marL="0">
              <a:lnSpc>
                <a:spcPct val="105000"/>
              </a:lnSpc>
              <a:buNone/>
            </a:pPr>
            <a:r>
              <a:rPr lang="ko-KR" altLang="en-US" sz="1050" dirty="0">
                <a:solidFill>
                  <a:schemeClr val="bg1"/>
                </a:solidFill>
              </a:rPr>
              <a:t>DRCAdvancedRecon · 반 칸</a:t>
            </a:r>
            <a:endParaRPr lang="ko-KR" sz="1050" dirty="0"/>
          </a:p>
          <a:p>
            <a:pPr algn="ctr" indent="0" marL="0">
              <a:lnSpc>
                <a:spcPct val="105000"/>
              </a:lnSpc>
              <a:buNone/>
            </a:pPr>
            <a:r>
              <a:rPr lang="ko-KR" altLang="en-US" sz="1050" dirty="0">
                <a:solidFill>
                  <a:schemeClr val="bg2"/>
                </a:solidFill>
              </a:rPr>
              <a:t>DT 데이터로 재구성</a:t>
            </a:r>
            <a:endParaRPr lang="ko-KR" sz="105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02 · GRID INVENTORY</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칸 배치 · 핵심 구현</a:t>
            </a:r>
            <a:endParaRPr lang="en-US" sz="2800" dirty="0"/>
          </a:p>
        </p:txBody>
      </p:sp>
      <p:sp>
        <p:nvSpPr>
          <p:cNvPr id="5" name="Shape 2"/>
          <p:cNvSpPr/>
          <p:nvPr/>
        </p:nvSpPr>
        <p:spPr>
          <a:xfrm>
            <a:off x="457200" y="1417320"/>
            <a:ext cx="6035040" cy="3017520"/>
          </a:xfrm>
          <a:prstGeom prst="rect">
            <a:avLst/>
          </a:prstGeom>
          <a:solidFill>
            <a:srgbClr val="0A0C0E"/>
          </a:solidFill>
          <a:ln w="9525">
            <a:solidFill>
              <a:srgbClr val="2A2F36"/>
            </a:solidFill>
            <a:prstDash val="solid"/>
          </a:ln>
        </p:spPr>
      </p:sp>
      <p:sp>
        <p:nvSpPr>
          <p:cNvPr id="6" name="Text 3"/>
          <p:cNvSpPr txBox="1"/>
          <p:nvPr/>
        </p:nvSpPr>
        <p:spPr>
          <a:xfrm>
            <a:off x="640080" y="1572768"/>
            <a:ext cx="5760720" cy="2752344"/>
          </a:xfrm>
          <a:prstGeom prst="rect">
            <a:avLst/>
          </a:prstGeom>
          <a:noFill/>
          <a:ln/>
        </p:spPr>
        <p:txBody>
          <a:bodyPr wrap="square" lIns="0" tIns="0" rIns="0" bIns="0" rtlCol="0" anchor="t"/>
          <a:lstStyle/>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DrawLayout(RowName)    </a:t>
            </a:r>
            <a:pPr indent="0" marL="0">
              <a:lnSpc>
                <a:spcPct val="112000"/>
              </a:lnSpc>
              <a:buNone/>
            </a:pPr>
            <a:r>
              <a:rPr lang="ko-KR" altLang="en-US" sz="1150" dirty="0">
                <a:solidFill>
                  <a:srgbClr val="8592A3"/>
                </a:solidFill>
                <a:latin typeface="Consolas" pitchFamily="34" charset="0"/>
                <a:ea typeface="Consolas" pitchFamily="34" charset="-122"/>
                <a:cs typeface="Consolas" pitchFamily="34" charset="-120"/>
              </a:rPr>
              <a:t>// 예: "Gear_ChestRig_DARAssault"</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  Row = GetDataTableRow(DT_GridLayoutData, RowName)</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  for Section in Row.LayoutSections:</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    Slot = CreateWidget(WBP_GridSlot, Section.SectionSize)</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    Pos  = ToMatrix(Section.GridPosition, bHalfRow, bHalfCol)</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    Span = ToMatrix(Section.SectionSize)</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    S = GridPanel.AddChildToGrid(Slot, Pos.Row, Pos.Column)</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    S.SetRowSpan(Span.Row);  S.SetColumnSpan(Span.Column)</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 </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ToMatrix(P, HalfRow, HalfCol)         </a:t>
            </a:r>
            <a:pPr indent="0" marL="0">
              <a:lnSpc>
                <a:spcPct val="112000"/>
              </a:lnSpc>
              <a:buNone/>
            </a:pPr>
            <a:r>
              <a:rPr lang="ko-KR" altLang="en-US" sz="1150" dirty="0">
                <a:solidFill>
                  <a:srgbClr val="8592A3"/>
                </a:solidFill>
                <a:latin typeface="Consolas" pitchFamily="34" charset="0"/>
                <a:ea typeface="Consolas" pitchFamily="34" charset="-122"/>
                <a:cs typeface="Consolas" pitchFamily="34" charset="-120"/>
              </a:rPr>
              <a:t>// BFL_Util</a:t>
            </a:r>
            <a:endParaRPr lang="ko-KR" sz="1150" dirty="0"/>
          </a:p>
          <a:p>
            <a:pPr indent="0" marL="0">
              <a:lnSpc>
                <a:spcPct val="112000"/>
              </a:lnSpc>
              <a:buNone/>
            </a:pPr>
            <a:r>
              <a:rPr lang="ko-KR" altLang="en-US" sz="1150" dirty="0">
                <a:solidFill>
                  <a:srgbClr val="D5DDE7"/>
                </a:solidFill>
                <a:latin typeface="Consolas" pitchFamily="34" charset="0"/>
                <a:ea typeface="Consolas" pitchFamily="34" charset="-122"/>
                <a:cs typeface="Consolas" pitchFamily="34" charset="-120"/>
              </a:rPr>
              <a:t>  return Row = P.Y*2 + HalfRow,  Column = P.X*2 + HalfCol</a:t>
            </a:r>
            <a:endParaRPr lang="ko-KR" sz="1150" dirty="0"/>
          </a:p>
        </p:txBody>
      </p:sp>
      <p:sp>
        <p:nvSpPr>
          <p:cNvPr id="7" name="Shape 4"/>
          <p:cNvSpPr/>
          <p:nvPr/>
        </p:nvSpPr>
        <p:spPr>
          <a:xfrm>
            <a:off x="6702552" y="1417320"/>
            <a:ext cx="5029200" cy="3017520"/>
          </a:xfrm>
          <a:prstGeom prst="rect">
            <a:avLst/>
          </a:prstGeom>
          <a:solidFill>
            <a:schemeClr val="tx2"/>
          </a:solidFill>
          <a:ln w="9525">
            <a:solidFill>
              <a:srgbClr val="2A2F36"/>
            </a:solidFill>
            <a:prstDash val="solid"/>
          </a:ln>
        </p:spPr>
      </p:sp>
      <p:sp>
        <p:nvSpPr>
          <p:cNvPr id="8" name="Shape 5"/>
          <p:cNvSpPr/>
          <p:nvPr/>
        </p:nvSpPr>
        <p:spPr>
          <a:xfrm>
            <a:off x="6702552" y="1417320"/>
            <a:ext cx="182880" cy="0"/>
          </a:xfrm>
          <a:prstGeom prst="line">
            <a:avLst/>
          </a:prstGeom>
          <a:noFill/>
          <a:ln w="22225">
            <a:solidFill>
              <a:schemeClr val="accent1"/>
            </a:solidFill>
            <a:prstDash val="solid"/>
          </a:ln>
        </p:spPr>
      </p:sp>
      <p:sp>
        <p:nvSpPr>
          <p:cNvPr id="9" name="Shape 6"/>
          <p:cNvSpPr/>
          <p:nvPr/>
        </p:nvSpPr>
        <p:spPr>
          <a:xfrm>
            <a:off x="6702552" y="1417320"/>
            <a:ext cx="0" cy="182880"/>
          </a:xfrm>
          <a:prstGeom prst="line">
            <a:avLst/>
          </a:prstGeom>
          <a:noFill/>
          <a:ln w="22225">
            <a:solidFill>
              <a:schemeClr val="accent1"/>
            </a:solidFill>
            <a:prstDash val="solid"/>
          </a:ln>
        </p:spPr>
      </p:sp>
      <p:sp>
        <p:nvSpPr>
          <p:cNvPr id="10" name="Shape 7"/>
          <p:cNvSpPr/>
          <p:nvPr/>
        </p:nvSpPr>
        <p:spPr>
          <a:xfrm>
            <a:off x="11548872" y="4434840"/>
            <a:ext cx="182880" cy="0"/>
          </a:xfrm>
          <a:prstGeom prst="line">
            <a:avLst/>
          </a:prstGeom>
          <a:noFill/>
          <a:ln w="22225">
            <a:solidFill>
              <a:schemeClr val="accent1"/>
            </a:solidFill>
            <a:prstDash val="solid"/>
          </a:ln>
        </p:spPr>
      </p:sp>
      <p:sp>
        <p:nvSpPr>
          <p:cNvPr id="11" name="Shape 8"/>
          <p:cNvSpPr/>
          <p:nvPr/>
        </p:nvSpPr>
        <p:spPr>
          <a:xfrm>
            <a:off x="11731752" y="4251960"/>
            <a:ext cx="0" cy="182880"/>
          </a:xfrm>
          <a:prstGeom prst="line">
            <a:avLst/>
          </a:prstGeom>
          <a:noFill/>
          <a:ln w="22225">
            <a:solidFill>
              <a:schemeClr val="accent1"/>
            </a:solidFill>
            <a:prstDash val="solid"/>
          </a:ln>
        </p:spPr>
      </p:sp>
      <p:sp>
        <p:nvSpPr>
          <p:cNvPr id="12" name="Text 9"/>
          <p:cNvSpPr txBox="1"/>
          <p:nvPr/>
        </p:nvSpPr>
        <p:spPr>
          <a:xfrm>
            <a:off x="6922008" y="1572768"/>
            <a:ext cx="459028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핵심</a:t>
            </a:r>
            <a:endParaRPr lang="ko-KR" sz="1450" dirty="0"/>
          </a:p>
        </p:txBody>
      </p:sp>
      <p:sp>
        <p:nvSpPr>
          <p:cNvPr id="13" name="Text 10"/>
          <p:cNvSpPr txBox="1"/>
          <p:nvPr/>
        </p:nvSpPr>
        <p:spPr>
          <a:xfrm>
            <a:off x="6922008" y="1947672"/>
            <a:ext cx="4590288" cy="2350008"/>
          </a:xfrm>
          <a:prstGeom prst="rect">
            <a:avLst/>
          </a:prstGeom>
          <a:noFill/>
          <a:ln/>
        </p:spPr>
        <p:txBody>
          <a:bodyPr wrap="square" lIns="0" tIns="0" rIns="0" bIns="0" rtlCol="0" anchor="t"/>
          <a:lstStyle/>
          <a:p>
            <a:pPr indent="0" marL="0">
              <a:lnSpc>
                <a:spcPct val="130000"/>
              </a:lnSpc>
              <a:spcAft>
                <a:spcPts val="900"/>
              </a:spcAft>
              <a:buNone/>
            </a:pPr>
            <a:r>
              <a:rPr lang="ko-KR" altLang="en-US" sz="1300" b="1" dirty="0">
                <a:solidFill>
                  <a:schemeClr val="accent1"/>
                </a:solidFill>
              </a:rPr>
              <a:t>입력  </a:t>
            </a:r>
            <a:pPr indent="0" marL="0">
              <a:lnSpc>
                <a:spcPct val="130000"/>
              </a:lnSpc>
              <a:spcAft>
                <a:spcPts val="900"/>
              </a:spcAft>
              <a:buNone/>
            </a:pPr>
            <a:r>
              <a:rPr lang="ko-KR" altLang="en-US" sz="1300" dirty="0">
                <a:solidFill>
                  <a:schemeClr val="bg1"/>
                </a:solidFill>
              </a:rPr>
              <a:t>DT 행 이름 하나 (장착한 장비의 ItemName)</a:t>
            </a:r>
            <a:endParaRPr lang="ko-KR" sz="1300" dirty="0"/>
          </a:p>
          <a:p>
            <a:pPr indent="0" marL="0">
              <a:lnSpc>
                <a:spcPct val="130000"/>
              </a:lnSpc>
              <a:spcAft>
                <a:spcPts val="900"/>
              </a:spcAft>
              <a:buNone/>
            </a:pPr>
            <a:r>
              <a:rPr lang="ko-KR" altLang="en-US" sz="1300" b="1" dirty="0">
                <a:solidFill>
                  <a:schemeClr val="accent1"/>
                </a:solidFill>
              </a:rPr>
              <a:t>처리  </a:t>
            </a:r>
            <a:pPr indent="0" marL="0">
              <a:lnSpc>
                <a:spcPct val="130000"/>
              </a:lnSpc>
              <a:spcAft>
                <a:spcPts val="900"/>
              </a:spcAft>
              <a:buNone/>
            </a:pPr>
            <a:r>
              <a:rPr lang="ko-KR" altLang="en-US" sz="1300" dirty="0">
                <a:solidFill>
                  <a:schemeClr val="bg1"/>
                </a:solidFill>
              </a:rPr>
              <a:t>섹션마다 슬롯 생성 → ToMatrix 2배 좌표 → GridPanel에 배치</a:t>
            </a:r>
            <a:endParaRPr lang="ko-KR" sz="1300" dirty="0"/>
          </a:p>
          <a:p>
            <a:pPr indent="0" marL="0">
              <a:lnSpc>
                <a:spcPct val="130000"/>
              </a:lnSpc>
              <a:spcAft>
                <a:spcPts val="900"/>
              </a:spcAft>
              <a:buNone/>
            </a:pPr>
            <a:r>
              <a:rPr lang="ko-KR" altLang="en-US" sz="1300" b="1" dirty="0">
                <a:solidFill>
                  <a:schemeClr val="accent1"/>
                </a:solidFill>
              </a:rPr>
              <a:t>결과  </a:t>
            </a:r>
            <a:pPr indent="0" marL="0">
              <a:lnSpc>
                <a:spcPct val="130000"/>
              </a:lnSpc>
              <a:spcAft>
                <a:spcPts val="900"/>
              </a:spcAft>
              <a:buNone/>
            </a:pPr>
            <a:r>
              <a:rPr lang="ko-KR" altLang="en-US" sz="1300" dirty="0">
                <a:solidFill>
                  <a:schemeClr val="bg1"/>
                </a:solidFill>
              </a:rPr>
              <a:t>72종 모두 같은 함수 하나로 그려진다</a:t>
            </a:r>
            <a:endParaRPr lang="ko-KR" sz="1300" dirty="0"/>
          </a:p>
          <a:p>
            <a:pPr indent="0" marL="0">
              <a:lnSpc>
                <a:spcPct val="130000"/>
              </a:lnSpc>
              <a:spcAft>
                <a:spcPts val="900"/>
              </a:spcAft>
              <a:buNone/>
            </a:pPr>
            <a:r>
              <a:rPr lang="ko-KR" altLang="en-US" sz="1300" dirty="0">
                <a:solidFill>
                  <a:schemeClr val="accent5"/>
                </a:solidFill>
              </a:rPr>
              <a:t>ToMatrix 한 줄(×2, 반 칸이면 +1)이 반 칸 배치의 전부</a:t>
            </a:r>
            <a:endParaRPr lang="ko-KR" sz="1300" dirty="0"/>
          </a:p>
        </p:txBody>
      </p:sp>
      <p:sp>
        <p:nvSpPr>
          <p:cNvPr id="14" name="Shape 11"/>
          <p:cNvSpPr/>
          <p:nvPr/>
        </p:nvSpPr>
        <p:spPr>
          <a:xfrm>
            <a:off x="457200" y="4754880"/>
            <a:ext cx="3636264" cy="1371600"/>
          </a:xfrm>
          <a:prstGeom prst="rect">
            <a:avLst/>
          </a:prstGeom>
          <a:solidFill>
            <a:schemeClr val="accent6"/>
          </a:solidFill>
          <a:ln/>
        </p:spPr>
      </p:sp>
      <p:sp>
        <p:nvSpPr>
          <p:cNvPr id="15" name="Text 12"/>
          <p:cNvSpPr txBox="1"/>
          <p:nvPr/>
        </p:nvSpPr>
        <p:spPr>
          <a:xfrm>
            <a:off x="685800" y="4754880"/>
            <a:ext cx="1325880" cy="1371600"/>
          </a:xfrm>
          <a:prstGeom prst="rect">
            <a:avLst/>
          </a:prstGeom>
          <a:noFill/>
          <a:ln/>
        </p:spPr>
        <p:txBody>
          <a:bodyPr wrap="square" lIns="0" tIns="0" rIns="0" bIns="0" rtlCol="0" anchor="ctr"/>
          <a:lstStyle/>
          <a:p>
            <a:pPr indent="0" marL="0">
              <a:lnSpc>
                <a:spcPct val="120000"/>
              </a:lnSpc>
              <a:buNone/>
            </a:pPr>
            <a:r>
              <a:rPr lang="ko-KR" altLang="en-US" sz="2400" b="1" dirty="0">
                <a:solidFill>
                  <a:schemeClr val="accent2"/>
                </a:solidFill>
              </a:rPr>
              <a:t>DT 1행</a:t>
            </a:r>
            <a:endParaRPr lang="ko-KR" sz="2400" dirty="0"/>
          </a:p>
        </p:txBody>
      </p:sp>
      <p:sp>
        <p:nvSpPr>
          <p:cNvPr id="16" name="Text 13"/>
          <p:cNvSpPr txBox="1"/>
          <p:nvPr/>
        </p:nvSpPr>
        <p:spPr>
          <a:xfrm>
            <a:off x="2011680" y="4754880"/>
            <a:ext cx="1944624" cy="1371600"/>
          </a:xfrm>
          <a:prstGeom prst="rect">
            <a:avLst/>
          </a:prstGeom>
          <a:noFill/>
          <a:ln/>
        </p:spPr>
        <p:txBody>
          <a:bodyPr wrap="square" lIns="0" tIns="0" rIns="0" bIns="0" rtlCol="0" anchor="ctr"/>
          <a:lstStyle/>
          <a:p>
            <a:pPr indent="0" marL="0">
              <a:lnSpc>
                <a:spcPct val="115000"/>
              </a:lnSpc>
              <a:buNone/>
            </a:pPr>
            <a:r>
              <a:rPr lang="ko-KR" altLang="en-US" sz="1250" dirty="0">
                <a:solidFill>
                  <a:schemeClr val="bg2"/>
                </a:solidFill>
              </a:rPr>
              <a:t>새 장비 추가 비용</a:t>
            </a:r>
            <a:endParaRPr lang="ko-KR" sz="1250" dirty="0"/>
          </a:p>
        </p:txBody>
      </p:sp>
      <p:sp>
        <p:nvSpPr>
          <p:cNvPr id="17" name="Shape 14"/>
          <p:cNvSpPr/>
          <p:nvPr/>
        </p:nvSpPr>
        <p:spPr>
          <a:xfrm>
            <a:off x="4276344" y="4754880"/>
            <a:ext cx="3636264" cy="1371600"/>
          </a:xfrm>
          <a:prstGeom prst="rect">
            <a:avLst/>
          </a:prstGeom>
          <a:solidFill>
            <a:schemeClr val="accent6"/>
          </a:solidFill>
          <a:ln/>
        </p:spPr>
      </p:sp>
      <p:sp>
        <p:nvSpPr>
          <p:cNvPr id="18" name="Text 15"/>
          <p:cNvSpPr txBox="1"/>
          <p:nvPr/>
        </p:nvSpPr>
        <p:spPr>
          <a:xfrm>
            <a:off x="4504944" y="4754880"/>
            <a:ext cx="1325880" cy="1371600"/>
          </a:xfrm>
          <a:prstGeom prst="rect">
            <a:avLst/>
          </a:prstGeom>
          <a:noFill/>
          <a:ln/>
        </p:spPr>
        <p:txBody>
          <a:bodyPr wrap="square" lIns="0" tIns="0" rIns="0" bIns="0" rtlCol="0" anchor="ctr"/>
          <a:lstStyle/>
          <a:p>
            <a:pPr indent="0" marL="0">
              <a:lnSpc>
                <a:spcPct val="120000"/>
              </a:lnSpc>
              <a:buNone/>
            </a:pPr>
            <a:r>
              <a:rPr lang="ko-KR" altLang="en-US" sz="2400" b="1" dirty="0">
                <a:solidFill>
                  <a:schemeClr val="accent2"/>
                </a:solidFill>
              </a:rPr>
              <a:t>1곳</a:t>
            </a:r>
            <a:endParaRPr lang="ko-KR" sz="2400" dirty="0"/>
          </a:p>
        </p:txBody>
      </p:sp>
      <p:sp>
        <p:nvSpPr>
          <p:cNvPr id="19" name="Text 16"/>
          <p:cNvSpPr txBox="1"/>
          <p:nvPr/>
        </p:nvSpPr>
        <p:spPr>
          <a:xfrm>
            <a:off x="5830824" y="4754880"/>
            <a:ext cx="1944624" cy="1371600"/>
          </a:xfrm>
          <a:prstGeom prst="rect">
            <a:avLst/>
          </a:prstGeom>
          <a:noFill/>
          <a:ln/>
        </p:spPr>
        <p:txBody>
          <a:bodyPr wrap="square" lIns="0" tIns="0" rIns="0" bIns="0" rtlCol="0" anchor="ctr"/>
          <a:lstStyle/>
          <a:p>
            <a:pPr indent="0" marL="0">
              <a:lnSpc>
                <a:spcPct val="115000"/>
              </a:lnSpc>
              <a:buNone/>
            </a:pPr>
            <a:r>
              <a:rPr lang="ko-KR" altLang="en-US" sz="1250" dirty="0">
                <a:solidFill>
                  <a:schemeClr val="bg2"/>
                </a:solidFill>
              </a:rPr>
              <a:t>칸 크기 설정 · DA_UISetting</a:t>
            </a:r>
            <a:endParaRPr lang="ko-KR" sz="1250" dirty="0"/>
          </a:p>
        </p:txBody>
      </p:sp>
      <p:sp>
        <p:nvSpPr>
          <p:cNvPr id="20" name="Shape 17"/>
          <p:cNvSpPr/>
          <p:nvPr/>
        </p:nvSpPr>
        <p:spPr>
          <a:xfrm>
            <a:off x="8095488" y="4754880"/>
            <a:ext cx="3636264" cy="1371600"/>
          </a:xfrm>
          <a:prstGeom prst="rect">
            <a:avLst/>
          </a:prstGeom>
          <a:solidFill>
            <a:schemeClr val="accent6"/>
          </a:solidFill>
          <a:ln/>
        </p:spPr>
      </p:sp>
      <p:sp>
        <p:nvSpPr>
          <p:cNvPr id="21" name="Text 18"/>
          <p:cNvSpPr txBox="1"/>
          <p:nvPr/>
        </p:nvSpPr>
        <p:spPr>
          <a:xfrm>
            <a:off x="8324088" y="4754880"/>
            <a:ext cx="1325880" cy="1371600"/>
          </a:xfrm>
          <a:prstGeom prst="rect">
            <a:avLst/>
          </a:prstGeom>
          <a:noFill/>
          <a:ln/>
        </p:spPr>
        <p:txBody>
          <a:bodyPr wrap="square" lIns="0" tIns="0" rIns="0" bIns="0" rtlCol="0" anchor="ctr"/>
          <a:lstStyle/>
          <a:p>
            <a:pPr indent="0" marL="0">
              <a:lnSpc>
                <a:spcPct val="120000"/>
              </a:lnSpc>
              <a:buNone/>
            </a:pPr>
            <a:r>
              <a:rPr lang="ko-KR" altLang="en-US" sz="2400" b="1" dirty="0">
                <a:solidFill>
                  <a:schemeClr val="accent2"/>
                </a:solidFill>
              </a:rPr>
              <a:t>3단계</a:t>
            </a:r>
            <a:endParaRPr lang="ko-KR" sz="2400" dirty="0"/>
          </a:p>
        </p:txBody>
      </p:sp>
      <p:sp>
        <p:nvSpPr>
          <p:cNvPr id="22" name="Text 19"/>
          <p:cNvSpPr txBox="1"/>
          <p:nvPr/>
        </p:nvSpPr>
        <p:spPr>
          <a:xfrm>
            <a:off x="9649968" y="4754880"/>
            <a:ext cx="1944624" cy="1371600"/>
          </a:xfrm>
          <a:prstGeom prst="rect">
            <a:avLst/>
          </a:prstGeom>
          <a:noFill/>
          <a:ln/>
        </p:spPr>
        <p:txBody>
          <a:bodyPr wrap="square" lIns="0" tIns="0" rIns="0" bIns="0" rtlCol="0" anchor="ctr"/>
          <a:lstStyle/>
          <a:p>
            <a:pPr indent="0" marL="0">
              <a:lnSpc>
                <a:spcPct val="115000"/>
              </a:lnSpc>
              <a:buNone/>
            </a:pPr>
            <a:r>
              <a:rPr lang="ko-KR" altLang="en-US" sz="1250" dirty="0">
                <a:solidFill>
                  <a:schemeClr val="bg2"/>
                </a:solidFill>
              </a:rPr>
              <a:t>Layout · Slot · Cell 역할 분리</a:t>
            </a:r>
            <a:endParaRPr lang="ko-KR" sz="125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02 · GRID INVENTORY</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드래그 앤 드롭 · 사용 흐름</a:t>
            </a:r>
            <a:endParaRPr lang="en-US" sz="2800" dirty="0"/>
          </a:p>
        </p:txBody>
      </p:sp>
      <p:sp>
        <p:nvSpPr>
          <p:cNvPr id="5" name="Shape 2"/>
          <p:cNvSpPr/>
          <p:nvPr/>
        </p:nvSpPr>
        <p:spPr>
          <a:xfrm>
            <a:off x="402336" y="1682496"/>
            <a:ext cx="6144768" cy="3584448"/>
          </a:xfrm>
          <a:prstGeom prst="rect">
            <a:avLst/>
          </a:prstGeom>
          <a:solidFill>
            <a:schemeClr val="tx2"/>
          </a:solidFill>
          <a:ln w="9525">
            <a:solidFill>
              <a:srgbClr val="2A2F36"/>
            </a:solidFill>
            <a:prstDash val="solid"/>
          </a:ln>
        </p:spPr>
      </p:sp>
      <p:pic>
        <p:nvPicPr>
          <p:cNvPr id="6" name="헬멧 드래그 GIF" descr="헬멧 드래그 GIF">    </p:cNvPr>
          <p:cNvPicPr>
            <a:picLocks noChangeAspect="1"/>
          </p:cNvPicPr>
          <p:nvPr/>
        </p:nvPicPr>
        <p:blipFill>
          <a:blip r:embed="rId1"/>
          <a:stretch>
            <a:fillRect/>
          </a:stretch>
        </p:blipFill>
        <p:spPr>
          <a:xfrm>
            <a:off x="457200" y="1737360"/>
            <a:ext cx="6035040" cy="3163824"/>
          </a:xfrm>
          <a:prstGeom prst="rect">
            <a:avLst/>
          </a:prstGeom>
        </p:spPr>
      </p:pic>
      <p:sp>
        <p:nvSpPr>
          <p:cNvPr id="7" name="Shape 3"/>
          <p:cNvSpPr/>
          <p:nvPr/>
        </p:nvSpPr>
        <p:spPr>
          <a:xfrm>
            <a:off x="347472" y="1627632"/>
            <a:ext cx="201168" cy="0"/>
          </a:xfrm>
          <a:prstGeom prst="line">
            <a:avLst/>
          </a:prstGeom>
          <a:noFill/>
          <a:ln w="22225">
            <a:solidFill>
              <a:schemeClr val="accent1"/>
            </a:solidFill>
            <a:prstDash val="solid"/>
          </a:ln>
        </p:spPr>
      </p:sp>
      <p:sp>
        <p:nvSpPr>
          <p:cNvPr id="8" name="Shape 4"/>
          <p:cNvSpPr/>
          <p:nvPr/>
        </p:nvSpPr>
        <p:spPr>
          <a:xfrm>
            <a:off x="347472" y="1627632"/>
            <a:ext cx="0" cy="201168"/>
          </a:xfrm>
          <a:prstGeom prst="line">
            <a:avLst/>
          </a:prstGeom>
          <a:noFill/>
          <a:ln w="22225">
            <a:solidFill>
              <a:schemeClr val="accent1"/>
            </a:solidFill>
            <a:prstDash val="solid"/>
          </a:ln>
        </p:spPr>
      </p:sp>
      <p:sp>
        <p:nvSpPr>
          <p:cNvPr id="9" name="Shape 5"/>
          <p:cNvSpPr/>
          <p:nvPr/>
        </p:nvSpPr>
        <p:spPr>
          <a:xfrm>
            <a:off x="6400800" y="1627632"/>
            <a:ext cx="201168" cy="0"/>
          </a:xfrm>
          <a:prstGeom prst="line">
            <a:avLst/>
          </a:prstGeom>
          <a:noFill/>
          <a:ln w="22225">
            <a:solidFill>
              <a:schemeClr val="accent1"/>
            </a:solidFill>
            <a:prstDash val="solid"/>
          </a:ln>
        </p:spPr>
      </p:sp>
      <p:sp>
        <p:nvSpPr>
          <p:cNvPr id="10" name="Shape 6"/>
          <p:cNvSpPr/>
          <p:nvPr/>
        </p:nvSpPr>
        <p:spPr>
          <a:xfrm>
            <a:off x="6601968" y="1627632"/>
            <a:ext cx="0" cy="201168"/>
          </a:xfrm>
          <a:prstGeom prst="line">
            <a:avLst/>
          </a:prstGeom>
          <a:noFill/>
          <a:ln w="22225">
            <a:solidFill>
              <a:schemeClr val="accent1"/>
            </a:solidFill>
            <a:prstDash val="solid"/>
          </a:ln>
        </p:spPr>
      </p:sp>
      <p:sp>
        <p:nvSpPr>
          <p:cNvPr id="11" name="Shape 7"/>
          <p:cNvSpPr/>
          <p:nvPr/>
        </p:nvSpPr>
        <p:spPr>
          <a:xfrm>
            <a:off x="347472" y="5321808"/>
            <a:ext cx="201168" cy="0"/>
          </a:xfrm>
          <a:prstGeom prst="line">
            <a:avLst/>
          </a:prstGeom>
          <a:noFill/>
          <a:ln w="22225">
            <a:solidFill>
              <a:schemeClr val="accent1"/>
            </a:solidFill>
            <a:prstDash val="solid"/>
          </a:ln>
        </p:spPr>
      </p:sp>
      <p:sp>
        <p:nvSpPr>
          <p:cNvPr id="12" name="Shape 8"/>
          <p:cNvSpPr/>
          <p:nvPr/>
        </p:nvSpPr>
        <p:spPr>
          <a:xfrm>
            <a:off x="347472" y="5120640"/>
            <a:ext cx="0" cy="201168"/>
          </a:xfrm>
          <a:prstGeom prst="line">
            <a:avLst/>
          </a:prstGeom>
          <a:noFill/>
          <a:ln w="22225">
            <a:solidFill>
              <a:schemeClr val="accent1"/>
            </a:solidFill>
            <a:prstDash val="solid"/>
          </a:ln>
        </p:spPr>
      </p:sp>
      <p:sp>
        <p:nvSpPr>
          <p:cNvPr id="13" name="Shape 9"/>
          <p:cNvSpPr/>
          <p:nvPr/>
        </p:nvSpPr>
        <p:spPr>
          <a:xfrm>
            <a:off x="6400800" y="5321808"/>
            <a:ext cx="201168" cy="0"/>
          </a:xfrm>
          <a:prstGeom prst="line">
            <a:avLst/>
          </a:prstGeom>
          <a:noFill/>
          <a:ln w="22225">
            <a:solidFill>
              <a:schemeClr val="accent1"/>
            </a:solidFill>
            <a:prstDash val="solid"/>
          </a:ln>
        </p:spPr>
      </p:sp>
      <p:sp>
        <p:nvSpPr>
          <p:cNvPr id="14" name="Shape 10"/>
          <p:cNvSpPr/>
          <p:nvPr/>
        </p:nvSpPr>
        <p:spPr>
          <a:xfrm>
            <a:off x="6601968" y="5120640"/>
            <a:ext cx="0" cy="201168"/>
          </a:xfrm>
          <a:prstGeom prst="line">
            <a:avLst/>
          </a:prstGeom>
          <a:noFill/>
          <a:ln w="22225">
            <a:solidFill>
              <a:schemeClr val="accent1"/>
            </a:solidFill>
            <a:prstDash val="solid"/>
          </a:ln>
        </p:spPr>
      </p:sp>
      <p:sp>
        <p:nvSpPr>
          <p:cNvPr id="15" name="Text 11"/>
          <p:cNvSpPr txBox="1"/>
          <p:nvPr/>
        </p:nvSpPr>
        <p:spPr>
          <a:xfrm>
            <a:off x="548640" y="1828800"/>
            <a:ext cx="1051560" cy="219456"/>
          </a:xfrm>
          <a:prstGeom prst="rect">
            <a:avLst/>
          </a:prstGeom>
          <a:solidFill>
            <a:schemeClr val="tx1">
              <a:alpha val="90000"/>
            </a:schemeClr>
          </a:solidFill>
          <a:ln/>
        </p:spPr>
        <p:txBody>
          <a:bodyPr wrap="square" lIns="0" tIns="0" rIns="0" bIns="0" rtlCol="0" anchor="ctr"/>
          <a:lstStyle/>
          <a:p>
            <a:pPr algn="ctr" indent="0" marL="0">
              <a:lnSpc>
                <a:spcPct val="120000"/>
              </a:lnSpc>
              <a:buNone/>
            </a:pPr>
            <a:r>
              <a:rPr lang="ko-KR" altLang="en-US" sz="900" b="1" spc="100" kern="0" dirty="0">
                <a:solidFill>
                  <a:schemeClr val="accent1"/>
                </a:solidFill>
                <a:latin typeface="Consolas" pitchFamily="34" charset="0"/>
                <a:ea typeface="Consolas" pitchFamily="34" charset="-122"/>
                <a:cs typeface="Consolas" pitchFamily="34" charset="-120"/>
              </a:rPr>
              <a:t>● GAMEPLAY</a:t>
            </a:r>
            <a:endParaRPr lang="ko-KR" sz="900" dirty="0"/>
          </a:p>
        </p:txBody>
      </p:sp>
      <p:sp>
        <p:nvSpPr>
          <p:cNvPr id="16" name="Text 12"/>
          <p:cNvSpPr txBox="1"/>
          <p:nvPr/>
        </p:nvSpPr>
        <p:spPr>
          <a:xfrm>
            <a:off x="530352" y="4937760"/>
            <a:ext cx="5888736" cy="274320"/>
          </a:xfrm>
          <a:prstGeom prst="rect">
            <a:avLst/>
          </a:prstGeom>
          <a:noFill/>
          <a:ln/>
        </p:spPr>
        <p:txBody>
          <a:bodyPr wrap="square" lIns="0" tIns="0" rIns="0" bIns="0" rtlCol="0" anchor="ctr"/>
          <a:lstStyle/>
          <a:p>
            <a:pPr indent="0" marL="0">
              <a:lnSpc>
                <a:spcPct val="110000"/>
              </a:lnSpc>
              <a:buNone/>
            </a:pPr>
            <a:r>
              <a:rPr lang="ko-KR" altLang="en-US" sz="1100" dirty="0">
                <a:solidFill>
                  <a:schemeClr val="bg2"/>
                </a:solidFill>
              </a:rPr>
              <a:t>실제 플레이 · 창고 안에서 헬멧(H70Elite)을 다른 칸으로 옮기기</a:t>
            </a:r>
            <a:endParaRPr lang="ko-KR" sz="1100" dirty="0"/>
          </a:p>
        </p:txBody>
      </p:sp>
      <p:sp>
        <p:nvSpPr>
          <p:cNvPr id="17" name="Shape 13"/>
          <p:cNvSpPr/>
          <p:nvPr/>
        </p:nvSpPr>
        <p:spPr>
          <a:xfrm>
            <a:off x="6720840" y="1682496"/>
            <a:ext cx="5010912" cy="3584448"/>
          </a:xfrm>
          <a:prstGeom prst="rect">
            <a:avLst/>
          </a:prstGeom>
          <a:solidFill>
            <a:schemeClr val="tx2"/>
          </a:solidFill>
          <a:ln w="9525">
            <a:solidFill>
              <a:srgbClr val="2A2F36"/>
            </a:solidFill>
            <a:prstDash val="solid"/>
          </a:ln>
        </p:spPr>
      </p:sp>
      <p:sp>
        <p:nvSpPr>
          <p:cNvPr id="18" name="Shape 14"/>
          <p:cNvSpPr/>
          <p:nvPr/>
        </p:nvSpPr>
        <p:spPr>
          <a:xfrm>
            <a:off x="6876288" y="1819656"/>
            <a:ext cx="4700016" cy="694944"/>
          </a:xfrm>
          <a:prstGeom prst="rect">
            <a:avLst/>
          </a:prstGeom>
          <a:solidFill>
            <a:schemeClr val="accent6"/>
          </a:solidFill>
          <a:ln w="15875">
            <a:solidFill>
              <a:schemeClr val="accent1"/>
            </a:solidFill>
            <a:prstDash val="solid"/>
          </a:ln>
        </p:spPr>
      </p:sp>
      <p:sp>
        <p:nvSpPr>
          <p:cNvPr id="19" name="Text 15"/>
          <p:cNvSpPr txBox="1"/>
          <p:nvPr/>
        </p:nvSpPr>
        <p:spPr>
          <a:xfrm>
            <a:off x="6949440" y="1819656"/>
            <a:ext cx="411480" cy="694944"/>
          </a:xfrm>
          <a:prstGeom prst="rect">
            <a:avLst/>
          </a:prstGeom>
          <a:noFill/>
          <a:ln/>
        </p:spPr>
        <p:txBody>
          <a:bodyPr wrap="square" lIns="0" tIns="0" rIns="0" bIns="0" rtlCol="0" anchor="ctr"/>
          <a:lstStyle/>
          <a:p>
            <a:pPr algn="ctr" indent="0" marL="0">
              <a:lnSpc>
                <a:spcPct val="120000"/>
              </a:lnSpc>
              <a:buNone/>
            </a:pPr>
            <a:r>
              <a:rPr lang="ko-KR" altLang="en-US" sz="1700" b="1" dirty="0">
                <a:solidFill>
                  <a:schemeClr val="accent1"/>
                </a:solidFill>
                <a:latin typeface="Consolas" pitchFamily="34" charset="0"/>
                <a:ea typeface="Consolas" pitchFamily="34" charset="-122"/>
                <a:cs typeface="Consolas" pitchFamily="34" charset="-120"/>
              </a:rPr>
              <a:t>1</a:t>
            </a:r>
            <a:endParaRPr lang="ko-KR" sz="1700" dirty="0"/>
          </a:p>
        </p:txBody>
      </p:sp>
      <p:sp>
        <p:nvSpPr>
          <p:cNvPr id="20" name="Text 16"/>
          <p:cNvSpPr txBox="1"/>
          <p:nvPr/>
        </p:nvSpPr>
        <p:spPr>
          <a:xfrm>
            <a:off x="7424928" y="1819656"/>
            <a:ext cx="4059936" cy="694944"/>
          </a:xfrm>
          <a:prstGeom prst="rect">
            <a:avLst/>
          </a:prstGeom>
          <a:noFill/>
          <a:ln/>
        </p:spPr>
        <p:txBody>
          <a:bodyPr wrap="square" lIns="0" tIns="0" rIns="0" bIns="0" rtlCol="0" anchor="ctr"/>
          <a:lstStyle/>
          <a:p>
            <a:pPr indent="0" marL="0">
              <a:lnSpc>
                <a:spcPct val="110000"/>
              </a:lnSpc>
              <a:buNone/>
            </a:pPr>
            <a:r>
              <a:rPr lang="ko-KR" altLang="en-US" sz="1350" b="1" dirty="0">
                <a:solidFill>
                  <a:schemeClr val="bg1"/>
                </a:solidFill>
              </a:rPr>
              <a:t>누르기</a:t>
            </a:r>
            <a:endParaRPr lang="ko-KR" sz="1200" dirty="0"/>
          </a:p>
          <a:p>
            <a:pPr indent="0" marL="0">
              <a:lnSpc>
                <a:spcPct val="110000"/>
              </a:lnSpc>
              <a:buNone/>
            </a:pPr>
            <a:r>
              <a:rPr lang="ko-KR" altLang="en-US" sz="1100" dirty="0">
                <a:solidFill>
                  <a:srgbClr val="A3ADBA"/>
                </a:solidFill>
              </a:rPr>
              <a:t>OnMouseButtonDown → DetectDragIfPressed</a:t>
            </a:r>
            <a:endParaRPr lang="ko-KR" sz="1200" dirty="0"/>
          </a:p>
        </p:txBody>
      </p:sp>
      <p:sp>
        <p:nvSpPr>
          <p:cNvPr id="21" name="Shape 17"/>
          <p:cNvSpPr/>
          <p:nvPr/>
        </p:nvSpPr>
        <p:spPr>
          <a:xfrm>
            <a:off x="9226296" y="2514600"/>
            <a:ext cx="0" cy="164592"/>
          </a:xfrm>
          <a:prstGeom prst="line">
            <a:avLst/>
          </a:prstGeom>
          <a:noFill/>
          <a:ln w="19050">
            <a:solidFill>
              <a:srgbClr val="C3CCD7"/>
            </a:solidFill>
            <a:prstDash val="solid"/>
            <a:tailEnd type="triangle"/>
          </a:ln>
        </p:spPr>
      </p:sp>
      <p:sp>
        <p:nvSpPr>
          <p:cNvPr id="22" name="Shape 18"/>
          <p:cNvSpPr/>
          <p:nvPr/>
        </p:nvSpPr>
        <p:spPr>
          <a:xfrm>
            <a:off x="6876288" y="2679192"/>
            <a:ext cx="4700016" cy="694944"/>
          </a:xfrm>
          <a:prstGeom prst="rect">
            <a:avLst/>
          </a:prstGeom>
          <a:solidFill>
            <a:schemeClr val="accent6"/>
          </a:solidFill>
          <a:ln w="15875">
            <a:solidFill>
              <a:schemeClr val="accent1"/>
            </a:solidFill>
            <a:prstDash val="solid"/>
          </a:ln>
        </p:spPr>
      </p:sp>
      <p:sp>
        <p:nvSpPr>
          <p:cNvPr id="23" name="Text 19"/>
          <p:cNvSpPr txBox="1"/>
          <p:nvPr/>
        </p:nvSpPr>
        <p:spPr>
          <a:xfrm>
            <a:off x="6949440" y="2679192"/>
            <a:ext cx="411480" cy="694944"/>
          </a:xfrm>
          <a:prstGeom prst="rect">
            <a:avLst/>
          </a:prstGeom>
          <a:noFill/>
          <a:ln/>
        </p:spPr>
        <p:txBody>
          <a:bodyPr wrap="square" lIns="0" tIns="0" rIns="0" bIns="0" rtlCol="0" anchor="ctr"/>
          <a:lstStyle/>
          <a:p>
            <a:pPr algn="ctr" indent="0" marL="0">
              <a:lnSpc>
                <a:spcPct val="120000"/>
              </a:lnSpc>
              <a:buNone/>
            </a:pPr>
            <a:r>
              <a:rPr lang="ko-KR" altLang="en-US" sz="1700" b="1" dirty="0">
                <a:solidFill>
                  <a:schemeClr val="accent1"/>
                </a:solidFill>
                <a:latin typeface="Consolas" pitchFamily="34" charset="0"/>
                <a:ea typeface="Consolas" pitchFamily="34" charset="-122"/>
                <a:cs typeface="Consolas" pitchFamily="34" charset="-120"/>
              </a:rPr>
              <a:t>2</a:t>
            </a:r>
            <a:endParaRPr lang="ko-KR" sz="1700" dirty="0"/>
          </a:p>
        </p:txBody>
      </p:sp>
      <p:sp>
        <p:nvSpPr>
          <p:cNvPr id="24" name="Text 20"/>
          <p:cNvSpPr txBox="1"/>
          <p:nvPr/>
        </p:nvSpPr>
        <p:spPr>
          <a:xfrm>
            <a:off x="7424928" y="2679192"/>
            <a:ext cx="4059936" cy="694944"/>
          </a:xfrm>
          <a:prstGeom prst="rect">
            <a:avLst/>
          </a:prstGeom>
          <a:noFill/>
          <a:ln/>
        </p:spPr>
        <p:txBody>
          <a:bodyPr wrap="square" lIns="0" tIns="0" rIns="0" bIns="0" rtlCol="0" anchor="ctr"/>
          <a:lstStyle/>
          <a:p>
            <a:pPr indent="0" marL="0">
              <a:lnSpc>
                <a:spcPct val="110000"/>
              </a:lnSpc>
              <a:buNone/>
            </a:pPr>
            <a:r>
              <a:rPr lang="ko-KR" altLang="en-US" sz="1350" b="1" dirty="0">
                <a:solidFill>
                  <a:schemeClr val="bg1"/>
                </a:solidFill>
              </a:rPr>
              <a:t>드래그 시작</a:t>
            </a:r>
            <a:endParaRPr lang="ko-KR" sz="1200" dirty="0"/>
          </a:p>
          <a:p>
            <a:pPr indent="0" marL="0">
              <a:lnSpc>
                <a:spcPct val="110000"/>
              </a:lnSpc>
              <a:buNone/>
            </a:pPr>
            <a:r>
              <a:rPr lang="ko-KR" altLang="en-US" sz="1100" dirty="0">
                <a:solidFill>
                  <a:srgbClr val="A3ADBA"/>
                </a:solidFill>
              </a:rPr>
              <a:t>BP_DragDrop 생성 (아이템 정보 · 원래 위젯)</a:t>
            </a:r>
            <a:endParaRPr lang="ko-KR" sz="1200" dirty="0"/>
          </a:p>
        </p:txBody>
      </p:sp>
      <p:sp>
        <p:nvSpPr>
          <p:cNvPr id="25" name="Shape 21"/>
          <p:cNvSpPr/>
          <p:nvPr/>
        </p:nvSpPr>
        <p:spPr>
          <a:xfrm>
            <a:off x="9226296" y="3374136"/>
            <a:ext cx="0" cy="164592"/>
          </a:xfrm>
          <a:prstGeom prst="line">
            <a:avLst/>
          </a:prstGeom>
          <a:noFill/>
          <a:ln w="19050">
            <a:solidFill>
              <a:srgbClr val="C3CCD7"/>
            </a:solidFill>
            <a:prstDash val="solid"/>
            <a:tailEnd type="triangle"/>
          </a:ln>
        </p:spPr>
      </p:sp>
      <p:sp>
        <p:nvSpPr>
          <p:cNvPr id="26" name="Shape 22"/>
          <p:cNvSpPr/>
          <p:nvPr/>
        </p:nvSpPr>
        <p:spPr>
          <a:xfrm>
            <a:off x="6876288" y="3538728"/>
            <a:ext cx="4700016" cy="694944"/>
          </a:xfrm>
          <a:prstGeom prst="rect">
            <a:avLst/>
          </a:prstGeom>
          <a:solidFill>
            <a:schemeClr val="accent6"/>
          </a:solidFill>
          <a:ln w="15875">
            <a:solidFill>
              <a:schemeClr val="accent1"/>
            </a:solidFill>
            <a:prstDash val="solid"/>
          </a:ln>
        </p:spPr>
      </p:sp>
      <p:sp>
        <p:nvSpPr>
          <p:cNvPr id="27" name="Text 23"/>
          <p:cNvSpPr txBox="1"/>
          <p:nvPr/>
        </p:nvSpPr>
        <p:spPr>
          <a:xfrm>
            <a:off x="6949440" y="3538728"/>
            <a:ext cx="411480" cy="694944"/>
          </a:xfrm>
          <a:prstGeom prst="rect">
            <a:avLst/>
          </a:prstGeom>
          <a:noFill/>
          <a:ln/>
        </p:spPr>
        <p:txBody>
          <a:bodyPr wrap="square" lIns="0" tIns="0" rIns="0" bIns="0" rtlCol="0" anchor="ctr"/>
          <a:lstStyle/>
          <a:p>
            <a:pPr algn="ctr" indent="0" marL="0">
              <a:lnSpc>
                <a:spcPct val="120000"/>
              </a:lnSpc>
              <a:buNone/>
            </a:pPr>
            <a:r>
              <a:rPr lang="ko-KR" altLang="en-US" sz="1700" b="1" dirty="0">
                <a:solidFill>
                  <a:schemeClr val="accent1"/>
                </a:solidFill>
                <a:latin typeface="Consolas" pitchFamily="34" charset="0"/>
                <a:ea typeface="Consolas" pitchFamily="34" charset="-122"/>
                <a:cs typeface="Consolas" pitchFamily="34" charset="-120"/>
              </a:rPr>
              <a:t>3</a:t>
            </a:r>
            <a:endParaRPr lang="ko-KR" sz="1700" dirty="0"/>
          </a:p>
        </p:txBody>
      </p:sp>
      <p:sp>
        <p:nvSpPr>
          <p:cNvPr id="28" name="Text 24"/>
          <p:cNvSpPr txBox="1"/>
          <p:nvPr/>
        </p:nvSpPr>
        <p:spPr>
          <a:xfrm>
            <a:off x="7424928" y="3538728"/>
            <a:ext cx="4059936" cy="694944"/>
          </a:xfrm>
          <a:prstGeom prst="rect">
            <a:avLst/>
          </a:prstGeom>
          <a:noFill/>
          <a:ln/>
        </p:spPr>
        <p:txBody>
          <a:bodyPr wrap="square" lIns="0" tIns="0" rIns="0" bIns="0" rtlCol="0" anchor="ctr"/>
          <a:lstStyle/>
          <a:p>
            <a:pPr indent="0" marL="0">
              <a:lnSpc>
                <a:spcPct val="110000"/>
              </a:lnSpc>
              <a:buNone/>
            </a:pPr>
            <a:r>
              <a:rPr lang="ko-KR" altLang="en-US" sz="1350" b="1" dirty="0">
                <a:solidFill>
                  <a:schemeClr val="bg1"/>
                </a:solidFill>
              </a:rPr>
              <a:t>그리드 위 이동</a:t>
            </a:r>
            <a:endParaRPr lang="ko-KR" sz="1200" dirty="0"/>
          </a:p>
          <a:p>
            <a:pPr indent="0" marL="0">
              <a:lnSpc>
                <a:spcPct val="110000"/>
              </a:lnSpc>
              <a:buNone/>
            </a:pPr>
            <a:r>
              <a:rPr lang="ko-KR" altLang="en-US" sz="1100" dirty="0">
                <a:solidFill>
                  <a:srgbClr val="A3ADBA"/>
                </a:solidFill>
              </a:rPr>
              <a:t>OnDragOver: 칸 번호 계산 → CanPlaceIndex 기록</a:t>
            </a:r>
            <a:endParaRPr lang="ko-KR" sz="1200" dirty="0"/>
          </a:p>
        </p:txBody>
      </p:sp>
      <p:sp>
        <p:nvSpPr>
          <p:cNvPr id="29" name="Shape 25"/>
          <p:cNvSpPr/>
          <p:nvPr/>
        </p:nvSpPr>
        <p:spPr>
          <a:xfrm>
            <a:off x="9226296" y="4233672"/>
            <a:ext cx="0" cy="164592"/>
          </a:xfrm>
          <a:prstGeom prst="line">
            <a:avLst/>
          </a:prstGeom>
          <a:noFill/>
          <a:ln w="19050">
            <a:solidFill>
              <a:srgbClr val="C3CCD7"/>
            </a:solidFill>
            <a:prstDash val="solid"/>
            <a:tailEnd type="triangle"/>
          </a:ln>
        </p:spPr>
      </p:sp>
      <p:sp>
        <p:nvSpPr>
          <p:cNvPr id="30" name="Shape 26"/>
          <p:cNvSpPr/>
          <p:nvPr/>
        </p:nvSpPr>
        <p:spPr>
          <a:xfrm>
            <a:off x="6876288" y="4398264"/>
            <a:ext cx="4700016" cy="694944"/>
          </a:xfrm>
          <a:prstGeom prst="rect">
            <a:avLst/>
          </a:prstGeom>
          <a:solidFill>
            <a:schemeClr val="accent6"/>
          </a:solidFill>
          <a:ln w="15875">
            <a:solidFill>
              <a:schemeClr val="accent3"/>
            </a:solidFill>
            <a:prstDash val="solid"/>
          </a:ln>
        </p:spPr>
      </p:sp>
      <p:sp>
        <p:nvSpPr>
          <p:cNvPr id="31" name="Text 27"/>
          <p:cNvSpPr txBox="1"/>
          <p:nvPr/>
        </p:nvSpPr>
        <p:spPr>
          <a:xfrm>
            <a:off x="6949440" y="4398264"/>
            <a:ext cx="411480" cy="694944"/>
          </a:xfrm>
          <a:prstGeom prst="rect">
            <a:avLst/>
          </a:prstGeom>
          <a:noFill/>
          <a:ln/>
        </p:spPr>
        <p:txBody>
          <a:bodyPr wrap="square" lIns="0" tIns="0" rIns="0" bIns="0" rtlCol="0" anchor="ctr"/>
          <a:lstStyle/>
          <a:p>
            <a:pPr algn="ctr" indent="0" marL="0">
              <a:lnSpc>
                <a:spcPct val="120000"/>
              </a:lnSpc>
              <a:buNone/>
            </a:pPr>
            <a:r>
              <a:rPr lang="ko-KR" altLang="en-US" sz="1700" b="1" dirty="0">
                <a:solidFill>
                  <a:schemeClr val="accent3"/>
                </a:solidFill>
                <a:latin typeface="Consolas" pitchFamily="34" charset="0"/>
                <a:ea typeface="Consolas" pitchFamily="34" charset="-122"/>
                <a:cs typeface="Consolas" pitchFamily="34" charset="-120"/>
              </a:rPr>
              <a:t>4</a:t>
            </a:r>
            <a:endParaRPr lang="ko-KR" sz="1700" dirty="0"/>
          </a:p>
        </p:txBody>
      </p:sp>
      <p:sp>
        <p:nvSpPr>
          <p:cNvPr id="32" name="Text 28"/>
          <p:cNvSpPr txBox="1"/>
          <p:nvPr/>
        </p:nvSpPr>
        <p:spPr>
          <a:xfrm>
            <a:off x="7424928" y="4398264"/>
            <a:ext cx="4059936" cy="694944"/>
          </a:xfrm>
          <a:prstGeom prst="rect">
            <a:avLst/>
          </a:prstGeom>
          <a:noFill/>
          <a:ln/>
        </p:spPr>
        <p:txBody>
          <a:bodyPr wrap="square" lIns="0" tIns="0" rIns="0" bIns="0" rtlCol="0" anchor="ctr"/>
          <a:lstStyle/>
          <a:p>
            <a:pPr indent="0" marL="0">
              <a:lnSpc>
                <a:spcPct val="110000"/>
              </a:lnSpc>
              <a:buNone/>
            </a:pPr>
            <a:r>
              <a:rPr lang="ko-KR" altLang="en-US" sz="1350" b="1" dirty="0">
                <a:solidFill>
                  <a:schemeClr val="bg1"/>
                </a:solidFill>
              </a:rPr>
              <a:t>놓기</a:t>
            </a:r>
            <a:endParaRPr lang="ko-KR" sz="1200" dirty="0"/>
          </a:p>
          <a:p>
            <a:pPr indent="0" marL="0">
              <a:lnSpc>
                <a:spcPct val="110000"/>
              </a:lnSpc>
              <a:buNone/>
            </a:pPr>
            <a:r>
              <a:rPr lang="ko-KR" altLang="en-US" sz="1100" dirty="0">
                <a:solidFill>
                  <a:srgbClr val="A3ADBA"/>
                </a:solidFill>
              </a:rPr>
              <a:t>OnDrop: 그 칸에 배치 / 장비 칸이면 칸 배치 교체</a:t>
            </a:r>
            <a:endParaRPr lang="ko-KR" sz="12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02 · GRID INVENTORY</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드래그 앤 드롭 · 배치 판정</a:t>
            </a:r>
            <a:endParaRPr lang="en-US" sz="2800" dirty="0"/>
          </a:p>
        </p:txBody>
      </p:sp>
      <p:sp>
        <p:nvSpPr>
          <p:cNvPr id="5" name="Shape 2"/>
          <p:cNvSpPr/>
          <p:nvPr/>
        </p:nvSpPr>
        <p:spPr>
          <a:xfrm>
            <a:off x="457200" y="1371600"/>
            <a:ext cx="3611880" cy="3246120"/>
          </a:xfrm>
          <a:prstGeom prst="rect">
            <a:avLst/>
          </a:prstGeom>
          <a:solidFill>
            <a:schemeClr val="tx2"/>
          </a:solidFill>
          <a:ln w="9525">
            <a:solidFill>
              <a:srgbClr val="2A2F36"/>
            </a:solidFill>
            <a:prstDash val="solid"/>
          </a:ln>
        </p:spPr>
      </p:sp>
      <p:sp>
        <p:nvSpPr>
          <p:cNvPr id="6" name="Shape 3"/>
          <p:cNvSpPr/>
          <p:nvPr/>
        </p:nvSpPr>
        <p:spPr>
          <a:xfrm>
            <a:off x="457200" y="1371600"/>
            <a:ext cx="182880" cy="0"/>
          </a:xfrm>
          <a:prstGeom prst="line">
            <a:avLst/>
          </a:prstGeom>
          <a:noFill/>
          <a:ln w="22225">
            <a:solidFill>
              <a:schemeClr val="accent1"/>
            </a:solidFill>
            <a:prstDash val="solid"/>
          </a:ln>
        </p:spPr>
      </p:sp>
      <p:sp>
        <p:nvSpPr>
          <p:cNvPr id="7" name="Shape 4"/>
          <p:cNvSpPr/>
          <p:nvPr/>
        </p:nvSpPr>
        <p:spPr>
          <a:xfrm>
            <a:off x="457200" y="1371600"/>
            <a:ext cx="0" cy="182880"/>
          </a:xfrm>
          <a:prstGeom prst="line">
            <a:avLst/>
          </a:prstGeom>
          <a:noFill/>
          <a:ln w="22225">
            <a:solidFill>
              <a:schemeClr val="accent1"/>
            </a:solidFill>
            <a:prstDash val="solid"/>
          </a:ln>
        </p:spPr>
      </p:sp>
      <p:sp>
        <p:nvSpPr>
          <p:cNvPr id="8" name="Shape 5"/>
          <p:cNvSpPr/>
          <p:nvPr/>
        </p:nvSpPr>
        <p:spPr>
          <a:xfrm>
            <a:off x="3886200" y="4617720"/>
            <a:ext cx="182880" cy="0"/>
          </a:xfrm>
          <a:prstGeom prst="line">
            <a:avLst/>
          </a:prstGeom>
          <a:noFill/>
          <a:ln w="22225">
            <a:solidFill>
              <a:schemeClr val="accent1"/>
            </a:solidFill>
            <a:prstDash val="solid"/>
          </a:ln>
        </p:spPr>
      </p:sp>
      <p:sp>
        <p:nvSpPr>
          <p:cNvPr id="9" name="Shape 6"/>
          <p:cNvSpPr/>
          <p:nvPr/>
        </p:nvSpPr>
        <p:spPr>
          <a:xfrm>
            <a:off x="4069080" y="4434840"/>
            <a:ext cx="0" cy="182880"/>
          </a:xfrm>
          <a:prstGeom prst="line">
            <a:avLst/>
          </a:prstGeom>
          <a:noFill/>
          <a:ln w="22225">
            <a:solidFill>
              <a:schemeClr val="accent1"/>
            </a:solidFill>
            <a:prstDash val="solid"/>
          </a:ln>
        </p:spPr>
      </p:sp>
      <p:sp>
        <p:nvSpPr>
          <p:cNvPr id="10" name="Text 7"/>
          <p:cNvSpPr txBox="1"/>
          <p:nvPr/>
        </p:nvSpPr>
        <p:spPr>
          <a:xfrm>
            <a:off x="676656" y="1527048"/>
            <a:ext cx="317296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① 마우스 → 칸 번호</a:t>
            </a:r>
            <a:endParaRPr lang="ko-KR" sz="1450" dirty="0"/>
          </a:p>
        </p:txBody>
      </p:sp>
      <p:sp>
        <p:nvSpPr>
          <p:cNvPr id="11" name="Shape 8"/>
          <p:cNvSpPr/>
          <p:nvPr/>
        </p:nvSpPr>
        <p:spPr>
          <a:xfrm>
            <a:off x="1120140" y="1938528"/>
            <a:ext cx="457200" cy="457200"/>
          </a:xfrm>
          <a:prstGeom prst="rect">
            <a:avLst/>
          </a:prstGeom>
          <a:solidFill>
            <a:schemeClr val="accent6"/>
          </a:solidFill>
          <a:ln w="9525">
            <a:solidFill>
              <a:srgbClr val="2A2F36"/>
            </a:solidFill>
            <a:prstDash val="solid"/>
          </a:ln>
        </p:spPr>
      </p:sp>
      <p:sp>
        <p:nvSpPr>
          <p:cNvPr id="12" name="Shape 9"/>
          <p:cNvSpPr/>
          <p:nvPr/>
        </p:nvSpPr>
        <p:spPr>
          <a:xfrm>
            <a:off x="1577340" y="1938528"/>
            <a:ext cx="457200" cy="457200"/>
          </a:xfrm>
          <a:prstGeom prst="rect">
            <a:avLst/>
          </a:prstGeom>
          <a:solidFill>
            <a:schemeClr val="accent6"/>
          </a:solidFill>
          <a:ln w="9525">
            <a:solidFill>
              <a:srgbClr val="2A2F36"/>
            </a:solidFill>
            <a:prstDash val="solid"/>
          </a:ln>
        </p:spPr>
      </p:sp>
      <p:sp>
        <p:nvSpPr>
          <p:cNvPr id="13" name="Shape 10"/>
          <p:cNvSpPr/>
          <p:nvPr/>
        </p:nvSpPr>
        <p:spPr>
          <a:xfrm>
            <a:off x="2034540" y="1938528"/>
            <a:ext cx="457200" cy="457200"/>
          </a:xfrm>
          <a:prstGeom prst="rect">
            <a:avLst/>
          </a:prstGeom>
          <a:solidFill>
            <a:schemeClr val="accent6"/>
          </a:solidFill>
          <a:ln w="9525">
            <a:solidFill>
              <a:srgbClr val="2A2F36"/>
            </a:solidFill>
            <a:prstDash val="solid"/>
          </a:ln>
        </p:spPr>
      </p:sp>
      <p:sp>
        <p:nvSpPr>
          <p:cNvPr id="14" name="Shape 11"/>
          <p:cNvSpPr/>
          <p:nvPr/>
        </p:nvSpPr>
        <p:spPr>
          <a:xfrm>
            <a:off x="2491740" y="1938528"/>
            <a:ext cx="457200" cy="457200"/>
          </a:xfrm>
          <a:prstGeom prst="rect">
            <a:avLst/>
          </a:prstGeom>
          <a:solidFill>
            <a:schemeClr val="accent6"/>
          </a:solidFill>
          <a:ln w="9525">
            <a:solidFill>
              <a:srgbClr val="2A2F36"/>
            </a:solidFill>
            <a:prstDash val="solid"/>
          </a:ln>
        </p:spPr>
      </p:sp>
      <p:sp>
        <p:nvSpPr>
          <p:cNvPr id="15" name="Shape 12"/>
          <p:cNvSpPr/>
          <p:nvPr/>
        </p:nvSpPr>
        <p:spPr>
          <a:xfrm>
            <a:off x="2948940" y="1938528"/>
            <a:ext cx="457200" cy="457200"/>
          </a:xfrm>
          <a:prstGeom prst="rect">
            <a:avLst/>
          </a:prstGeom>
          <a:solidFill>
            <a:schemeClr val="accent6"/>
          </a:solidFill>
          <a:ln w="9525">
            <a:solidFill>
              <a:srgbClr val="2A2F36"/>
            </a:solidFill>
            <a:prstDash val="solid"/>
          </a:ln>
        </p:spPr>
      </p:sp>
      <p:sp>
        <p:nvSpPr>
          <p:cNvPr id="16" name="Shape 13"/>
          <p:cNvSpPr/>
          <p:nvPr/>
        </p:nvSpPr>
        <p:spPr>
          <a:xfrm>
            <a:off x="1120140" y="2395728"/>
            <a:ext cx="457200" cy="457200"/>
          </a:xfrm>
          <a:prstGeom prst="rect">
            <a:avLst/>
          </a:prstGeom>
          <a:solidFill>
            <a:schemeClr val="accent6"/>
          </a:solidFill>
          <a:ln w="9525">
            <a:solidFill>
              <a:srgbClr val="2A2F36"/>
            </a:solidFill>
            <a:prstDash val="solid"/>
          </a:ln>
        </p:spPr>
      </p:sp>
      <p:sp>
        <p:nvSpPr>
          <p:cNvPr id="17" name="Shape 14"/>
          <p:cNvSpPr/>
          <p:nvPr/>
        </p:nvSpPr>
        <p:spPr>
          <a:xfrm>
            <a:off x="1577340" y="2395728"/>
            <a:ext cx="457200" cy="457200"/>
          </a:xfrm>
          <a:prstGeom prst="rect">
            <a:avLst/>
          </a:prstGeom>
          <a:solidFill>
            <a:schemeClr val="accent6"/>
          </a:solidFill>
          <a:ln w="9525">
            <a:solidFill>
              <a:srgbClr val="2A2F36"/>
            </a:solidFill>
            <a:prstDash val="solid"/>
          </a:ln>
        </p:spPr>
      </p:sp>
      <p:sp>
        <p:nvSpPr>
          <p:cNvPr id="18" name="Shape 15"/>
          <p:cNvSpPr/>
          <p:nvPr/>
        </p:nvSpPr>
        <p:spPr>
          <a:xfrm>
            <a:off x="2034540" y="2395728"/>
            <a:ext cx="457200" cy="457200"/>
          </a:xfrm>
          <a:prstGeom prst="rect">
            <a:avLst/>
          </a:prstGeom>
          <a:solidFill>
            <a:schemeClr val="accent6"/>
          </a:solidFill>
          <a:ln w="9525">
            <a:solidFill>
              <a:srgbClr val="2A2F36"/>
            </a:solidFill>
            <a:prstDash val="solid"/>
          </a:ln>
        </p:spPr>
      </p:sp>
      <p:sp>
        <p:nvSpPr>
          <p:cNvPr id="19" name="Shape 16"/>
          <p:cNvSpPr/>
          <p:nvPr/>
        </p:nvSpPr>
        <p:spPr>
          <a:xfrm>
            <a:off x="2491740" y="2395728"/>
            <a:ext cx="457200" cy="457200"/>
          </a:xfrm>
          <a:prstGeom prst="rect">
            <a:avLst/>
          </a:prstGeom>
          <a:solidFill>
            <a:schemeClr val="accent6"/>
          </a:solidFill>
          <a:ln w="9525">
            <a:solidFill>
              <a:srgbClr val="2A2F36"/>
            </a:solidFill>
            <a:prstDash val="solid"/>
          </a:ln>
        </p:spPr>
      </p:sp>
      <p:sp>
        <p:nvSpPr>
          <p:cNvPr id="20" name="Shape 17"/>
          <p:cNvSpPr/>
          <p:nvPr/>
        </p:nvSpPr>
        <p:spPr>
          <a:xfrm>
            <a:off x="2948940" y="2395728"/>
            <a:ext cx="457200" cy="457200"/>
          </a:xfrm>
          <a:prstGeom prst="rect">
            <a:avLst/>
          </a:prstGeom>
          <a:solidFill>
            <a:schemeClr val="accent6"/>
          </a:solidFill>
          <a:ln w="9525">
            <a:solidFill>
              <a:srgbClr val="2A2F36"/>
            </a:solidFill>
            <a:prstDash val="solid"/>
          </a:ln>
        </p:spPr>
      </p:sp>
      <p:sp>
        <p:nvSpPr>
          <p:cNvPr id="21" name="Shape 18"/>
          <p:cNvSpPr/>
          <p:nvPr/>
        </p:nvSpPr>
        <p:spPr>
          <a:xfrm>
            <a:off x="1120140" y="2852928"/>
            <a:ext cx="457200" cy="457200"/>
          </a:xfrm>
          <a:prstGeom prst="rect">
            <a:avLst/>
          </a:prstGeom>
          <a:solidFill>
            <a:schemeClr val="accent6"/>
          </a:solidFill>
          <a:ln w="9525">
            <a:solidFill>
              <a:srgbClr val="2A2F36"/>
            </a:solidFill>
            <a:prstDash val="solid"/>
          </a:ln>
        </p:spPr>
      </p:sp>
      <p:sp>
        <p:nvSpPr>
          <p:cNvPr id="22" name="Shape 19"/>
          <p:cNvSpPr/>
          <p:nvPr/>
        </p:nvSpPr>
        <p:spPr>
          <a:xfrm>
            <a:off x="1577340" y="2852928"/>
            <a:ext cx="457200" cy="457200"/>
          </a:xfrm>
          <a:prstGeom prst="rect">
            <a:avLst/>
          </a:prstGeom>
          <a:solidFill>
            <a:schemeClr val="accent6"/>
          </a:solidFill>
          <a:ln w="9525">
            <a:solidFill>
              <a:srgbClr val="2A2F36"/>
            </a:solidFill>
            <a:prstDash val="solid"/>
          </a:ln>
        </p:spPr>
      </p:sp>
      <p:sp>
        <p:nvSpPr>
          <p:cNvPr id="23" name="Shape 20"/>
          <p:cNvSpPr/>
          <p:nvPr/>
        </p:nvSpPr>
        <p:spPr>
          <a:xfrm>
            <a:off x="2034540" y="2852928"/>
            <a:ext cx="457200" cy="457200"/>
          </a:xfrm>
          <a:prstGeom prst="rect">
            <a:avLst/>
          </a:prstGeom>
          <a:solidFill>
            <a:schemeClr val="accent6"/>
          </a:solidFill>
          <a:ln w="9525">
            <a:solidFill>
              <a:srgbClr val="2A2F36"/>
            </a:solidFill>
            <a:prstDash val="solid"/>
          </a:ln>
        </p:spPr>
      </p:sp>
      <p:sp>
        <p:nvSpPr>
          <p:cNvPr id="24" name="Shape 21"/>
          <p:cNvSpPr/>
          <p:nvPr/>
        </p:nvSpPr>
        <p:spPr>
          <a:xfrm>
            <a:off x="2491740" y="2852928"/>
            <a:ext cx="457200" cy="457200"/>
          </a:xfrm>
          <a:prstGeom prst="rect">
            <a:avLst/>
          </a:prstGeom>
          <a:solidFill>
            <a:schemeClr val="accent6"/>
          </a:solidFill>
          <a:ln w="9525">
            <a:solidFill>
              <a:srgbClr val="2A2F36"/>
            </a:solidFill>
            <a:prstDash val="solid"/>
          </a:ln>
        </p:spPr>
      </p:sp>
      <p:sp>
        <p:nvSpPr>
          <p:cNvPr id="25" name="Shape 22"/>
          <p:cNvSpPr/>
          <p:nvPr/>
        </p:nvSpPr>
        <p:spPr>
          <a:xfrm>
            <a:off x="2948940" y="2852928"/>
            <a:ext cx="457200" cy="457200"/>
          </a:xfrm>
          <a:prstGeom prst="rect">
            <a:avLst/>
          </a:prstGeom>
          <a:solidFill>
            <a:schemeClr val="accent6"/>
          </a:solidFill>
          <a:ln w="9525">
            <a:solidFill>
              <a:srgbClr val="2A2F36"/>
            </a:solidFill>
            <a:prstDash val="solid"/>
          </a:ln>
        </p:spPr>
      </p:sp>
      <p:sp>
        <p:nvSpPr>
          <p:cNvPr id="26" name="Shape 23"/>
          <p:cNvSpPr/>
          <p:nvPr/>
        </p:nvSpPr>
        <p:spPr>
          <a:xfrm>
            <a:off x="1120140" y="3310128"/>
            <a:ext cx="457200" cy="457200"/>
          </a:xfrm>
          <a:prstGeom prst="rect">
            <a:avLst/>
          </a:prstGeom>
          <a:solidFill>
            <a:schemeClr val="accent6"/>
          </a:solidFill>
          <a:ln w="9525">
            <a:solidFill>
              <a:srgbClr val="2A2F36"/>
            </a:solidFill>
            <a:prstDash val="solid"/>
          </a:ln>
        </p:spPr>
      </p:sp>
      <p:sp>
        <p:nvSpPr>
          <p:cNvPr id="27" name="Shape 24"/>
          <p:cNvSpPr/>
          <p:nvPr/>
        </p:nvSpPr>
        <p:spPr>
          <a:xfrm>
            <a:off x="1577340" y="3310128"/>
            <a:ext cx="457200" cy="457200"/>
          </a:xfrm>
          <a:prstGeom prst="rect">
            <a:avLst/>
          </a:prstGeom>
          <a:solidFill>
            <a:schemeClr val="accent6"/>
          </a:solidFill>
          <a:ln w="9525">
            <a:solidFill>
              <a:srgbClr val="2A2F36"/>
            </a:solidFill>
            <a:prstDash val="solid"/>
          </a:ln>
        </p:spPr>
      </p:sp>
      <p:sp>
        <p:nvSpPr>
          <p:cNvPr id="28" name="Shape 25"/>
          <p:cNvSpPr/>
          <p:nvPr/>
        </p:nvSpPr>
        <p:spPr>
          <a:xfrm>
            <a:off x="2034540" y="3310128"/>
            <a:ext cx="457200" cy="457200"/>
          </a:xfrm>
          <a:prstGeom prst="rect">
            <a:avLst/>
          </a:prstGeom>
          <a:solidFill>
            <a:schemeClr val="accent6"/>
          </a:solidFill>
          <a:ln w="9525">
            <a:solidFill>
              <a:srgbClr val="2A2F36"/>
            </a:solidFill>
            <a:prstDash val="solid"/>
          </a:ln>
        </p:spPr>
      </p:sp>
      <p:sp>
        <p:nvSpPr>
          <p:cNvPr id="29" name="Shape 26"/>
          <p:cNvSpPr/>
          <p:nvPr/>
        </p:nvSpPr>
        <p:spPr>
          <a:xfrm>
            <a:off x="2491740" y="3310128"/>
            <a:ext cx="457200" cy="457200"/>
          </a:xfrm>
          <a:prstGeom prst="rect">
            <a:avLst/>
          </a:prstGeom>
          <a:solidFill>
            <a:schemeClr val="accent6"/>
          </a:solidFill>
          <a:ln w="9525">
            <a:solidFill>
              <a:srgbClr val="2A2F36"/>
            </a:solidFill>
            <a:prstDash val="solid"/>
          </a:ln>
        </p:spPr>
      </p:sp>
      <p:sp>
        <p:nvSpPr>
          <p:cNvPr id="30" name="Shape 27"/>
          <p:cNvSpPr/>
          <p:nvPr/>
        </p:nvSpPr>
        <p:spPr>
          <a:xfrm>
            <a:off x="2948940" y="3310128"/>
            <a:ext cx="457200" cy="457200"/>
          </a:xfrm>
          <a:prstGeom prst="rect">
            <a:avLst/>
          </a:prstGeom>
          <a:solidFill>
            <a:schemeClr val="accent6"/>
          </a:solidFill>
          <a:ln w="9525">
            <a:solidFill>
              <a:srgbClr val="2A2F36"/>
            </a:solidFill>
            <a:prstDash val="solid"/>
          </a:ln>
        </p:spPr>
      </p:sp>
      <p:sp>
        <p:nvSpPr>
          <p:cNvPr id="31" name="Shape 28"/>
          <p:cNvSpPr/>
          <p:nvPr/>
        </p:nvSpPr>
        <p:spPr>
          <a:xfrm>
            <a:off x="1613916" y="2432304"/>
            <a:ext cx="841248" cy="841248"/>
          </a:xfrm>
          <a:prstGeom prst="rect">
            <a:avLst/>
          </a:prstGeom>
          <a:solidFill>
            <a:schemeClr val="accent1">
              <a:alpha val="30000"/>
            </a:schemeClr>
          </a:solidFill>
          <a:ln w="19050">
            <a:solidFill>
              <a:srgbClr val="FFB020"/>
            </a:solidFill>
            <a:prstDash val="solid"/>
          </a:ln>
        </p:spPr>
      </p:sp>
      <p:sp>
        <p:nvSpPr>
          <p:cNvPr id="32" name="Text 29"/>
          <p:cNvSpPr txBox="1"/>
          <p:nvPr/>
        </p:nvSpPr>
        <p:spPr>
          <a:xfrm>
            <a:off x="1613916" y="2432304"/>
            <a:ext cx="841248" cy="841248"/>
          </a:xfrm>
          <a:prstGeom prst="rect">
            <a:avLst/>
          </a:prstGeom>
          <a:noFill/>
          <a:ln/>
        </p:spPr>
        <p:txBody>
          <a:bodyPr wrap="square" lIns="0" tIns="0" rIns="0" bIns="0" rtlCol="0" anchor="ctr"/>
          <a:lstStyle/>
          <a:p>
            <a:pPr algn="ctr" indent="0" marL="0">
              <a:lnSpc>
                <a:spcPct val="120000"/>
              </a:lnSpc>
              <a:buNone/>
            </a:pPr>
            <a:r>
              <a:rPr lang="ko-KR" altLang="en-US" sz="1000" b="1" dirty="0">
                <a:solidFill>
                  <a:schemeClr val="bg1"/>
                </a:solidFill>
              </a:rPr>
              <a:t>2×2</a:t>
            </a:r>
            <a:endParaRPr lang="ko-KR" sz="1000" dirty="0"/>
          </a:p>
        </p:txBody>
      </p:sp>
      <p:sp>
        <p:nvSpPr>
          <p:cNvPr id="33" name="Shape 30"/>
          <p:cNvSpPr/>
          <p:nvPr/>
        </p:nvSpPr>
        <p:spPr>
          <a:xfrm>
            <a:off x="1970532" y="2962656"/>
            <a:ext cx="128016" cy="128016"/>
          </a:xfrm>
          <a:prstGeom prst="ellipse">
            <a:avLst/>
          </a:prstGeom>
          <a:solidFill>
            <a:schemeClr val="bg1"/>
          </a:solidFill>
          <a:ln w="12700">
            <a:solidFill>
              <a:srgbClr val="0E1012"/>
            </a:solidFill>
            <a:prstDash val="solid"/>
          </a:ln>
        </p:spPr>
      </p:sp>
      <p:sp>
        <p:nvSpPr>
          <p:cNvPr id="34" name="Text 31"/>
          <p:cNvSpPr txBox="1"/>
          <p:nvPr/>
        </p:nvSpPr>
        <p:spPr>
          <a:xfrm>
            <a:off x="2125980" y="2926080"/>
            <a:ext cx="548640" cy="201168"/>
          </a:xfrm>
          <a:prstGeom prst="rect">
            <a:avLst/>
          </a:prstGeom>
          <a:noFill/>
          <a:ln/>
        </p:spPr>
        <p:txBody>
          <a:bodyPr wrap="square" lIns="0" tIns="0" rIns="0" bIns="0" rtlCol="0" anchor="t"/>
          <a:lstStyle/>
          <a:p>
            <a:pPr indent="0" marL="0">
              <a:lnSpc>
                <a:spcPct val="120000"/>
              </a:lnSpc>
              <a:buNone/>
            </a:pPr>
            <a:r>
              <a:rPr lang="ko-KR" altLang="en-US" sz="900" dirty="0">
                <a:solidFill>
                  <a:schemeClr val="bg1"/>
                </a:solidFill>
              </a:rPr>
              <a:t>마우스</a:t>
            </a:r>
            <a:endParaRPr lang="ko-KR" sz="900" dirty="0"/>
          </a:p>
        </p:txBody>
      </p:sp>
      <p:sp>
        <p:nvSpPr>
          <p:cNvPr id="35" name="Text 32"/>
          <p:cNvSpPr txBox="1"/>
          <p:nvPr/>
        </p:nvSpPr>
        <p:spPr>
          <a:xfrm>
            <a:off x="1632204" y="2441448"/>
            <a:ext cx="457200" cy="182880"/>
          </a:xfrm>
          <a:prstGeom prst="rect">
            <a:avLst/>
          </a:prstGeom>
          <a:noFill/>
          <a:ln/>
        </p:spPr>
        <p:txBody>
          <a:bodyPr wrap="square" lIns="0" tIns="0" rIns="0" bIns="0" rtlCol="0" anchor="t"/>
          <a:lstStyle/>
          <a:p>
            <a:pPr indent="0" marL="0">
              <a:lnSpc>
                <a:spcPct val="120000"/>
              </a:lnSpc>
              <a:buNone/>
            </a:pPr>
            <a:r>
              <a:rPr lang="ko-KR" altLang="en-US" sz="850" b="1" dirty="0">
                <a:solidFill>
                  <a:schemeClr val="accent2"/>
                </a:solidFill>
                <a:latin typeface="Consolas" pitchFamily="34" charset="0"/>
                <a:ea typeface="Consolas" pitchFamily="34" charset="-122"/>
                <a:cs typeface="Consolas" pitchFamily="34" charset="-120"/>
              </a:rPr>
              <a:t>칸 6</a:t>
            </a:r>
            <a:endParaRPr lang="ko-KR" sz="850" dirty="0"/>
          </a:p>
        </p:txBody>
      </p:sp>
      <p:sp>
        <p:nvSpPr>
          <p:cNvPr id="36" name="Text 33"/>
          <p:cNvSpPr txBox="1"/>
          <p:nvPr/>
        </p:nvSpPr>
        <p:spPr>
          <a:xfrm>
            <a:off x="676656" y="3877056"/>
            <a:ext cx="3172968" cy="658368"/>
          </a:xfrm>
          <a:prstGeom prst="rect">
            <a:avLst/>
          </a:prstGeom>
          <a:noFill/>
          <a:ln/>
        </p:spPr>
        <p:txBody>
          <a:bodyPr wrap="square" lIns="0" tIns="0" rIns="0" bIns="0" rtlCol="0" anchor="t"/>
          <a:lstStyle/>
          <a:p>
            <a:pPr indent="0" marL="0">
              <a:lnSpc>
                <a:spcPct val="125000"/>
              </a:lnSpc>
              <a:buNone/>
            </a:pPr>
            <a:r>
              <a:rPr lang="ko-KR" altLang="en-US" sz="1150" dirty="0">
                <a:solidFill>
                  <a:schemeClr val="bg2"/>
                </a:solidFill>
              </a:rPr>
              <a:t>아이템 중심을 마우스에 맞추고, 왼쪽 위 칸 = (마우스 − 크기 × 32px) ÷ 64px</a:t>
            </a:r>
            <a:endParaRPr lang="ko-KR" sz="1150" dirty="0"/>
          </a:p>
        </p:txBody>
      </p:sp>
      <p:sp>
        <p:nvSpPr>
          <p:cNvPr id="37" name="Shape 34"/>
          <p:cNvSpPr/>
          <p:nvPr/>
        </p:nvSpPr>
        <p:spPr>
          <a:xfrm>
            <a:off x="4288536" y="1371600"/>
            <a:ext cx="3611880" cy="3246120"/>
          </a:xfrm>
          <a:prstGeom prst="rect">
            <a:avLst/>
          </a:prstGeom>
          <a:solidFill>
            <a:schemeClr val="tx2"/>
          </a:solidFill>
          <a:ln w="9525">
            <a:solidFill>
              <a:srgbClr val="2A2F36"/>
            </a:solidFill>
            <a:prstDash val="solid"/>
          </a:ln>
        </p:spPr>
      </p:sp>
      <p:sp>
        <p:nvSpPr>
          <p:cNvPr id="38" name="Shape 35"/>
          <p:cNvSpPr/>
          <p:nvPr/>
        </p:nvSpPr>
        <p:spPr>
          <a:xfrm>
            <a:off x="4288536" y="1371600"/>
            <a:ext cx="182880" cy="0"/>
          </a:xfrm>
          <a:prstGeom prst="line">
            <a:avLst/>
          </a:prstGeom>
          <a:noFill/>
          <a:ln w="22225">
            <a:solidFill>
              <a:schemeClr val="accent1"/>
            </a:solidFill>
            <a:prstDash val="solid"/>
          </a:ln>
        </p:spPr>
      </p:sp>
      <p:sp>
        <p:nvSpPr>
          <p:cNvPr id="39" name="Shape 36"/>
          <p:cNvSpPr/>
          <p:nvPr/>
        </p:nvSpPr>
        <p:spPr>
          <a:xfrm>
            <a:off x="4288536" y="1371600"/>
            <a:ext cx="0" cy="182880"/>
          </a:xfrm>
          <a:prstGeom prst="line">
            <a:avLst/>
          </a:prstGeom>
          <a:noFill/>
          <a:ln w="22225">
            <a:solidFill>
              <a:schemeClr val="accent1"/>
            </a:solidFill>
            <a:prstDash val="solid"/>
          </a:ln>
        </p:spPr>
      </p:sp>
      <p:sp>
        <p:nvSpPr>
          <p:cNvPr id="40" name="Shape 37"/>
          <p:cNvSpPr/>
          <p:nvPr/>
        </p:nvSpPr>
        <p:spPr>
          <a:xfrm>
            <a:off x="7717536" y="4617720"/>
            <a:ext cx="182880" cy="0"/>
          </a:xfrm>
          <a:prstGeom prst="line">
            <a:avLst/>
          </a:prstGeom>
          <a:noFill/>
          <a:ln w="22225">
            <a:solidFill>
              <a:schemeClr val="accent1"/>
            </a:solidFill>
            <a:prstDash val="solid"/>
          </a:ln>
        </p:spPr>
      </p:sp>
      <p:sp>
        <p:nvSpPr>
          <p:cNvPr id="41" name="Shape 38"/>
          <p:cNvSpPr/>
          <p:nvPr/>
        </p:nvSpPr>
        <p:spPr>
          <a:xfrm>
            <a:off x="7900416" y="4434840"/>
            <a:ext cx="0" cy="182880"/>
          </a:xfrm>
          <a:prstGeom prst="line">
            <a:avLst/>
          </a:prstGeom>
          <a:noFill/>
          <a:ln w="22225">
            <a:solidFill>
              <a:schemeClr val="accent1"/>
            </a:solidFill>
            <a:prstDash val="solid"/>
          </a:ln>
        </p:spPr>
      </p:sp>
      <p:sp>
        <p:nvSpPr>
          <p:cNvPr id="42" name="Text 39"/>
          <p:cNvSpPr txBox="1"/>
          <p:nvPr/>
        </p:nvSpPr>
        <p:spPr>
          <a:xfrm>
            <a:off x="4507992" y="1527048"/>
            <a:ext cx="317296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② 범위 클램프</a:t>
            </a:r>
            <a:endParaRPr lang="ko-KR" sz="1450" dirty="0"/>
          </a:p>
        </p:txBody>
      </p:sp>
      <p:sp>
        <p:nvSpPr>
          <p:cNvPr id="43" name="Shape 40"/>
          <p:cNvSpPr/>
          <p:nvPr/>
        </p:nvSpPr>
        <p:spPr>
          <a:xfrm>
            <a:off x="4951476" y="1938528"/>
            <a:ext cx="457200" cy="457200"/>
          </a:xfrm>
          <a:prstGeom prst="rect">
            <a:avLst/>
          </a:prstGeom>
          <a:solidFill>
            <a:schemeClr val="accent6"/>
          </a:solidFill>
          <a:ln w="9525">
            <a:solidFill>
              <a:srgbClr val="2A2F36"/>
            </a:solidFill>
            <a:prstDash val="solid"/>
          </a:ln>
        </p:spPr>
      </p:sp>
      <p:sp>
        <p:nvSpPr>
          <p:cNvPr id="44" name="Shape 41"/>
          <p:cNvSpPr/>
          <p:nvPr/>
        </p:nvSpPr>
        <p:spPr>
          <a:xfrm>
            <a:off x="5408676" y="1938528"/>
            <a:ext cx="457200" cy="457200"/>
          </a:xfrm>
          <a:prstGeom prst="rect">
            <a:avLst/>
          </a:prstGeom>
          <a:solidFill>
            <a:schemeClr val="accent6"/>
          </a:solidFill>
          <a:ln w="9525">
            <a:solidFill>
              <a:srgbClr val="2A2F36"/>
            </a:solidFill>
            <a:prstDash val="solid"/>
          </a:ln>
        </p:spPr>
      </p:sp>
      <p:sp>
        <p:nvSpPr>
          <p:cNvPr id="45" name="Shape 42"/>
          <p:cNvSpPr/>
          <p:nvPr/>
        </p:nvSpPr>
        <p:spPr>
          <a:xfrm>
            <a:off x="5865876" y="1938528"/>
            <a:ext cx="457200" cy="457200"/>
          </a:xfrm>
          <a:prstGeom prst="rect">
            <a:avLst/>
          </a:prstGeom>
          <a:solidFill>
            <a:schemeClr val="accent6"/>
          </a:solidFill>
          <a:ln w="9525">
            <a:solidFill>
              <a:srgbClr val="2A2F36"/>
            </a:solidFill>
            <a:prstDash val="solid"/>
          </a:ln>
        </p:spPr>
      </p:sp>
      <p:sp>
        <p:nvSpPr>
          <p:cNvPr id="46" name="Shape 43"/>
          <p:cNvSpPr/>
          <p:nvPr/>
        </p:nvSpPr>
        <p:spPr>
          <a:xfrm>
            <a:off x="6323076" y="1938528"/>
            <a:ext cx="457200" cy="457200"/>
          </a:xfrm>
          <a:prstGeom prst="rect">
            <a:avLst/>
          </a:prstGeom>
          <a:solidFill>
            <a:schemeClr val="accent6"/>
          </a:solidFill>
          <a:ln w="9525">
            <a:solidFill>
              <a:srgbClr val="2A2F36"/>
            </a:solidFill>
            <a:prstDash val="solid"/>
          </a:ln>
        </p:spPr>
      </p:sp>
      <p:sp>
        <p:nvSpPr>
          <p:cNvPr id="47" name="Shape 44"/>
          <p:cNvSpPr/>
          <p:nvPr/>
        </p:nvSpPr>
        <p:spPr>
          <a:xfrm>
            <a:off x="6780276" y="1938528"/>
            <a:ext cx="457200" cy="457200"/>
          </a:xfrm>
          <a:prstGeom prst="rect">
            <a:avLst/>
          </a:prstGeom>
          <a:solidFill>
            <a:schemeClr val="accent6"/>
          </a:solidFill>
          <a:ln w="9525">
            <a:solidFill>
              <a:srgbClr val="2A2F36"/>
            </a:solidFill>
            <a:prstDash val="solid"/>
          </a:ln>
        </p:spPr>
      </p:sp>
      <p:sp>
        <p:nvSpPr>
          <p:cNvPr id="48" name="Shape 45"/>
          <p:cNvSpPr/>
          <p:nvPr/>
        </p:nvSpPr>
        <p:spPr>
          <a:xfrm>
            <a:off x="4951476" y="2395728"/>
            <a:ext cx="457200" cy="457200"/>
          </a:xfrm>
          <a:prstGeom prst="rect">
            <a:avLst/>
          </a:prstGeom>
          <a:solidFill>
            <a:schemeClr val="accent6"/>
          </a:solidFill>
          <a:ln w="9525">
            <a:solidFill>
              <a:srgbClr val="2A2F36"/>
            </a:solidFill>
            <a:prstDash val="solid"/>
          </a:ln>
        </p:spPr>
      </p:sp>
      <p:sp>
        <p:nvSpPr>
          <p:cNvPr id="49" name="Shape 46"/>
          <p:cNvSpPr/>
          <p:nvPr/>
        </p:nvSpPr>
        <p:spPr>
          <a:xfrm>
            <a:off x="5408676" y="2395728"/>
            <a:ext cx="457200" cy="457200"/>
          </a:xfrm>
          <a:prstGeom prst="rect">
            <a:avLst/>
          </a:prstGeom>
          <a:solidFill>
            <a:schemeClr val="accent6"/>
          </a:solidFill>
          <a:ln w="9525">
            <a:solidFill>
              <a:srgbClr val="2A2F36"/>
            </a:solidFill>
            <a:prstDash val="solid"/>
          </a:ln>
        </p:spPr>
      </p:sp>
      <p:sp>
        <p:nvSpPr>
          <p:cNvPr id="50" name="Shape 47"/>
          <p:cNvSpPr/>
          <p:nvPr/>
        </p:nvSpPr>
        <p:spPr>
          <a:xfrm>
            <a:off x="5865876" y="2395728"/>
            <a:ext cx="457200" cy="457200"/>
          </a:xfrm>
          <a:prstGeom prst="rect">
            <a:avLst/>
          </a:prstGeom>
          <a:solidFill>
            <a:schemeClr val="accent6"/>
          </a:solidFill>
          <a:ln w="9525">
            <a:solidFill>
              <a:srgbClr val="2A2F36"/>
            </a:solidFill>
            <a:prstDash val="solid"/>
          </a:ln>
        </p:spPr>
      </p:sp>
      <p:sp>
        <p:nvSpPr>
          <p:cNvPr id="51" name="Shape 48"/>
          <p:cNvSpPr/>
          <p:nvPr/>
        </p:nvSpPr>
        <p:spPr>
          <a:xfrm>
            <a:off x="6323076" y="2395728"/>
            <a:ext cx="457200" cy="457200"/>
          </a:xfrm>
          <a:prstGeom prst="rect">
            <a:avLst/>
          </a:prstGeom>
          <a:solidFill>
            <a:schemeClr val="accent6"/>
          </a:solidFill>
          <a:ln w="9525">
            <a:solidFill>
              <a:srgbClr val="2A2F36"/>
            </a:solidFill>
            <a:prstDash val="solid"/>
          </a:ln>
        </p:spPr>
      </p:sp>
      <p:sp>
        <p:nvSpPr>
          <p:cNvPr id="52" name="Shape 49"/>
          <p:cNvSpPr/>
          <p:nvPr/>
        </p:nvSpPr>
        <p:spPr>
          <a:xfrm>
            <a:off x="6780276" y="2395728"/>
            <a:ext cx="457200" cy="457200"/>
          </a:xfrm>
          <a:prstGeom prst="rect">
            <a:avLst/>
          </a:prstGeom>
          <a:solidFill>
            <a:schemeClr val="accent6"/>
          </a:solidFill>
          <a:ln w="9525">
            <a:solidFill>
              <a:srgbClr val="2A2F36"/>
            </a:solidFill>
            <a:prstDash val="solid"/>
          </a:ln>
        </p:spPr>
      </p:sp>
      <p:sp>
        <p:nvSpPr>
          <p:cNvPr id="53" name="Shape 50"/>
          <p:cNvSpPr/>
          <p:nvPr/>
        </p:nvSpPr>
        <p:spPr>
          <a:xfrm>
            <a:off x="4951476" y="2852928"/>
            <a:ext cx="457200" cy="457200"/>
          </a:xfrm>
          <a:prstGeom prst="rect">
            <a:avLst/>
          </a:prstGeom>
          <a:solidFill>
            <a:schemeClr val="accent6"/>
          </a:solidFill>
          <a:ln w="9525">
            <a:solidFill>
              <a:srgbClr val="2A2F36"/>
            </a:solidFill>
            <a:prstDash val="solid"/>
          </a:ln>
        </p:spPr>
      </p:sp>
      <p:sp>
        <p:nvSpPr>
          <p:cNvPr id="54" name="Shape 51"/>
          <p:cNvSpPr/>
          <p:nvPr/>
        </p:nvSpPr>
        <p:spPr>
          <a:xfrm>
            <a:off x="5408676" y="2852928"/>
            <a:ext cx="457200" cy="457200"/>
          </a:xfrm>
          <a:prstGeom prst="rect">
            <a:avLst/>
          </a:prstGeom>
          <a:solidFill>
            <a:schemeClr val="accent6"/>
          </a:solidFill>
          <a:ln w="9525">
            <a:solidFill>
              <a:srgbClr val="2A2F36"/>
            </a:solidFill>
            <a:prstDash val="solid"/>
          </a:ln>
        </p:spPr>
      </p:sp>
      <p:sp>
        <p:nvSpPr>
          <p:cNvPr id="55" name="Shape 52"/>
          <p:cNvSpPr/>
          <p:nvPr/>
        </p:nvSpPr>
        <p:spPr>
          <a:xfrm>
            <a:off x="5865876" y="2852928"/>
            <a:ext cx="457200" cy="457200"/>
          </a:xfrm>
          <a:prstGeom prst="rect">
            <a:avLst/>
          </a:prstGeom>
          <a:solidFill>
            <a:schemeClr val="accent6"/>
          </a:solidFill>
          <a:ln w="9525">
            <a:solidFill>
              <a:srgbClr val="2A2F36"/>
            </a:solidFill>
            <a:prstDash val="solid"/>
          </a:ln>
        </p:spPr>
      </p:sp>
      <p:sp>
        <p:nvSpPr>
          <p:cNvPr id="56" name="Shape 53"/>
          <p:cNvSpPr/>
          <p:nvPr/>
        </p:nvSpPr>
        <p:spPr>
          <a:xfrm>
            <a:off x="6323076" y="2852928"/>
            <a:ext cx="457200" cy="457200"/>
          </a:xfrm>
          <a:prstGeom prst="rect">
            <a:avLst/>
          </a:prstGeom>
          <a:solidFill>
            <a:schemeClr val="accent6"/>
          </a:solidFill>
          <a:ln w="9525">
            <a:solidFill>
              <a:srgbClr val="2A2F36"/>
            </a:solidFill>
            <a:prstDash val="solid"/>
          </a:ln>
        </p:spPr>
      </p:sp>
      <p:sp>
        <p:nvSpPr>
          <p:cNvPr id="57" name="Shape 54"/>
          <p:cNvSpPr/>
          <p:nvPr/>
        </p:nvSpPr>
        <p:spPr>
          <a:xfrm>
            <a:off x="6780276" y="2852928"/>
            <a:ext cx="457200" cy="457200"/>
          </a:xfrm>
          <a:prstGeom prst="rect">
            <a:avLst/>
          </a:prstGeom>
          <a:solidFill>
            <a:schemeClr val="accent6"/>
          </a:solidFill>
          <a:ln w="9525">
            <a:solidFill>
              <a:srgbClr val="2A2F36"/>
            </a:solidFill>
            <a:prstDash val="solid"/>
          </a:ln>
        </p:spPr>
      </p:sp>
      <p:sp>
        <p:nvSpPr>
          <p:cNvPr id="58" name="Shape 55"/>
          <p:cNvSpPr/>
          <p:nvPr/>
        </p:nvSpPr>
        <p:spPr>
          <a:xfrm>
            <a:off x="4951476" y="3310128"/>
            <a:ext cx="457200" cy="457200"/>
          </a:xfrm>
          <a:prstGeom prst="rect">
            <a:avLst/>
          </a:prstGeom>
          <a:solidFill>
            <a:schemeClr val="accent6"/>
          </a:solidFill>
          <a:ln w="9525">
            <a:solidFill>
              <a:srgbClr val="2A2F36"/>
            </a:solidFill>
            <a:prstDash val="solid"/>
          </a:ln>
        </p:spPr>
      </p:sp>
      <p:sp>
        <p:nvSpPr>
          <p:cNvPr id="59" name="Shape 56"/>
          <p:cNvSpPr/>
          <p:nvPr/>
        </p:nvSpPr>
        <p:spPr>
          <a:xfrm>
            <a:off x="5408676" y="3310128"/>
            <a:ext cx="457200" cy="457200"/>
          </a:xfrm>
          <a:prstGeom prst="rect">
            <a:avLst/>
          </a:prstGeom>
          <a:solidFill>
            <a:schemeClr val="accent6"/>
          </a:solidFill>
          <a:ln w="9525">
            <a:solidFill>
              <a:srgbClr val="2A2F36"/>
            </a:solidFill>
            <a:prstDash val="solid"/>
          </a:ln>
        </p:spPr>
      </p:sp>
      <p:sp>
        <p:nvSpPr>
          <p:cNvPr id="60" name="Shape 57"/>
          <p:cNvSpPr/>
          <p:nvPr/>
        </p:nvSpPr>
        <p:spPr>
          <a:xfrm>
            <a:off x="5865876" y="3310128"/>
            <a:ext cx="457200" cy="457200"/>
          </a:xfrm>
          <a:prstGeom prst="rect">
            <a:avLst/>
          </a:prstGeom>
          <a:solidFill>
            <a:schemeClr val="accent6"/>
          </a:solidFill>
          <a:ln w="9525">
            <a:solidFill>
              <a:srgbClr val="2A2F36"/>
            </a:solidFill>
            <a:prstDash val="solid"/>
          </a:ln>
        </p:spPr>
      </p:sp>
      <p:sp>
        <p:nvSpPr>
          <p:cNvPr id="61" name="Shape 58"/>
          <p:cNvSpPr/>
          <p:nvPr/>
        </p:nvSpPr>
        <p:spPr>
          <a:xfrm>
            <a:off x="6323076" y="3310128"/>
            <a:ext cx="457200" cy="457200"/>
          </a:xfrm>
          <a:prstGeom prst="rect">
            <a:avLst/>
          </a:prstGeom>
          <a:solidFill>
            <a:schemeClr val="accent6"/>
          </a:solidFill>
          <a:ln w="9525">
            <a:solidFill>
              <a:srgbClr val="2A2F36"/>
            </a:solidFill>
            <a:prstDash val="solid"/>
          </a:ln>
        </p:spPr>
      </p:sp>
      <p:sp>
        <p:nvSpPr>
          <p:cNvPr id="62" name="Shape 59"/>
          <p:cNvSpPr/>
          <p:nvPr/>
        </p:nvSpPr>
        <p:spPr>
          <a:xfrm>
            <a:off x="6780276" y="3310128"/>
            <a:ext cx="457200" cy="457200"/>
          </a:xfrm>
          <a:prstGeom prst="rect">
            <a:avLst/>
          </a:prstGeom>
          <a:solidFill>
            <a:schemeClr val="accent6"/>
          </a:solidFill>
          <a:ln w="9525">
            <a:solidFill>
              <a:srgbClr val="2A2F36"/>
            </a:solidFill>
            <a:prstDash val="solid"/>
          </a:ln>
        </p:spPr>
      </p:sp>
      <p:sp>
        <p:nvSpPr>
          <p:cNvPr id="63" name="Shape 60"/>
          <p:cNvSpPr/>
          <p:nvPr/>
        </p:nvSpPr>
        <p:spPr>
          <a:xfrm>
            <a:off x="6816852" y="2889504"/>
            <a:ext cx="841248" cy="841248"/>
          </a:xfrm>
          <a:prstGeom prst="rect">
            <a:avLst/>
          </a:prstGeom>
          <a:solidFill>
            <a:schemeClr val="accent5">
              <a:alpha val="15000"/>
            </a:schemeClr>
          </a:solidFill>
          <a:ln w="19050">
            <a:solidFill>
              <a:srgbClr val="7D8894"/>
            </a:solidFill>
            <a:prstDash val="dash"/>
          </a:ln>
        </p:spPr>
      </p:sp>
      <p:sp>
        <p:nvSpPr>
          <p:cNvPr id="64" name="Text 61"/>
          <p:cNvSpPr txBox="1"/>
          <p:nvPr/>
        </p:nvSpPr>
        <p:spPr>
          <a:xfrm>
            <a:off x="6597396" y="2377440"/>
            <a:ext cx="914400" cy="182880"/>
          </a:xfrm>
          <a:prstGeom prst="rect">
            <a:avLst/>
          </a:prstGeom>
          <a:noFill/>
          <a:ln/>
        </p:spPr>
        <p:txBody>
          <a:bodyPr wrap="square" lIns="0" tIns="0" rIns="0" bIns="0" rtlCol="0" anchor="t"/>
          <a:lstStyle/>
          <a:p>
            <a:pPr algn="ctr" indent="0" marL="0">
              <a:lnSpc>
                <a:spcPct val="120000"/>
              </a:lnSpc>
              <a:buNone/>
            </a:pPr>
            <a:r>
              <a:rPr lang="ko-KR" altLang="en-US" sz="900" dirty="0">
                <a:solidFill>
                  <a:schemeClr val="accent5"/>
                </a:solidFill>
              </a:rPr>
              <a:t>그리드 밖</a:t>
            </a:r>
            <a:endParaRPr lang="ko-KR" sz="900" dirty="0"/>
          </a:p>
        </p:txBody>
      </p:sp>
      <p:sp>
        <p:nvSpPr>
          <p:cNvPr id="65" name="Shape 62"/>
          <p:cNvSpPr/>
          <p:nvPr/>
        </p:nvSpPr>
        <p:spPr>
          <a:xfrm>
            <a:off x="6359652" y="2889504"/>
            <a:ext cx="841248" cy="841248"/>
          </a:xfrm>
          <a:prstGeom prst="rect">
            <a:avLst/>
          </a:prstGeom>
          <a:solidFill>
            <a:schemeClr val="accent1">
              <a:alpha val="30000"/>
            </a:schemeClr>
          </a:solidFill>
          <a:ln w="19050">
            <a:solidFill>
              <a:srgbClr val="FFB020"/>
            </a:solidFill>
            <a:prstDash val="solid"/>
          </a:ln>
        </p:spPr>
      </p:sp>
      <p:sp>
        <p:nvSpPr>
          <p:cNvPr id="66" name="Text 63"/>
          <p:cNvSpPr txBox="1"/>
          <p:nvPr/>
        </p:nvSpPr>
        <p:spPr>
          <a:xfrm>
            <a:off x="6359652" y="2889504"/>
            <a:ext cx="841248" cy="841248"/>
          </a:xfrm>
          <a:prstGeom prst="rect">
            <a:avLst/>
          </a:prstGeom>
          <a:noFill/>
          <a:ln/>
        </p:spPr>
        <p:txBody>
          <a:bodyPr wrap="square" lIns="0" tIns="0" rIns="0" bIns="0" rtlCol="0" anchor="ctr"/>
          <a:lstStyle/>
          <a:p>
            <a:pPr algn="ctr" indent="0" marL="0">
              <a:lnSpc>
                <a:spcPct val="120000"/>
              </a:lnSpc>
              <a:buNone/>
            </a:pPr>
            <a:r>
              <a:rPr lang="ko-KR" altLang="en-US" sz="1000" b="1" dirty="0">
                <a:solidFill>
                  <a:schemeClr val="bg1"/>
                </a:solidFill>
              </a:rPr>
              <a:t>2×2</a:t>
            </a:r>
            <a:endParaRPr lang="ko-KR" sz="1000" dirty="0"/>
          </a:p>
        </p:txBody>
      </p:sp>
      <p:sp>
        <p:nvSpPr>
          <p:cNvPr id="67" name="Shape 64"/>
          <p:cNvSpPr/>
          <p:nvPr/>
        </p:nvSpPr>
        <p:spPr>
          <a:xfrm>
            <a:off x="6963156" y="2715768"/>
            <a:ext cx="548640" cy="0"/>
          </a:xfrm>
          <a:prstGeom prst="line">
            <a:avLst/>
          </a:prstGeom>
          <a:noFill/>
          <a:ln w="19050">
            <a:solidFill>
              <a:srgbClr val="C3CCD7"/>
            </a:solidFill>
            <a:prstDash val="solid"/>
            <a:headEnd type="triangle"/>
          </a:ln>
        </p:spPr>
      </p:sp>
      <p:sp>
        <p:nvSpPr>
          <p:cNvPr id="68" name="Text 65"/>
          <p:cNvSpPr txBox="1"/>
          <p:nvPr/>
        </p:nvSpPr>
        <p:spPr>
          <a:xfrm>
            <a:off x="4507992" y="3877056"/>
            <a:ext cx="3172968" cy="658368"/>
          </a:xfrm>
          <a:prstGeom prst="rect">
            <a:avLst/>
          </a:prstGeom>
          <a:noFill/>
          <a:ln/>
        </p:spPr>
        <p:txBody>
          <a:bodyPr wrap="square" lIns="0" tIns="0" rIns="0" bIns="0" rtlCol="0" anchor="t"/>
          <a:lstStyle/>
          <a:p>
            <a:pPr indent="0" marL="0">
              <a:lnSpc>
                <a:spcPct val="125000"/>
              </a:lnSpc>
              <a:buNone/>
            </a:pPr>
            <a:r>
              <a:rPr lang="ko-KR" altLang="en-US" sz="1150" dirty="0">
                <a:solidFill>
                  <a:schemeClr val="bg2"/>
                </a:solidFill>
              </a:rPr>
              <a:t>그리드 밖으로 나가면 가장자리 칸에 붙인다 — 0 ≤ 위치 ≤ (그리드 − 크기) × 64</a:t>
            </a:r>
            <a:endParaRPr lang="ko-KR" sz="1150" dirty="0"/>
          </a:p>
        </p:txBody>
      </p:sp>
      <p:sp>
        <p:nvSpPr>
          <p:cNvPr id="69" name="Shape 66"/>
          <p:cNvSpPr/>
          <p:nvPr/>
        </p:nvSpPr>
        <p:spPr>
          <a:xfrm>
            <a:off x="8119872" y="1371600"/>
            <a:ext cx="3611880" cy="3246120"/>
          </a:xfrm>
          <a:prstGeom prst="rect">
            <a:avLst/>
          </a:prstGeom>
          <a:solidFill>
            <a:schemeClr val="tx2"/>
          </a:solidFill>
          <a:ln w="9525">
            <a:solidFill>
              <a:srgbClr val="2A2F36"/>
            </a:solidFill>
            <a:prstDash val="solid"/>
          </a:ln>
        </p:spPr>
      </p:sp>
      <p:sp>
        <p:nvSpPr>
          <p:cNvPr id="70" name="Shape 67"/>
          <p:cNvSpPr/>
          <p:nvPr/>
        </p:nvSpPr>
        <p:spPr>
          <a:xfrm>
            <a:off x="8119872" y="1371600"/>
            <a:ext cx="182880" cy="0"/>
          </a:xfrm>
          <a:prstGeom prst="line">
            <a:avLst/>
          </a:prstGeom>
          <a:noFill/>
          <a:ln w="22225">
            <a:solidFill>
              <a:schemeClr val="accent1"/>
            </a:solidFill>
            <a:prstDash val="solid"/>
          </a:ln>
        </p:spPr>
      </p:sp>
      <p:sp>
        <p:nvSpPr>
          <p:cNvPr id="71" name="Shape 68"/>
          <p:cNvSpPr/>
          <p:nvPr/>
        </p:nvSpPr>
        <p:spPr>
          <a:xfrm>
            <a:off x="8119872" y="1371600"/>
            <a:ext cx="0" cy="182880"/>
          </a:xfrm>
          <a:prstGeom prst="line">
            <a:avLst/>
          </a:prstGeom>
          <a:noFill/>
          <a:ln w="22225">
            <a:solidFill>
              <a:schemeClr val="accent1"/>
            </a:solidFill>
            <a:prstDash val="solid"/>
          </a:ln>
        </p:spPr>
      </p:sp>
      <p:sp>
        <p:nvSpPr>
          <p:cNvPr id="72" name="Shape 69"/>
          <p:cNvSpPr/>
          <p:nvPr/>
        </p:nvSpPr>
        <p:spPr>
          <a:xfrm>
            <a:off x="11548872" y="4617720"/>
            <a:ext cx="182880" cy="0"/>
          </a:xfrm>
          <a:prstGeom prst="line">
            <a:avLst/>
          </a:prstGeom>
          <a:noFill/>
          <a:ln w="22225">
            <a:solidFill>
              <a:schemeClr val="accent1"/>
            </a:solidFill>
            <a:prstDash val="solid"/>
          </a:ln>
        </p:spPr>
      </p:sp>
      <p:sp>
        <p:nvSpPr>
          <p:cNvPr id="73" name="Shape 70"/>
          <p:cNvSpPr/>
          <p:nvPr/>
        </p:nvSpPr>
        <p:spPr>
          <a:xfrm>
            <a:off x="11731752" y="4434840"/>
            <a:ext cx="0" cy="182880"/>
          </a:xfrm>
          <a:prstGeom prst="line">
            <a:avLst/>
          </a:prstGeom>
          <a:noFill/>
          <a:ln w="22225">
            <a:solidFill>
              <a:schemeClr val="accent1"/>
            </a:solidFill>
            <a:prstDash val="solid"/>
          </a:ln>
        </p:spPr>
      </p:sp>
      <p:sp>
        <p:nvSpPr>
          <p:cNvPr id="74" name="Text 71"/>
          <p:cNvSpPr txBox="1"/>
          <p:nvPr/>
        </p:nvSpPr>
        <p:spPr>
          <a:xfrm>
            <a:off x="8339328" y="1527048"/>
            <a:ext cx="317296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③ 겹침 검사</a:t>
            </a:r>
            <a:endParaRPr lang="ko-KR" sz="1450" dirty="0"/>
          </a:p>
        </p:txBody>
      </p:sp>
      <p:sp>
        <p:nvSpPr>
          <p:cNvPr id="75" name="Shape 72"/>
          <p:cNvSpPr/>
          <p:nvPr/>
        </p:nvSpPr>
        <p:spPr>
          <a:xfrm>
            <a:off x="8782812" y="1938528"/>
            <a:ext cx="457200" cy="457200"/>
          </a:xfrm>
          <a:prstGeom prst="rect">
            <a:avLst/>
          </a:prstGeom>
          <a:solidFill>
            <a:schemeClr val="accent6"/>
          </a:solidFill>
          <a:ln w="9525">
            <a:solidFill>
              <a:srgbClr val="2A2F36"/>
            </a:solidFill>
            <a:prstDash val="solid"/>
          </a:ln>
        </p:spPr>
      </p:sp>
      <p:sp>
        <p:nvSpPr>
          <p:cNvPr id="76" name="Shape 73"/>
          <p:cNvSpPr/>
          <p:nvPr/>
        </p:nvSpPr>
        <p:spPr>
          <a:xfrm>
            <a:off x="9240012" y="1938528"/>
            <a:ext cx="457200" cy="457200"/>
          </a:xfrm>
          <a:prstGeom prst="rect">
            <a:avLst/>
          </a:prstGeom>
          <a:solidFill>
            <a:schemeClr val="accent6"/>
          </a:solidFill>
          <a:ln w="9525">
            <a:solidFill>
              <a:srgbClr val="2A2F36"/>
            </a:solidFill>
            <a:prstDash val="solid"/>
          </a:ln>
        </p:spPr>
      </p:sp>
      <p:sp>
        <p:nvSpPr>
          <p:cNvPr id="77" name="Shape 74"/>
          <p:cNvSpPr/>
          <p:nvPr/>
        </p:nvSpPr>
        <p:spPr>
          <a:xfrm>
            <a:off x="9697212" y="1938528"/>
            <a:ext cx="457200" cy="457200"/>
          </a:xfrm>
          <a:prstGeom prst="rect">
            <a:avLst/>
          </a:prstGeom>
          <a:solidFill>
            <a:schemeClr val="accent6"/>
          </a:solidFill>
          <a:ln w="9525">
            <a:solidFill>
              <a:srgbClr val="2A2F36"/>
            </a:solidFill>
            <a:prstDash val="solid"/>
          </a:ln>
        </p:spPr>
      </p:sp>
      <p:sp>
        <p:nvSpPr>
          <p:cNvPr id="78" name="Shape 75"/>
          <p:cNvSpPr/>
          <p:nvPr/>
        </p:nvSpPr>
        <p:spPr>
          <a:xfrm>
            <a:off x="10154412" y="1938528"/>
            <a:ext cx="457200" cy="457200"/>
          </a:xfrm>
          <a:prstGeom prst="rect">
            <a:avLst/>
          </a:prstGeom>
          <a:solidFill>
            <a:schemeClr val="accent6"/>
          </a:solidFill>
          <a:ln w="9525">
            <a:solidFill>
              <a:srgbClr val="2A2F36"/>
            </a:solidFill>
            <a:prstDash val="solid"/>
          </a:ln>
        </p:spPr>
      </p:sp>
      <p:sp>
        <p:nvSpPr>
          <p:cNvPr id="79" name="Shape 76"/>
          <p:cNvSpPr/>
          <p:nvPr/>
        </p:nvSpPr>
        <p:spPr>
          <a:xfrm>
            <a:off x="10611612" y="1938528"/>
            <a:ext cx="457200" cy="457200"/>
          </a:xfrm>
          <a:prstGeom prst="rect">
            <a:avLst/>
          </a:prstGeom>
          <a:solidFill>
            <a:schemeClr val="accent6"/>
          </a:solidFill>
          <a:ln w="9525">
            <a:solidFill>
              <a:srgbClr val="2A2F36"/>
            </a:solidFill>
            <a:prstDash val="solid"/>
          </a:ln>
        </p:spPr>
      </p:sp>
      <p:sp>
        <p:nvSpPr>
          <p:cNvPr id="80" name="Shape 77"/>
          <p:cNvSpPr/>
          <p:nvPr/>
        </p:nvSpPr>
        <p:spPr>
          <a:xfrm>
            <a:off x="8782812" y="2395728"/>
            <a:ext cx="457200" cy="457200"/>
          </a:xfrm>
          <a:prstGeom prst="rect">
            <a:avLst/>
          </a:prstGeom>
          <a:solidFill>
            <a:schemeClr val="accent6"/>
          </a:solidFill>
          <a:ln w="9525">
            <a:solidFill>
              <a:srgbClr val="2A2F36"/>
            </a:solidFill>
            <a:prstDash val="solid"/>
          </a:ln>
        </p:spPr>
      </p:sp>
      <p:sp>
        <p:nvSpPr>
          <p:cNvPr id="81" name="Shape 78"/>
          <p:cNvSpPr/>
          <p:nvPr/>
        </p:nvSpPr>
        <p:spPr>
          <a:xfrm>
            <a:off x="9240012" y="2395728"/>
            <a:ext cx="457200" cy="457200"/>
          </a:xfrm>
          <a:prstGeom prst="rect">
            <a:avLst/>
          </a:prstGeom>
          <a:solidFill>
            <a:schemeClr val="accent6"/>
          </a:solidFill>
          <a:ln w="9525">
            <a:solidFill>
              <a:srgbClr val="2A2F36"/>
            </a:solidFill>
            <a:prstDash val="solid"/>
          </a:ln>
        </p:spPr>
      </p:sp>
      <p:sp>
        <p:nvSpPr>
          <p:cNvPr id="82" name="Shape 79"/>
          <p:cNvSpPr/>
          <p:nvPr/>
        </p:nvSpPr>
        <p:spPr>
          <a:xfrm>
            <a:off x="9697212" y="2395728"/>
            <a:ext cx="457200" cy="457200"/>
          </a:xfrm>
          <a:prstGeom prst="rect">
            <a:avLst/>
          </a:prstGeom>
          <a:solidFill>
            <a:schemeClr val="accent6"/>
          </a:solidFill>
          <a:ln w="9525">
            <a:solidFill>
              <a:srgbClr val="2A2F36"/>
            </a:solidFill>
            <a:prstDash val="solid"/>
          </a:ln>
        </p:spPr>
      </p:sp>
      <p:sp>
        <p:nvSpPr>
          <p:cNvPr id="83" name="Shape 80"/>
          <p:cNvSpPr/>
          <p:nvPr/>
        </p:nvSpPr>
        <p:spPr>
          <a:xfrm>
            <a:off x="10154412" y="2395728"/>
            <a:ext cx="457200" cy="457200"/>
          </a:xfrm>
          <a:prstGeom prst="rect">
            <a:avLst/>
          </a:prstGeom>
          <a:solidFill>
            <a:schemeClr val="accent6"/>
          </a:solidFill>
          <a:ln w="9525">
            <a:solidFill>
              <a:srgbClr val="2A2F36"/>
            </a:solidFill>
            <a:prstDash val="solid"/>
          </a:ln>
        </p:spPr>
      </p:sp>
      <p:sp>
        <p:nvSpPr>
          <p:cNvPr id="84" name="Shape 81"/>
          <p:cNvSpPr/>
          <p:nvPr/>
        </p:nvSpPr>
        <p:spPr>
          <a:xfrm>
            <a:off x="10611612" y="2395728"/>
            <a:ext cx="457200" cy="457200"/>
          </a:xfrm>
          <a:prstGeom prst="rect">
            <a:avLst/>
          </a:prstGeom>
          <a:solidFill>
            <a:schemeClr val="accent6"/>
          </a:solidFill>
          <a:ln w="9525">
            <a:solidFill>
              <a:srgbClr val="2A2F36"/>
            </a:solidFill>
            <a:prstDash val="solid"/>
          </a:ln>
        </p:spPr>
      </p:sp>
      <p:sp>
        <p:nvSpPr>
          <p:cNvPr id="85" name="Shape 82"/>
          <p:cNvSpPr/>
          <p:nvPr/>
        </p:nvSpPr>
        <p:spPr>
          <a:xfrm>
            <a:off x="8782812" y="2852928"/>
            <a:ext cx="457200" cy="457200"/>
          </a:xfrm>
          <a:prstGeom prst="rect">
            <a:avLst/>
          </a:prstGeom>
          <a:solidFill>
            <a:schemeClr val="accent6"/>
          </a:solidFill>
          <a:ln w="9525">
            <a:solidFill>
              <a:srgbClr val="2A2F36"/>
            </a:solidFill>
            <a:prstDash val="solid"/>
          </a:ln>
        </p:spPr>
      </p:sp>
      <p:sp>
        <p:nvSpPr>
          <p:cNvPr id="86" name="Shape 83"/>
          <p:cNvSpPr/>
          <p:nvPr/>
        </p:nvSpPr>
        <p:spPr>
          <a:xfrm>
            <a:off x="9240012" y="2852928"/>
            <a:ext cx="457200" cy="457200"/>
          </a:xfrm>
          <a:prstGeom prst="rect">
            <a:avLst/>
          </a:prstGeom>
          <a:solidFill>
            <a:schemeClr val="accent6"/>
          </a:solidFill>
          <a:ln w="9525">
            <a:solidFill>
              <a:srgbClr val="2A2F36"/>
            </a:solidFill>
            <a:prstDash val="solid"/>
          </a:ln>
        </p:spPr>
      </p:sp>
      <p:sp>
        <p:nvSpPr>
          <p:cNvPr id="87" name="Shape 84"/>
          <p:cNvSpPr/>
          <p:nvPr/>
        </p:nvSpPr>
        <p:spPr>
          <a:xfrm>
            <a:off x="9697212" y="2852928"/>
            <a:ext cx="457200" cy="457200"/>
          </a:xfrm>
          <a:prstGeom prst="rect">
            <a:avLst/>
          </a:prstGeom>
          <a:solidFill>
            <a:schemeClr val="accent6"/>
          </a:solidFill>
          <a:ln w="9525">
            <a:solidFill>
              <a:srgbClr val="2A2F36"/>
            </a:solidFill>
            <a:prstDash val="solid"/>
          </a:ln>
        </p:spPr>
      </p:sp>
      <p:sp>
        <p:nvSpPr>
          <p:cNvPr id="88" name="Shape 85"/>
          <p:cNvSpPr/>
          <p:nvPr/>
        </p:nvSpPr>
        <p:spPr>
          <a:xfrm>
            <a:off x="10154412" y="2852928"/>
            <a:ext cx="457200" cy="457200"/>
          </a:xfrm>
          <a:prstGeom prst="rect">
            <a:avLst/>
          </a:prstGeom>
          <a:solidFill>
            <a:schemeClr val="accent6"/>
          </a:solidFill>
          <a:ln w="9525">
            <a:solidFill>
              <a:srgbClr val="2A2F36"/>
            </a:solidFill>
            <a:prstDash val="solid"/>
          </a:ln>
        </p:spPr>
      </p:sp>
      <p:sp>
        <p:nvSpPr>
          <p:cNvPr id="89" name="Shape 86"/>
          <p:cNvSpPr/>
          <p:nvPr/>
        </p:nvSpPr>
        <p:spPr>
          <a:xfrm>
            <a:off x="10611612" y="2852928"/>
            <a:ext cx="457200" cy="457200"/>
          </a:xfrm>
          <a:prstGeom prst="rect">
            <a:avLst/>
          </a:prstGeom>
          <a:solidFill>
            <a:schemeClr val="accent6"/>
          </a:solidFill>
          <a:ln w="9525">
            <a:solidFill>
              <a:srgbClr val="2A2F36"/>
            </a:solidFill>
            <a:prstDash val="solid"/>
          </a:ln>
        </p:spPr>
      </p:sp>
      <p:sp>
        <p:nvSpPr>
          <p:cNvPr id="90" name="Shape 87"/>
          <p:cNvSpPr/>
          <p:nvPr/>
        </p:nvSpPr>
        <p:spPr>
          <a:xfrm>
            <a:off x="8782812" y="3310128"/>
            <a:ext cx="457200" cy="457200"/>
          </a:xfrm>
          <a:prstGeom prst="rect">
            <a:avLst/>
          </a:prstGeom>
          <a:solidFill>
            <a:schemeClr val="accent6"/>
          </a:solidFill>
          <a:ln w="9525">
            <a:solidFill>
              <a:srgbClr val="2A2F36"/>
            </a:solidFill>
            <a:prstDash val="solid"/>
          </a:ln>
        </p:spPr>
      </p:sp>
      <p:sp>
        <p:nvSpPr>
          <p:cNvPr id="91" name="Shape 88"/>
          <p:cNvSpPr/>
          <p:nvPr/>
        </p:nvSpPr>
        <p:spPr>
          <a:xfrm>
            <a:off x="9240012" y="3310128"/>
            <a:ext cx="457200" cy="457200"/>
          </a:xfrm>
          <a:prstGeom prst="rect">
            <a:avLst/>
          </a:prstGeom>
          <a:solidFill>
            <a:schemeClr val="accent6"/>
          </a:solidFill>
          <a:ln w="9525">
            <a:solidFill>
              <a:srgbClr val="2A2F36"/>
            </a:solidFill>
            <a:prstDash val="solid"/>
          </a:ln>
        </p:spPr>
      </p:sp>
      <p:sp>
        <p:nvSpPr>
          <p:cNvPr id="92" name="Shape 89"/>
          <p:cNvSpPr/>
          <p:nvPr/>
        </p:nvSpPr>
        <p:spPr>
          <a:xfrm>
            <a:off x="9697212" y="3310128"/>
            <a:ext cx="457200" cy="457200"/>
          </a:xfrm>
          <a:prstGeom prst="rect">
            <a:avLst/>
          </a:prstGeom>
          <a:solidFill>
            <a:schemeClr val="accent6"/>
          </a:solidFill>
          <a:ln w="9525">
            <a:solidFill>
              <a:srgbClr val="2A2F36"/>
            </a:solidFill>
            <a:prstDash val="solid"/>
          </a:ln>
        </p:spPr>
      </p:sp>
      <p:sp>
        <p:nvSpPr>
          <p:cNvPr id="93" name="Shape 90"/>
          <p:cNvSpPr/>
          <p:nvPr/>
        </p:nvSpPr>
        <p:spPr>
          <a:xfrm>
            <a:off x="10154412" y="3310128"/>
            <a:ext cx="457200" cy="457200"/>
          </a:xfrm>
          <a:prstGeom prst="rect">
            <a:avLst/>
          </a:prstGeom>
          <a:solidFill>
            <a:schemeClr val="accent6"/>
          </a:solidFill>
          <a:ln w="9525">
            <a:solidFill>
              <a:srgbClr val="2A2F36"/>
            </a:solidFill>
            <a:prstDash val="solid"/>
          </a:ln>
        </p:spPr>
      </p:sp>
      <p:sp>
        <p:nvSpPr>
          <p:cNvPr id="94" name="Shape 91"/>
          <p:cNvSpPr/>
          <p:nvPr/>
        </p:nvSpPr>
        <p:spPr>
          <a:xfrm>
            <a:off x="10611612" y="3310128"/>
            <a:ext cx="457200" cy="457200"/>
          </a:xfrm>
          <a:prstGeom prst="rect">
            <a:avLst/>
          </a:prstGeom>
          <a:solidFill>
            <a:schemeClr val="accent6"/>
          </a:solidFill>
          <a:ln w="9525">
            <a:solidFill>
              <a:srgbClr val="2A2F36"/>
            </a:solidFill>
            <a:prstDash val="solid"/>
          </a:ln>
        </p:spPr>
      </p:sp>
      <p:sp>
        <p:nvSpPr>
          <p:cNvPr id="95" name="Shape 92"/>
          <p:cNvSpPr/>
          <p:nvPr/>
        </p:nvSpPr>
        <p:spPr>
          <a:xfrm>
            <a:off x="9733788" y="2432304"/>
            <a:ext cx="841248" cy="384048"/>
          </a:xfrm>
          <a:prstGeom prst="rect">
            <a:avLst/>
          </a:prstGeom>
          <a:solidFill>
            <a:srgbClr val="5C6670">
              <a:alpha val="70000"/>
            </a:srgbClr>
          </a:solidFill>
          <a:ln w="19050">
            <a:solidFill>
              <a:srgbClr val="5C6670"/>
            </a:solidFill>
            <a:prstDash val="solid"/>
          </a:ln>
        </p:spPr>
      </p:sp>
      <p:sp>
        <p:nvSpPr>
          <p:cNvPr id="96" name="Text 93"/>
          <p:cNvSpPr txBox="1"/>
          <p:nvPr/>
        </p:nvSpPr>
        <p:spPr>
          <a:xfrm>
            <a:off x="9733788" y="2432304"/>
            <a:ext cx="841248" cy="384048"/>
          </a:xfrm>
          <a:prstGeom prst="rect">
            <a:avLst/>
          </a:prstGeom>
          <a:noFill/>
          <a:ln/>
        </p:spPr>
        <p:txBody>
          <a:bodyPr wrap="square" lIns="0" tIns="0" rIns="0" bIns="0" rtlCol="0" anchor="ctr"/>
          <a:lstStyle/>
          <a:p>
            <a:pPr algn="ctr" indent="0" marL="0">
              <a:lnSpc>
                <a:spcPct val="120000"/>
              </a:lnSpc>
              <a:buNone/>
            </a:pPr>
            <a:r>
              <a:rPr lang="ko-KR" altLang="en-US" sz="1000" b="1" dirty="0">
                <a:solidFill>
                  <a:schemeClr val="bg1"/>
                </a:solidFill>
              </a:rPr>
              <a:t>기존 아이템</a:t>
            </a:r>
            <a:endParaRPr lang="ko-KR" sz="1000" dirty="0"/>
          </a:p>
        </p:txBody>
      </p:sp>
      <p:sp>
        <p:nvSpPr>
          <p:cNvPr id="97" name="Shape 94"/>
          <p:cNvSpPr/>
          <p:nvPr/>
        </p:nvSpPr>
        <p:spPr>
          <a:xfrm>
            <a:off x="9276588" y="2432304"/>
            <a:ext cx="841248" cy="841248"/>
          </a:xfrm>
          <a:prstGeom prst="rect">
            <a:avLst/>
          </a:prstGeom>
          <a:solidFill>
            <a:schemeClr val="accent4">
              <a:alpha val="30000"/>
            </a:schemeClr>
          </a:solidFill>
          <a:ln w="19050">
            <a:solidFill>
              <a:srgbClr val="5AA9FF"/>
            </a:solidFill>
            <a:prstDash val="solid"/>
          </a:ln>
        </p:spPr>
      </p:sp>
      <p:sp>
        <p:nvSpPr>
          <p:cNvPr id="98" name="Text 95"/>
          <p:cNvSpPr txBox="1"/>
          <p:nvPr/>
        </p:nvSpPr>
        <p:spPr>
          <a:xfrm>
            <a:off x="9240012" y="3364992"/>
            <a:ext cx="2286000" cy="201168"/>
          </a:xfrm>
          <a:prstGeom prst="rect">
            <a:avLst/>
          </a:prstGeom>
          <a:noFill/>
          <a:ln/>
        </p:spPr>
        <p:txBody>
          <a:bodyPr wrap="square" lIns="0" tIns="0" rIns="0" bIns="0" rtlCol="0" anchor="t"/>
          <a:lstStyle/>
          <a:p>
            <a:pPr indent="0" marL="0">
              <a:lnSpc>
                <a:spcPct val="120000"/>
              </a:lnSpc>
              <a:buNone/>
            </a:pPr>
            <a:r>
              <a:rPr lang="ko-KR" altLang="en-US" sz="1000" b="1" dirty="0">
                <a:solidFill>
                  <a:schemeClr val="accent4"/>
                </a:solidFill>
              </a:rPr>
              <a:t>겹침 → 불가</a:t>
            </a:r>
            <a:endParaRPr lang="ko-KR" sz="1000" dirty="0"/>
          </a:p>
        </p:txBody>
      </p:sp>
      <p:sp>
        <p:nvSpPr>
          <p:cNvPr id="99" name="Text 96"/>
          <p:cNvSpPr txBox="1"/>
          <p:nvPr/>
        </p:nvSpPr>
        <p:spPr>
          <a:xfrm>
            <a:off x="8339328" y="3877056"/>
            <a:ext cx="3172968" cy="658368"/>
          </a:xfrm>
          <a:prstGeom prst="rect">
            <a:avLst/>
          </a:prstGeom>
          <a:noFill/>
          <a:ln/>
        </p:spPr>
        <p:txBody>
          <a:bodyPr wrap="square" lIns="0" tIns="0" rIns="0" bIns="0" rtlCol="0" anchor="t"/>
          <a:lstStyle/>
          <a:p>
            <a:pPr indent="0" marL="0">
              <a:lnSpc>
                <a:spcPct val="125000"/>
              </a:lnSpc>
              <a:buNone/>
            </a:pPr>
            <a:r>
              <a:rPr lang="ko-KR" altLang="en-US" sz="1150" dirty="0">
                <a:solidFill>
                  <a:schemeClr val="bg2"/>
                </a:solidFill>
              </a:rPr>
              <a:t>아이템이 덮는 칸 중 하나라도 이미 차 있으면(bIsPlaceItem) 놓을 수 없다</a:t>
            </a:r>
            <a:endParaRPr lang="ko-KR" sz="1150" dirty="0"/>
          </a:p>
        </p:txBody>
      </p:sp>
      <p:sp>
        <p:nvSpPr>
          <p:cNvPr id="100" name="Shape 97"/>
          <p:cNvSpPr/>
          <p:nvPr/>
        </p:nvSpPr>
        <p:spPr>
          <a:xfrm>
            <a:off x="457200" y="4800600"/>
            <a:ext cx="11274552" cy="1463040"/>
          </a:xfrm>
          <a:prstGeom prst="rect">
            <a:avLst/>
          </a:prstGeom>
          <a:solidFill>
            <a:schemeClr val="tx2"/>
          </a:solidFill>
          <a:ln w="9525">
            <a:solidFill>
              <a:srgbClr val="2A2F36"/>
            </a:solidFill>
            <a:prstDash val="solid"/>
          </a:ln>
        </p:spPr>
      </p:sp>
      <p:sp>
        <p:nvSpPr>
          <p:cNvPr id="101" name="Shape 98"/>
          <p:cNvSpPr/>
          <p:nvPr/>
        </p:nvSpPr>
        <p:spPr>
          <a:xfrm>
            <a:off x="457200" y="4800600"/>
            <a:ext cx="182880" cy="0"/>
          </a:xfrm>
          <a:prstGeom prst="line">
            <a:avLst/>
          </a:prstGeom>
          <a:noFill/>
          <a:ln w="22225">
            <a:solidFill>
              <a:schemeClr val="accent1"/>
            </a:solidFill>
            <a:prstDash val="solid"/>
          </a:ln>
        </p:spPr>
      </p:sp>
      <p:sp>
        <p:nvSpPr>
          <p:cNvPr id="102" name="Shape 99"/>
          <p:cNvSpPr/>
          <p:nvPr/>
        </p:nvSpPr>
        <p:spPr>
          <a:xfrm>
            <a:off x="457200" y="4800600"/>
            <a:ext cx="0" cy="182880"/>
          </a:xfrm>
          <a:prstGeom prst="line">
            <a:avLst/>
          </a:prstGeom>
          <a:noFill/>
          <a:ln w="22225">
            <a:solidFill>
              <a:schemeClr val="accent1"/>
            </a:solidFill>
            <a:prstDash val="solid"/>
          </a:ln>
        </p:spPr>
      </p:sp>
      <p:sp>
        <p:nvSpPr>
          <p:cNvPr id="103" name="Shape 100"/>
          <p:cNvSpPr/>
          <p:nvPr/>
        </p:nvSpPr>
        <p:spPr>
          <a:xfrm>
            <a:off x="11548872" y="6263640"/>
            <a:ext cx="182880" cy="0"/>
          </a:xfrm>
          <a:prstGeom prst="line">
            <a:avLst/>
          </a:prstGeom>
          <a:noFill/>
          <a:ln w="22225">
            <a:solidFill>
              <a:schemeClr val="accent1"/>
            </a:solidFill>
            <a:prstDash val="solid"/>
          </a:ln>
        </p:spPr>
      </p:sp>
      <p:sp>
        <p:nvSpPr>
          <p:cNvPr id="104" name="Shape 101"/>
          <p:cNvSpPr/>
          <p:nvPr/>
        </p:nvSpPr>
        <p:spPr>
          <a:xfrm>
            <a:off x="11731752" y="6080760"/>
            <a:ext cx="0" cy="182880"/>
          </a:xfrm>
          <a:prstGeom prst="line">
            <a:avLst/>
          </a:prstGeom>
          <a:noFill/>
          <a:ln w="22225">
            <a:solidFill>
              <a:schemeClr val="accent1"/>
            </a:solidFill>
            <a:prstDash val="solid"/>
          </a:ln>
        </p:spPr>
      </p:sp>
      <p:sp>
        <p:nvSpPr>
          <p:cNvPr id="105" name="Text 102"/>
          <p:cNvSpPr txBox="1"/>
          <p:nvPr/>
        </p:nvSpPr>
        <p:spPr>
          <a:xfrm>
            <a:off x="676656" y="4956048"/>
            <a:ext cx="10835640"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④ 놓기</a:t>
            </a:r>
            <a:endParaRPr lang="ko-KR" sz="1450" dirty="0"/>
          </a:p>
        </p:txBody>
      </p:sp>
      <p:sp>
        <p:nvSpPr>
          <p:cNvPr id="106" name="Text 103"/>
          <p:cNvSpPr txBox="1"/>
          <p:nvPr/>
        </p:nvSpPr>
        <p:spPr>
          <a:xfrm>
            <a:off x="676656" y="5330952"/>
            <a:ext cx="10835640" cy="795528"/>
          </a:xfrm>
          <a:prstGeom prst="rect">
            <a:avLst/>
          </a:prstGeom>
          <a:noFill/>
          <a:ln/>
        </p:spPr>
        <p:txBody>
          <a:bodyPr wrap="square" lIns="0" tIns="0" rIns="0" bIns="0" rtlCol="0" anchor="t"/>
          <a:lstStyle/>
          <a:p>
            <a:pPr indent="0" marL="0">
              <a:lnSpc>
                <a:spcPct val="125000"/>
              </a:lnSpc>
              <a:spcAft>
                <a:spcPts val="500"/>
              </a:spcAft>
              <a:buNone/>
            </a:pPr>
            <a:r>
              <a:rPr lang="ko-KR" altLang="en-US" sz="1200" b="1" dirty="0">
                <a:solidFill>
                  <a:schemeClr val="accent2"/>
                </a:solidFill>
                <a:latin typeface="Consolas" pitchFamily="34" charset="0"/>
                <a:ea typeface="Consolas" pitchFamily="34" charset="-122"/>
                <a:cs typeface="Consolas" pitchFamily="34" charset="-120"/>
              </a:rPr>
              <a:t>행 = 번호 ÷ 가로,  열 = 번호 % 가로  →  AddChildToGrid + RowSpan(H) · ColumnSpan(W)</a:t>
            </a:r>
            <a:endParaRPr lang="ko-KR" sz="1200" dirty="0"/>
          </a:p>
          <a:p>
            <a:pPr indent="0" marL="0">
              <a:lnSpc>
                <a:spcPct val="125000"/>
              </a:lnSpc>
              <a:spcAft>
                <a:spcPts val="500"/>
              </a:spcAft>
              <a:buNone/>
            </a:pPr>
            <a:r>
              <a:rPr lang="ko-KR" altLang="en-US" sz="1150" dirty="0">
                <a:solidFill>
                  <a:schemeClr val="accent5"/>
                </a:solidFill>
              </a:rPr>
              <a:t>개발 중: 회전(가로 · 세로 교체, GetEffectiveItemSize)과 짝수 칸 중심 보정(SnapDragAxis)은 함수까지 구현했고 판정 연결 전. 놓은 칸의 점유 기록(bIsPlaceItem 쓰기)도 남은 과제.</a:t>
            </a:r>
            <a:endParaRPr lang="ko-KR" sz="12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02 · GRID INVENTORY</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드래그 앤 드롭 · 핵심 구현</a:t>
            </a:r>
            <a:endParaRPr lang="en-US" sz="2800" dirty="0"/>
          </a:p>
        </p:txBody>
      </p:sp>
      <p:sp>
        <p:nvSpPr>
          <p:cNvPr id="5" name="Shape 2"/>
          <p:cNvSpPr/>
          <p:nvPr/>
        </p:nvSpPr>
        <p:spPr>
          <a:xfrm>
            <a:off x="457200" y="1417320"/>
            <a:ext cx="5532120" cy="2743200"/>
          </a:xfrm>
          <a:prstGeom prst="rect">
            <a:avLst/>
          </a:prstGeom>
          <a:solidFill>
            <a:srgbClr val="0A0C0E"/>
          </a:solidFill>
          <a:ln w="9525">
            <a:solidFill>
              <a:srgbClr val="2A2F36"/>
            </a:solidFill>
            <a:prstDash val="solid"/>
          </a:ln>
        </p:spPr>
      </p:sp>
      <p:sp>
        <p:nvSpPr>
          <p:cNvPr id="6" name="Text 3"/>
          <p:cNvSpPr txBox="1"/>
          <p:nvPr/>
        </p:nvSpPr>
        <p:spPr>
          <a:xfrm>
            <a:off x="640080" y="1572768"/>
            <a:ext cx="5166360" cy="256032"/>
          </a:xfrm>
          <a:prstGeom prst="rect">
            <a:avLst/>
          </a:prstGeom>
          <a:noFill/>
          <a:ln/>
        </p:spPr>
        <p:txBody>
          <a:bodyPr wrap="square" lIns="0" tIns="0" rIns="0" bIns="0" rtlCol="0" anchor="t"/>
          <a:lstStyle/>
          <a:p>
            <a:pPr indent="0" marL="0">
              <a:lnSpc>
                <a:spcPct val="120000"/>
              </a:lnSpc>
              <a:buNone/>
            </a:pPr>
            <a:r>
              <a:rPr lang="ko-KR" altLang="en-US" sz="1200" b="1" dirty="0">
                <a:solidFill>
                  <a:schemeClr val="accent2"/>
                </a:solidFill>
              </a:rPr>
              <a:t>A · 판정 — 마우스 좌표를 칸으로</a:t>
            </a:r>
            <a:endParaRPr lang="ko-KR" sz="1200" dirty="0"/>
          </a:p>
        </p:txBody>
      </p:sp>
      <p:sp>
        <p:nvSpPr>
          <p:cNvPr id="7" name="Text 4"/>
          <p:cNvSpPr txBox="1"/>
          <p:nvPr/>
        </p:nvSpPr>
        <p:spPr>
          <a:xfrm>
            <a:off x="640080" y="1938528"/>
            <a:ext cx="5257800" cy="2112264"/>
          </a:xfrm>
          <a:prstGeom prst="rect">
            <a:avLst/>
          </a:prstGeom>
          <a:noFill/>
          <a:ln/>
        </p:spPr>
        <p:txBody>
          <a:bodyPr wrap="square" lIns="0" tIns="0" rIns="0" bIns="0" rtlCol="0" anchor="t"/>
          <a:lstStyle/>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OnDragOver(Geometry, PointerEvent, Op)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GridSlot</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Mouse = AbsoluteToLocal(Geometry, PointerEvent)</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Size  = Op.ItemInstance.ItemDef.(Width, Height)</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Cell  = GetUISetting().CellSize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64</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아이템 중심을 마우스에, 그리드 밖으로는 못 나가게</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Pos   = Clamp(Mouse - Size*Cell/2,</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0, (Grid - Size)*Cell)</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Index = Pos.X/Cell + (Pos.Y/Cell) * Grid.X</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Op.bCanPlaceItem = Func_CanPlaceItem(Index, Size)</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if Op.bCanPlaceItem: Op.CanPlaceIndex = Index</a:t>
            </a:r>
            <a:endParaRPr lang="ko-KR" sz="1100" dirty="0"/>
          </a:p>
        </p:txBody>
      </p:sp>
      <p:sp>
        <p:nvSpPr>
          <p:cNvPr id="8" name="Shape 5"/>
          <p:cNvSpPr/>
          <p:nvPr/>
        </p:nvSpPr>
        <p:spPr>
          <a:xfrm>
            <a:off x="6199632" y="1417320"/>
            <a:ext cx="5532120" cy="2743200"/>
          </a:xfrm>
          <a:prstGeom prst="rect">
            <a:avLst/>
          </a:prstGeom>
          <a:solidFill>
            <a:srgbClr val="0A0C0E"/>
          </a:solidFill>
          <a:ln w="9525">
            <a:solidFill>
              <a:srgbClr val="2A2F36"/>
            </a:solidFill>
            <a:prstDash val="solid"/>
          </a:ln>
        </p:spPr>
      </p:sp>
      <p:sp>
        <p:nvSpPr>
          <p:cNvPr id="9" name="Text 6"/>
          <p:cNvSpPr txBox="1"/>
          <p:nvPr/>
        </p:nvSpPr>
        <p:spPr>
          <a:xfrm>
            <a:off x="6382512" y="1572768"/>
            <a:ext cx="5166360" cy="256032"/>
          </a:xfrm>
          <a:prstGeom prst="rect">
            <a:avLst/>
          </a:prstGeom>
          <a:noFill/>
          <a:ln/>
        </p:spPr>
        <p:txBody>
          <a:bodyPr wrap="square" lIns="0" tIns="0" rIns="0" bIns="0" rtlCol="0" anchor="t"/>
          <a:lstStyle/>
          <a:p>
            <a:pPr indent="0" marL="0">
              <a:lnSpc>
                <a:spcPct val="120000"/>
              </a:lnSpc>
              <a:buNone/>
            </a:pPr>
            <a:r>
              <a:rPr lang="ko-KR" altLang="en-US" sz="1200" b="1" dirty="0">
                <a:solidFill>
                  <a:schemeClr val="accent3"/>
                </a:solidFill>
              </a:rPr>
              <a:t>B · 실행 — 판정 결과대로 배치</a:t>
            </a:r>
            <a:endParaRPr lang="ko-KR" sz="1200" dirty="0"/>
          </a:p>
        </p:txBody>
      </p:sp>
      <p:sp>
        <p:nvSpPr>
          <p:cNvPr id="10" name="Text 7"/>
          <p:cNvSpPr txBox="1"/>
          <p:nvPr/>
        </p:nvSpPr>
        <p:spPr>
          <a:xfrm>
            <a:off x="6382512" y="1938528"/>
            <a:ext cx="5257800" cy="2112264"/>
          </a:xfrm>
          <a:prstGeom prst="rect">
            <a:avLst/>
          </a:prstGeom>
          <a:noFill/>
          <a:ln/>
        </p:spPr>
        <p:txBody>
          <a:bodyPr wrap="square" lIns="0" tIns="0" rIns="0" bIns="0" rtlCol="0" anchor="t"/>
          <a:lstStyle/>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OnDrop(Geometry, PointerEvent, Op)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GridSlot</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if not Op.bCanPlaceItem: return</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Item = CreateWidget(WBP_ItemSlot, Op.ItemInstance)</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S = GridPanel.AddChildToGrid(Item,</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Row    = Op.CanPlaceIndex / Grid.X,</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Column = Op.CanPlaceIndex % Grid.X)</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S.SetRowSpan(Height);  S.SetColumnSpan(Width)</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Op.ItemSlot.RemoveFromParent()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원래 자리 제거</a:t>
            </a:r>
            <a:endParaRPr lang="ko-KR" sz="1100" dirty="0"/>
          </a:p>
        </p:txBody>
      </p:sp>
      <p:sp>
        <p:nvSpPr>
          <p:cNvPr id="11" name="Shape 8"/>
          <p:cNvSpPr/>
          <p:nvPr/>
        </p:nvSpPr>
        <p:spPr>
          <a:xfrm>
            <a:off x="457200" y="4389120"/>
            <a:ext cx="11274552" cy="1463040"/>
          </a:xfrm>
          <a:prstGeom prst="rect">
            <a:avLst/>
          </a:prstGeom>
          <a:solidFill>
            <a:schemeClr val="tx2"/>
          </a:solidFill>
          <a:ln w="9525">
            <a:solidFill>
              <a:srgbClr val="2A2F36"/>
            </a:solidFill>
            <a:prstDash val="solid"/>
          </a:ln>
        </p:spPr>
      </p:sp>
      <p:sp>
        <p:nvSpPr>
          <p:cNvPr id="12" name="Shape 9"/>
          <p:cNvSpPr/>
          <p:nvPr/>
        </p:nvSpPr>
        <p:spPr>
          <a:xfrm>
            <a:off x="457200" y="4389120"/>
            <a:ext cx="182880" cy="0"/>
          </a:xfrm>
          <a:prstGeom prst="line">
            <a:avLst/>
          </a:prstGeom>
          <a:noFill/>
          <a:ln w="22225">
            <a:solidFill>
              <a:schemeClr val="accent1"/>
            </a:solidFill>
            <a:prstDash val="solid"/>
          </a:ln>
        </p:spPr>
      </p:sp>
      <p:sp>
        <p:nvSpPr>
          <p:cNvPr id="13" name="Shape 10"/>
          <p:cNvSpPr/>
          <p:nvPr/>
        </p:nvSpPr>
        <p:spPr>
          <a:xfrm>
            <a:off x="457200" y="4389120"/>
            <a:ext cx="0" cy="182880"/>
          </a:xfrm>
          <a:prstGeom prst="line">
            <a:avLst/>
          </a:prstGeom>
          <a:noFill/>
          <a:ln w="22225">
            <a:solidFill>
              <a:schemeClr val="accent1"/>
            </a:solidFill>
            <a:prstDash val="solid"/>
          </a:ln>
        </p:spPr>
      </p:sp>
      <p:sp>
        <p:nvSpPr>
          <p:cNvPr id="14" name="Shape 11"/>
          <p:cNvSpPr/>
          <p:nvPr/>
        </p:nvSpPr>
        <p:spPr>
          <a:xfrm>
            <a:off x="11548872" y="5852160"/>
            <a:ext cx="182880" cy="0"/>
          </a:xfrm>
          <a:prstGeom prst="line">
            <a:avLst/>
          </a:prstGeom>
          <a:noFill/>
          <a:ln w="22225">
            <a:solidFill>
              <a:schemeClr val="accent1"/>
            </a:solidFill>
            <a:prstDash val="solid"/>
          </a:ln>
        </p:spPr>
      </p:sp>
      <p:sp>
        <p:nvSpPr>
          <p:cNvPr id="15" name="Shape 12"/>
          <p:cNvSpPr/>
          <p:nvPr/>
        </p:nvSpPr>
        <p:spPr>
          <a:xfrm>
            <a:off x="11731752" y="5669280"/>
            <a:ext cx="0" cy="182880"/>
          </a:xfrm>
          <a:prstGeom prst="line">
            <a:avLst/>
          </a:prstGeom>
          <a:noFill/>
          <a:ln w="22225">
            <a:solidFill>
              <a:schemeClr val="accent1"/>
            </a:solidFill>
            <a:prstDash val="solid"/>
          </a:ln>
        </p:spPr>
      </p:sp>
      <p:sp>
        <p:nvSpPr>
          <p:cNvPr id="16" name="Text 13"/>
          <p:cNvSpPr txBox="1"/>
          <p:nvPr/>
        </p:nvSpPr>
        <p:spPr>
          <a:xfrm>
            <a:off x="676656" y="4544568"/>
            <a:ext cx="10835640"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핵심</a:t>
            </a:r>
            <a:endParaRPr lang="ko-KR" sz="1450" dirty="0"/>
          </a:p>
        </p:txBody>
      </p:sp>
      <p:sp>
        <p:nvSpPr>
          <p:cNvPr id="17" name="Text 14"/>
          <p:cNvSpPr txBox="1"/>
          <p:nvPr/>
        </p:nvSpPr>
        <p:spPr>
          <a:xfrm>
            <a:off x="676656" y="4919472"/>
            <a:ext cx="10835640" cy="795528"/>
          </a:xfrm>
          <a:prstGeom prst="rect">
            <a:avLst/>
          </a:prstGeom>
          <a:noFill/>
          <a:ln/>
        </p:spPr>
        <p:txBody>
          <a:bodyPr wrap="square" lIns="0" tIns="0" rIns="0" bIns="0" rtlCol="0" anchor="t"/>
          <a:lstStyle/>
          <a:p>
            <a:pPr indent="0" marL="0">
              <a:lnSpc>
                <a:spcPct val="130000"/>
              </a:lnSpc>
              <a:spcAft>
                <a:spcPts val="500"/>
              </a:spcAft>
              <a:buNone/>
            </a:pPr>
            <a:r>
              <a:rPr lang="ko-KR" altLang="en-US" sz="1250" dirty="0">
                <a:solidFill>
                  <a:schemeClr val="bg2"/>
                </a:solidFill>
              </a:rPr>
              <a:t>A는 판정만, B는 배치만 한다. 그 사이 데이터는 BP_DragDrop이 나르기 때문에, 그리드는 드래그를 시작한 위젯이 무엇인지 몰라도 된다.</a:t>
            </a:r>
            <a:endParaRPr lang="ko-KR" sz="1250" dirty="0"/>
          </a:p>
          <a:p>
            <a:pPr indent="0" marL="0">
              <a:lnSpc>
                <a:spcPct val="130000"/>
              </a:lnSpc>
              <a:spcAft>
                <a:spcPts val="500"/>
              </a:spcAft>
              <a:buNone/>
            </a:pPr>
            <a:r>
              <a:rPr lang="ko-KR" altLang="en-US" sz="1250" dirty="0">
                <a:solidFill>
                  <a:schemeClr val="accent5"/>
                </a:solidFill>
              </a:rPr>
              <a:t>남은 과제: 놓은 칸의 점유 기록 · 회전 연결</a:t>
            </a:r>
            <a:endParaRPr lang="ko-KR" sz="125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02 · GRID INVENTORY</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장비 장착 → 칸 배치 교체</a:t>
            </a:r>
            <a:endParaRPr lang="en-US" sz="2800" dirty="0"/>
          </a:p>
        </p:txBody>
      </p:sp>
      <p:sp>
        <p:nvSpPr>
          <p:cNvPr id="5" name="Shape 2"/>
          <p:cNvSpPr/>
          <p:nvPr/>
        </p:nvSpPr>
        <p:spPr>
          <a:xfrm>
            <a:off x="402336" y="1499616"/>
            <a:ext cx="5641848" cy="3319272"/>
          </a:xfrm>
          <a:prstGeom prst="rect">
            <a:avLst/>
          </a:prstGeom>
          <a:solidFill>
            <a:schemeClr val="tx2"/>
          </a:solidFill>
          <a:ln w="9525">
            <a:solidFill>
              <a:srgbClr val="2A2F36"/>
            </a:solidFill>
            <a:prstDash val="solid"/>
          </a:ln>
        </p:spPr>
      </p:sp>
      <p:pic>
        <p:nvPicPr>
          <p:cNvPr id="6" name="체스트 리그 장착 GIF" descr="체스트 리그 장착 GIF">    </p:cNvPr>
          <p:cNvPicPr>
            <a:picLocks noChangeAspect="1"/>
          </p:cNvPicPr>
          <p:nvPr/>
        </p:nvPicPr>
        <p:blipFill>
          <a:blip r:embed="rId1"/>
          <a:stretch>
            <a:fillRect/>
          </a:stretch>
        </p:blipFill>
        <p:spPr>
          <a:xfrm>
            <a:off x="457200" y="1554480"/>
            <a:ext cx="5532120" cy="2898648"/>
          </a:xfrm>
          <a:prstGeom prst="rect">
            <a:avLst/>
          </a:prstGeom>
        </p:spPr>
      </p:pic>
      <p:sp>
        <p:nvSpPr>
          <p:cNvPr id="7" name="Shape 3"/>
          <p:cNvSpPr/>
          <p:nvPr/>
        </p:nvSpPr>
        <p:spPr>
          <a:xfrm>
            <a:off x="347472" y="1444752"/>
            <a:ext cx="201168" cy="0"/>
          </a:xfrm>
          <a:prstGeom prst="line">
            <a:avLst/>
          </a:prstGeom>
          <a:noFill/>
          <a:ln w="22225">
            <a:solidFill>
              <a:schemeClr val="accent1"/>
            </a:solidFill>
            <a:prstDash val="solid"/>
          </a:ln>
        </p:spPr>
      </p:sp>
      <p:sp>
        <p:nvSpPr>
          <p:cNvPr id="8" name="Shape 4"/>
          <p:cNvSpPr/>
          <p:nvPr/>
        </p:nvSpPr>
        <p:spPr>
          <a:xfrm>
            <a:off x="347472" y="1444752"/>
            <a:ext cx="0" cy="201168"/>
          </a:xfrm>
          <a:prstGeom prst="line">
            <a:avLst/>
          </a:prstGeom>
          <a:noFill/>
          <a:ln w="22225">
            <a:solidFill>
              <a:schemeClr val="accent1"/>
            </a:solidFill>
            <a:prstDash val="solid"/>
          </a:ln>
        </p:spPr>
      </p:sp>
      <p:sp>
        <p:nvSpPr>
          <p:cNvPr id="9" name="Shape 5"/>
          <p:cNvSpPr/>
          <p:nvPr/>
        </p:nvSpPr>
        <p:spPr>
          <a:xfrm>
            <a:off x="5897880" y="1444752"/>
            <a:ext cx="201168" cy="0"/>
          </a:xfrm>
          <a:prstGeom prst="line">
            <a:avLst/>
          </a:prstGeom>
          <a:noFill/>
          <a:ln w="22225">
            <a:solidFill>
              <a:schemeClr val="accent1"/>
            </a:solidFill>
            <a:prstDash val="solid"/>
          </a:ln>
        </p:spPr>
      </p:sp>
      <p:sp>
        <p:nvSpPr>
          <p:cNvPr id="10" name="Shape 6"/>
          <p:cNvSpPr/>
          <p:nvPr/>
        </p:nvSpPr>
        <p:spPr>
          <a:xfrm>
            <a:off x="6099048" y="1444752"/>
            <a:ext cx="0" cy="201168"/>
          </a:xfrm>
          <a:prstGeom prst="line">
            <a:avLst/>
          </a:prstGeom>
          <a:noFill/>
          <a:ln w="22225">
            <a:solidFill>
              <a:schemeClr val="accent1"/>
            </a:solidFill>
            <a:prstDash val="solid"/>
          </a:ln>
        </p:spPr>
      </p:sp>
      <p:sp>
        <p:nvSpPr>
          <p:cNvPr id="11" name="Shape 7"/>
          <p:cNvSpPr/>
          <p:nvPr/>
        </p:nvSpPr>
        <p:spPr>
          <a:xfrm>
            <a:off x="347472" y="4873752"/>
            <a:ext cx="201168" cy="0"/>
          </a:xfrm>
          <a:prstGeom prst="line">
            <a:avLst/>
          </a:prstGeom>
          <a:noFill/>
          <a:ln w="22225">
            <a:solidFill>
              <a:schemeClr val="accent1"/>
            </a:solidFill>
            <a:prstDash val="solid"/>
          </a:ln>
        </p:spPr>
      </p:sp>
      <p:sp>
        <p:nvSpPr>
          <p:cNvPr id="12" name="Shape 8"/>
          <p:cNvSpPr/>
          <p:nvPr/>
        </p:nvSpPr>
        <p:spPr>
          <a:xfrm>
            <a:off x="347472" y="4672584"/>
            <a:ext cx="0" cy="201168"/>
          </a:xfrm>
          <a:prstGeom prst="line">
            <a:avLst/>
          </a:prstGeom>
          <a:noFill/>
          <a:ln w="22225">
            <a:solidFill>
              <a:schemeClr val="accent1"/>
            </a:solidFill>
            <a:prstDash val="solid"/>
          </a:ln>
        </p:spPr>
      </p:sp>
      <p:sp>
        <p:nvSpPr>
          <p:cNvPr id="13" name="Shape 9"/>
          <p:cNvSpPr/>
          <p:nvPr/>
        </p:nvSpPr>
        <p:spPr>
          <a:xfrm>
            <a:off x="5897880" y="4873752"/>
            <a:ext cx="201168" cy="0"/>
          </a:xfrm>
          <a:prstGeom prst="line">
            <a:avLst/>
          </a:prstGeom>
          <a:noFill/>
          <a:ln w="22225">
            <a:solidFill>
              <a:schemeClr val="accent1"/>
            </a:solidFill>
            <a:prstDash val="solid"/>
          </a:ln>
        </p:spPr>
      </p:sp>
      <p:sp>
        <p:nvSpPr>
          <p:cNvPr id="14" name="Shape 10"/>
          <p:cNvSpPr/>
          <p:nvPr/>
        </p:nvSpPr>
        <p:spPr>
          <a:xfrm>
            <a:off x="6099048" y="4672584"/>
            <a:ext cx="0" cy="201168"/>
          </a:xfrm>
          <a:prstGeom prst="line">
            <a:avLst/>
          </a:prstGeom>
          <a:noFill/>
          <a:ln w="22225">
            <a:solidFill>
              <a:schemeClr val="accent1"/>
            </a:solidFill>
            <a:prstDash val="solid"/>
          </a:ln>
        </p:spPr>
      </p:sp>
      <p:sp>
        <p:nvSpPr>
          <p:cNvPr id="15" name="Text 11"/>
          <p:cNvSpPr txBox="1"/>
          <p:nvPr/>
        </p:nvSpPr>
        <p:spPr>
          <a:xfrm>
            <a:off x="548640" y="1645920"/>
            <a:ext cx="1051560" cy="219456"/>
          </a:xfrm>
          <a:prstGeom prst="rect">
            <a:avLst/>
          </a:prstGeom>
          <a:solidFill>
            <a:schemeClr val="tx1">
              <a:alpha val="90000"/>
            </a:schemeClr>
          </a:solidFill>
          <a:ln/>
        </p:spPr>
        <p:txBody>
          <a:bodyPr wrap="square" lIns="0" tIns="0" rIns="0" bIns="0" rtlCol="0" anchor="ctr"/>
          <a:lstStyle/>
          <a:p>
            <a:pPr algn="ctr" indent="0" marL="0">
              <a:lnSpc>
                <a:spcPct val="120000"/>
              </a:lnSpc>
              <a:buNone/>
            </a:pPr>
            <a:r>
              <a:rPr lang="ko-KR" altLang="en-US" sz="900" b="1" spc="100" kern="0" dirty="0">
                <a:solidFill>
                  <a:schemeClr val="accent1"/>
                </a:solidFill>
                <a:latin typeface="Consolas" pitchFamily="34" charset="0"/>
                <a:ea typeface="Consolas" pitchFamily="34" charset="-122"/>
                <a:cs typeface="Consolas" pitchFamily="34" charset="-120"/>
              </a:rPr>
              <a:t>● GAMEPLAY</a:t>
            </a:r>
            <a:endParaRPr lang="ko-KR" sz="900" dirty="0"/>
          </a:p>
        </p:txBody>
      </p:sp>
      <p:sp>
        <p:nvSpPr>
          <p:cNvPr id="16" name="Text 12"/>
          <p:cNvSpPr txBox="1"/>
          <p:nvPr/>
        </p:nvSpPr>
        <p:spPr>
          <a:xfrm>
            <a:off x="530352" y="4489704"/>
            <a:ext cx="5385816" cy="274320"/>
          </a:xfrm>
          <a:prstGeom prst="rect">
            <a:avLst/>
          </a:prstGeom>
          <a:noFill/>
          <a:ln/>
        </p:spPr>
        <p:txBody>
          <a:bodyPr wrap="square" lIns="0" tIns="0" rIns="0" bIns="0" rtlCol="0" anchor="ctr"/>
          <a:lstStyle/>
          <a:p>
            <a:pPr indent="0" marL="0">
              <a:lnSpc>
                <a:spcPct val="110000"/>
              </a:lnSpc>
              <a:buNone/>
            </a:pPr>
            <a:r>
              <a:rPr lang="ko-KR" altLang="en-US" sz="1100" dirty="0">
                <a:solidFill>
                  <a:schemeClr val="bg2"/>
                </a:solidFill>
              </a:rPr>
              <a:t>① 체스트 리그를 장비 칸에 놓으면 → 조끼 칸 배치가 그려짐</a:t>
            </a:r>
            <a:endParaRPr lang="ko-KR" sz="1100" dirty="0"/>
          </a:p>
        </p:txBody>
      </p:sp>
      <p:sp>
        <p:nvSpPr>
          <p:cNvPr id="17" name="Shape 13"/>
          <p:cNvSpPr/>
          <p:nvPr/>
        </p:nvSpPr>
        <p:spPr>
          <a:xfrm>
            <a:off x="6144768" y="1499616"/>
            <a:ext cx="5641848" cy="3319272"/>
          </a:xfrm>
          <a:prstGeom prst="rect">
            <a:avLst/>
          </a:prstGeom>
          <a:solidFill>
            <a:schemeClr val="tx2"/>
          </a:solidFill>
          <a:ln w="9525">
            <a:solidFill>
              <a:srgbClr val="2A2F36"/>
            </a:solidFill>
            <a:prstDash val="solid"/>
          </a:ln>
        </p:spPr>
      </p:sp>
      <p:pic>
        <p:nvPicPr>
          <p:cNvPr id="18" name="가방 장착 GIF" descr="가방 장착 GIF">    </p:cNvPr>
          <p:cNvPicPr>
            <a:picLocks noChangeAspect="1"/>
          </p:cNvPicPr>
          <p:nvPr/>
        </p:nvPicPr>
        <p:blipFill>
          <a:blip r:embed="rId2"/>
          <a:stretch>
            <a:fillRect/>
          </a:stretch>
        </p:blipFill>
        <p:spPr>
          <a:xfrm>
            <a:off x="6199632" y="1554480"/>
            <a:ext cx="5532120" cy="2898648"/>
          </a:xfrm>
          <a:prstGeom prst="rect">
            <a:avLst/>
          </a:prstGeom>
        </p:spPr>
      </p:pic>
      <p:sp>
        <p:nvSpPr>
          <p:cNvPr id="19" name="Shape 14"/>
          <p:cNvSpPr/>
          <p:nvPr/>
        </p:nvSpPr>
        <p:spPr>
          <a:xfrm>
            <a:off x="6089904" y="1444752"/>
            <a:ext cx="201168" cy="0"/>
          </a:xfrm>
          <a:prstGeom prst="line">
            <a:avLst/>
          </a:prstGeom>
          <a:noFill/>
          <a:ln w="22225">
            <a:solidFill>
              <a:schemeClr val="accent1"/>
            </a:solidFill>
            <a:prstDash val="solid"/>
          </a:ln>
        </p:spPr>
      </p:sp>
      <p:sp>
        <p:nvSpPr>
          <p:cNvPr id="20" name="Shape 15"/>
          <p:cNvSpPr/>
          <p:nvPr/>
        </p:nvSpPr>
        <p:spPr>
          <a:xfrm>
            <a:off x="6089904" y="1444752"/>
            <a:ext cx="0" cy="201168"/>
          </a:xfrm>
          <a:prstGeom prst="line">
            <a:avLst/>
          </a:prstGeom>
          <a:noFill/>
          <a:ln w="22225">
            <a:solidFill>
              <a:schemeClr val="accent1"/>
            </a:solidFill>
            <a:prstDash val="solid"/>
          </a:ln>
        </p:spPr>
      </p:sp>
      <p:sp>
        <p:nvSpPr>
          <p:cNvPr id="21" name="Shape 16"/>
          <p:cNvSpPr/>
          <p:nvPr/>
        </p:nvSpPr>
        <p:spPr>
          <a:xfrm>
            <a:off x="11640312" y="1444752"/>
            <a:ext cx="201168" cy="0"/>
          </a:xfrm>
          <a:prstGeom prst="line">
            <a:avLst/>
          </a:prstGeom>
          <a:noFill/>
          <a:ln w="22225">
            <a:solidFill>
              <a:schemeClr val="accent1"/>
            </a:solidFill>
            <a:prstDash val="solid"/>
          </a:ln>
        </p:spPr>
      </p:sp>
      <p:sp>
        <p:nvSpPr>
          <p:cNvPr id="22" name="Shape 17"/>
          <p:cNvSpPr/>
          <p:nvPr/>
        </p:nvSpPr>
        <p:spPr>
          <a:xfrm>
            <a:off x="11841480" y="1444752"/>
            <a:ext cx="0" cy="201168"/>
          </a:xfrm>
          <a:prstGeom prst="line">
            <a:avLst/>
          </a:prstGeom>
          <a:noFill/>
          <a:ln w="22225">
            <a:solidFill>
              <a:schemeClr val="accent1"/>
            </a:solidFill>
            <a:prstDash val="solid"/>
          </a:ln>
        </p:spPr>
      </p:sp>
      <p:sp>
        <p:nvSpPr>
          <p:cNvPr id="23" name="Shape 18"/>
          <p:cNvSpPr/>
          <p:nvPr/>
        </p:nvSpPr>
        <p:spPr>
          <a:xfrm>
            <a:off x="6089904" y="4873752"/>
            <a:ext cx="201168" cy="0"/>
          </a:xfrm>
          <a:prstGeom prst="line">
            <a:avLst/>
          </a:prstGeom>
          <a:noFill/>
          <a:ln w="22225">
            <a:solidFill>
              <a:schemeClr val="accent1"/>
            </a:solidFill>
            <a:prstDash val="solid"/>
          </a:ln>
        </p:spPr>
      </p:sp>
      <p:sp>
        <p:nvSpPr>
          <p:cNvPr id="24" name="Shape 19"/>
          <p:cNvSpPr/>
          <p:nvPr/>
        </p:nvSpPr>
        <p:spPr>
          <a:xfrm>
            <a:off x="6089904" y="4672584"/>
            <a:ext cx="0" cy="201168"/>
          </a:xfrm>
          <a:prstGeom prst="line">
            <a:avLst/>
          </a:prstGeom>
          <a:noFill/>
          <a:ln w="22225">
            <a:solidFill>
              <a:schemeClr val="accent1"/>
            </a:solidFill>
            <a:prstDash val="solid"/>
          </a:ln>
        </p:spPr>
      </p:sp>
      <p:sp>
        <p:nvSpPr>
          <p:cNvPr id="25" name="Shape 20"/>
          <p:cNvSpPr/>
          <p:nvPr/>
        </p:nvSpPr>
        <p:spPr>
          <a:xfrm>
            <a:off x="11640312" y="4873752"/>
            <a:ext cx="201168" cy="0"/>
          </a:xfrm>
          <a:prstGeom prst="line">
            <a:avLst/>
          </a:prstGeom>
          <a:noFill/>
          <a:ln w="22225">
            <a:solidFill>
              <a:schemeClr val="accent1"/>
            </a:solidFill>
            <a:prstDash val="solid"/>
          </a:ln>
        </p:spPr>
      </p:sp>
      <p:sp>
        <p:nvSpPr>
          <p:cNvPr id="26" name="Shape 21"/>
          <p:cNvSpPr/>
          <p:nvPr/>
        </p:nvSpPr>
        <p:spPr>
          <a:xfrm>
            <a:off x="11841480" y="4672584"/>
            <a:ext cx="0" cy="201168"/>
          </a:xfrm>
          <a:prstGeom prst="line">
            <a:avLst/>
          </a:prstGeom>
          <a:noFill/>
          <a:ln w="22225">
            <a:solidFill>
              <a:schemeClr val="accent1"/>
            </a:solidFill>
            <a:prstDash val="solid"/>
          </a:ln>
        </p:spPr>
      </p:sp>
      <p:sp>
        <p:nvSpPr>
          <p:cNvPr id="27" name="Text 22"/>
          <p:cNvSpPr txBox="1"/>
          <p:nvPr/>
        </p:nvSpPr>
        <p:spPr>
          <a:xfrm>
            <a:off x="6291072" y="1645920"/>
            <a:ext cx="1051560" cy="219456"/>
          </a:xfrm>
          <a:prstGeom prst="rect">
            <a:avLst/>
          </a:prstGeom>
          <a:solidFill>
            <a:schemeClr val="tx1">
              <a:alpha val="90000"/>
            </a:schemeClr>
          </a:solidFill>
          <a:ln/>
        </p:spPr>
        <p:txBody>
          <a:bodyPr wrap="square" lIns="0" tIns="0" rIns="0" bIns="0" rtlCol="0" anchor="ctr"/>
          <a:lstStyle/>
          <a:p>
            <a:pPr algn="ctr" indent="0" marL="0">
              <a:lnSpc>
                <a:spcPct val="120000"/>
              </a:lnSpc>
              <a:buNone/>
            </a:pPr>
            <a:r>
              <a:rPr lang="ko-KR" altLang="en-US" sz="900" b="1" spc="100" kern="0" dirty="0">
                <a:solidFill>
                  <a:schemeClr val="accent1"/>
                </a:solidFill>
                <a:latin typeface="Consolas" pitchFamily="34" charset="0"/>
                <a:ea typeface="Consolas" pitchFamily="34" charset="-122"/>
                <a:cs typeface="Consolas" pitchFamily="34" charset="-120"/>
              </a:rPr>
              <a:t>● GAMEPLAY</a:t>
            </a:r>
            <a:endParaRPr lang="ko-KR" sz="900" dirty="0"/>
          </a:p>
        </p:txBody>
      </p:sp>
      <p:sp>
        <p:nvSpPr>
          <p:cNvPr id="28" name="Text 23"/>
          <p:cNvSpPr txBox="1"/>
          <p:nvPr/>
        </p:nvSpPr>
        <p:spPr>
          <a:xfrm>
            <a:off x="6272784" y="4489704"/>
            <a:ext cx="5385816" cy="274320"/>
          </a:xfrm>
          <a:prstGeom prst="rect">
            <a:avLst/>
          </a:prstGeom>
          <a:noFill/>
          <a:ln/>
        </p:spPr>
        <p:txBody>
          <a:bodyPr wrap="square" lIns="0" tIns="0" rIns="0" bIns="0" rtlCol="0" anchor="ctr"/>
          <a:lstStyle/>
          <a:p>
            <a:pPr indent="0" marL="0">
              <a:lnSpc>
                <a:spcPct val="110000"/>
              </a:lnSpc>
              <a:buNone/>
            </a:pPr>
            <a:r>
              <a:rPr lang="ko-KR" altLang="en-US" sz="1100" dirty="0">
                <a:solidFill>
                  <a:schemeClr val="bg2"/>
                </a:solidFill>
              </a:rPr>
              <a:t>② 가방을 장비 칸에 놓으면 → 가방 칸 배치가 그려짐</a:t>
            </a:r>
            <a:endParaRPr lang="ko-KR" sz="1100" dirty="0"/>
          </a:p>
        </p:txBody>
      </p:sp>
      <p:sp>
        <p:nvSpPr>
          <p:cNvPr id="29" name="Shape 24"/>
          <p:cNvSpPr/>
          <p:nvPr/>
        </p:nvSpPr>
        <p:spPr>
          <a:xfrm>
            <a:off x="457200" y="4983480"/>
            <a:ext cx="11274552" cy="1280160"/>
          </a:xfrm>
          <a:prstGeom prst="rect">
            <a:avLst/>
          </a:prstGeom>
          <a:solidFill>
            <a:schemeClr val="tx2"/>
          </a:solidFill>
          <a:ln w="9525">
            <a:solidFill>
              <a:srgbClr val="2A2F36"/>
            </a:solidFill>
            <a:prstDash val="solid"/>
          </a:ln>
        </p:spPr>
      </p:sp>
      <p:sp>
        <p:nvSpPr>
          <p:cNvPr id="30" name="Shape 25"/>
          <p:cNvSpPr/>
          <p:nvPr/>
        </p:nvSpPr>
        <p:spPr>
          <a:xfrm>
            <a:off x="457200" y="4983480"/>
            <a:ext cx="182880" cy="0"/>
          </a:xfrm>
          <a:prstGeom prst="line">
            <a:avLst/>
          </a:prstGeom>
          <a:noFill/>
          <a:ln w="22225">
            <a:solidFill>
              <a:schemeClr val="accent1"/>
            </a:solidFill>
            <a:prstDash val="solid"/>
          </a:ln>
        </p:spPr>
      </p:sp>
      <p:sp>
        <p:nvSpPr>
          <p:cNvPr id="31" name="Shape 26"/>
          <p:cNvSpPr/>
          <p:nvPr/>
        </p:nvSpPr>
        <p:spPr>
          <a:xfrm>
            <a:off x="457200" y="4983480"/>
            <a:ext cx="0" cy="182880"/>
          </a:xfrm>
          <a:prstGeom prst="line">
            <a:avLst/>
          </a:prstGeom>
          <a:noFill/>
          <a:ln w="22225">
            <a:solidFill>
              <a:schemeClr val="accent1"/>
            </a:solidFill>
            <a:prstDash val="solid"/>
          </a:ln>
        </p:spPr>
      </p:sp>
      <p:sp>
        <p:nvSpPr>
          <p:cNvPr id="32" name="Shape 27"/>
          <p:cNvSpPr/>
          <p:nvPr/>
        </p:nvSpPr>
        <p:spPr>
          <a:xfrm>
            <a:off x="11548872" y="6263640"/>
            <a:ext cx="182880" cy="0"/>
          </a:xfrm>
          <a:prstGeom prst="line">
            <a:avLst/>
          </a:prstGeom>
          <a:noFill/>
          <a:ln w="22225">
            <a:solidFill>
              <a:schemeClr val="accent1"/>
            </a:solidFill>
            <a:prstDash val="solid"/>
          </a:ln>
        </p:spPr>
      </p:sp>
      <p:sp>
        <p:nvSpPr>
          <p:cNvPr id="33" name="Shape 28"/>
          <p:cNvSpPr/>
          <p:nvPr/>
        </p:nvSpPr>
        <p:spPr>
          <a:xfrm>
            <a:off x="11731752" y="6080760"/>
            <a:ext cx="0" cy="182880"/>
          </a:xfrm>
          <a:prstGeom prst="line">
            <a:avLst/>
          </a:prstGeom>
          <a:noFill/>
          <a:ln w="22225">
            <a:solidFill>
              <a:schemeClr val="accent1"/>
            </a:solidFill>
            <a:prstDash val="solid"/>
          </a:ln>
        </p:spPr>
      </p:sp>
      <p:sp>
        <p:nvSpPr>
          <p:cNvPr id="34" name="Text 29"/>
          <p:cNvSpPr txBox="1"/>
          <p:nvPr/>
        </p:nvSpPr>
        <p:spPr>
          <a:xfrm>
            <a:off x="676656" y="5138928"/>
            <a:ext cx="10835640"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구현은 한 줄</a:t>
            </a:r>
            <a:endParaRPr lang="ko-KR" sz="1450" dirty="0"/>
          </a:p>
        </p:txBody>
      </p:sp>
      <p:sp>
        <p:nvSpPr>
          <p:cNvPr id="35" name="Text 30"/>
          <p:cNvSpPr txBox="1"/>
          <p:nvPr/>
        </p:nvSpPr>
        <p:spPr>
          <a:xfrm>
            <a:off x="676656" y="5513832"/>
            <a:ext cx="10835640" cy="274320"/>
          </a:xfrm>
          <a:prstGeom prst="rect">
            <a:avLst/>
          </a:prstGeom>
          <a:noFill/>
          <a:ln/>
        </p:spPr>
        <p:txBody>
          <a:bodyPr wrap="square" lIns="0" tIns="0" rIns="0" bIns="0" rtlCol="0" anchor="t"/>
          <a:lstStyle/>
          <a:p>
            <a:pPr indent="0" marL="0">
              <a:lnSpc>
                <a:spcPct val="120000"/>
              </a:lnSpc>
              <a:buNone/>
            </a:pPr>
            <a:r>
              <a:rPr lang="ko-KR" altLang="en-US" sz="1200" dirty="0">
                <a:solidFill>
                  <a:schemeClr val="accent2"/>
                </a:solidFill>
                <a:latin typeface="Consolas" pitchFamily="34" charset="0"/>
                <a:ea typeface="Consolas" pitchFamily="34" charset="-122"/>
                <a:cs typeface="Consolas" pitchFamily="34" charset="-120"/>
              </a:rPr>
              <a:t>OnDrop → EquipmentSlot.SetItem() → GridLayout.DrawLayout(ItemDef.ItemName)</a:t>
            </a:r>
            <a:endParaRPr lang="ko-KR" sz="1200" dirty="0"/>
          </a:p>
        </p:txBody>
      </p:sp>
      <p:sp>
        <p:nvSpPr>
          <p:cNvPr id="36" name="Text 31"/>
          <p:cNvSpPr txBox="1"/>
          <p:nvPr/>
        </p:nvSpPr>
        <p:spPr>
          <a:xfrm>
            <a:off x="676656" y="5843016"/>
            <a:ext cx="10835640" cy="274320"/>
          </a:xfrm>
          <a:prstGeom prst="rect">
            <a:avLst/>
          </a:prstGeom>
          <a:noFill/>
          <a:ln/>
        </p:spPr>
        <p:txBody>
          <a:bodyPr wrap="square" lIns="0" tIns="0" rIns="0" bIns="0" rtlCol="0" anchor="t"/>
          <a:lstStyle/>
          <a:p>
            <a:pPr indent="0" marL="0">
              <a:lnSpc>
                <a:spcPct val="120000"/>
              </a:lnSpc>
              <a:buNone/>
            </a:pPr>
            <a:r>
              <a:rPr lang="ko-KR" altLang="en-US" sz="1250" dirty="0">
                <a:solidFill>
                  <a:schemeClr val="bg2"/>
                </a:solidFill>
              </a:rPr>
              <a:t>아이템 이름 = 칸 배치 행 이름이라, 조끼 18종 · 가방 26종이 같은 코드로 동작한다.</a:t>
            </a:r>
            <a:endParaRPr lang="ko-KR" sz="125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03 · PERFORMANCE</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성능 최적화 · 그리드 위젯 수</a:t>
            </a:r>
            <a:endParaRPr lang="en-US" sz="2800" dirty="0"/>
          </a:p>
        </p:txBody>
      </p:sp>
      <p:sp>
        <p:nvSpPr>
          <p:cNvPr id="5" name="Shape 2"/>
          <p:cNvSpPr/>
          <p:nvPr/>
        </p:nvSpPr>
        <p:spPr>
          <a:xfrm>
            <a:off x="457200" y="1417320"/>
            <a:ext cx="3611880" cy="3749040"/>
          </a:xfrm>
          <a:prstGeom prst="rect">
            <a:avLst/>
          </a:prstGeom>
          <a:solidFill>
            <a:schemeClr val="tx2"/>
          </a:solidFill>
          <a:ln w="15875">
            <a:solidFill>
              <a:schemeClr val="accent1"/>
            </a:solidFill>
            <a:prstDash val="solid"/>
          </a:ln>
        </p:spPr>
      </p:sp>
      <p:sp>
        <p:nvSpPr>
          <p:cNvPr id="6" name="Text 3"/>
          <p:cNvSpPr txBox="1"/>
          <p:nvPr/>
        </p:nvSpPr>
        <p:spPr>
          <a:xfrm>
            <a:off x="676656" y="1572768"/>
            <a:ext cx="317296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accent1"/>
                </a:solidFill>
              </a:rPr>
              <a:t>병목</a:t>
            </a:r>
            <a:endParaRPr lang="ko-KR" sz="1450" dirty="0"/>
          </a:p>
        </p:txBody>
      </p:sp>
      <p:sp>
        <p:nvSpPr>
          <p:cNvPr id="7" name="Text 4"/>
          <p:cNvSpPr txBox="1"/>
          <p:nvPr/>
        </p:nvSpPr>
        <p:spPr>
          <a:xfrm>
            <a:off x="676656" y="2057400"/>
            <a:ext cx="3172968" cy="640080"/>
          </a:xfrm>
          <a:prstGeom prst="rect">
            <a:avLst/>
          </a:prstGeom>
          <a:noFill/>
          <a:ln/>
        </p:spPr>
        <p:txBody>
          <a:bodyPr wrap="square" lIns="0" tIns="0" rIns="0" bIns="0" rtlCol="0" anchor="ctr"/>
          <a:lstStyle/>
          <a:p>
            <a:pPr indent="0" marL="0">
              <a:lnSpc>
                <a:spcPct val="120000"/>
              </a:lnSpc>
              <a:buNone/>
            </a:pPr>
            <a:r>
              <a:rPr lang="ko-KR" altLang="en-US" sz="3400" b="1" dirty="0">
                <a:solidFill>
                  <a:schemeClr val="accent2"/>
                </a:solidFill>
              </a:rPr>
              <a:t>1,350</a:t>
            </a:r>
            <a:endParaRPr lang="ko-KR" sz="3400" dirty="0"/>
          </a:p>
        </p:txBody>
      </p:sp>
      <p:sp>
        <p:nvSpPr>
          <p:cNvPr id="8" name="Text 5"/>
          <p:cNvSpPr txBox="1"/>
          <p:nvPr/>
        </p:nvSpPr>
        <p:spPr>
          <a:xfrm>
            <a:off x="676656" y="2715768"/>
            <a:ext cx="3172968" cy="274320"/>
          </a:xfrm>
          <a:prstGeom prst="rect">
            <a:avLst/>
          </a:prstGeom>
          <a:noFill/>
          <a:ln/>
        </p:spPr>
        <p:txBody>
          <a:bodyPr wrap="square" lIns="0" tIns="0" rIns="0" bIns="0" rtlCol="0" anchor="t"/>
          <a:lstStyle/>
          <a:p>
            <a:pPr indent="0" marL="0">
              <a:lnSpc>
                <a:spcPct val="120000"/>
              </a:lnSpc>
              <a:buNone/>
            </a:pPr>
            <a:r>
              <a:rPr lang="ko-KR" altLang="en-US" sz="1150" dirty="0">
                <a:solidFill>
                  <a:schemeClr val="accent5"/>
                </a:solidFill>
              </a:rPr>
              <a:t>창고 225칸 × 칸당 위젯 6개</a:t>
            </a:r>
            <a:endParaRPr lang="ko-KR" sz="1150" dirty="0"/>
          </a:p>
        </p:txBody>
      </p:sp>
      <p:sp>
        <p:nvSpPr>
          <p:cNvPr id="9" name="Shape 6"/>
          <p:cNvSpPr/>
          <p:nvPr/>
        </p:nvSpPr>
        <p:spPr>
          <a:xfrm>
            <a:off x="676656" y="3154680"/>
            <a:ext cx="3172968" cy="0"/>
          </a:xfrm>
          <a:prstGeom prst="line">
            <a:avLst/>
          </a:prstGeom>
          <a:noFill/>
          <a:ln w="9525">
            <a:solidFill>
              <a:srgbClr val="2A2F36"/>
            </a:solidFill>
            <a:prstDash val="solid"/>
          </a:ln>
        </p:spPr>
      </p:sp>
      <p:sp>
        <p:nvSpPr>
          <p:cNvPr id="10" name="Text 7"/>
          <p:cNvSpPr txBox="1"/>
          <p:nvPr/>
        </p:nvSpPr>
        <p:spPr>
          <a:xfrm>
            <a:off x="676656" y="3337560"/>
            <a:ext cx="3172968" cy="1645920"/>
          </a:xfrm>
          <a:prstGeom prst="rect">
            <a:avLst/>
          </a:prstGeom>
          <a:noFill/>
          <a:ln/>
        </p:spPr>
        <p:txBody>
          <a:bodyPr wrap="square" lIns="0" tIns="0" rIns="0" bIns="0" rtlCol="0" anchor="t"/>
          <a:lstStyle/>
          <a:p>
            <a:pPr indent="0" marL="0">
              <a:lnSpc>
                <a:spcPct val="135000"/>
              </a:lnSpc>
              <a:buNone/>
            </a:pPr>
            <a:r>
              <a:rPr lang="ko-KR" altLang="en-US" sz="1250" dirty="0">
                <a:solidFill>
                  <a:schemeClr val="bg2"/>
                </a:solidFill>
              </a:rPr>
              <a:t>창고 그리드를 칸마다 위젯(WBP_GridCell)으로 만든다. 가장 큰 창고(9×51)는 2,754개.</a:t>
            </a:r>
            <a:endParaRPr lang="ko-KR" sz="1250" dirty="0"/>
          </a:p>
        </p:txBody>
      </p:sp>
      <p:sp>
        <p:nvSpPr>
          <p:cNvPr id="11" name="Shape 8"/>
          <p:cNvSpPr/>
          <p:nvPr/>
        </p:nvSpPr>
        <p:spPr>
          <a:xfrm>
            <a:off x="4288536" y="1417320"/>
            <a:ext cx="3611880" cy="3749040"/>
          </a:xfrm>
          <a:prstGeom prst="rect">
            <a:avLst/>
          </a:prstGeom>
          <a:solidFill>
            <a:schemeClr val="tx2"/>
          </a:solidFill>
          <a:ln w="15875">
            <a:solidFill>
              <a:schemeClr val="accent4"/>
            </a:solidFill>
            <a:prstDash val="solid"/>
          </a:ln>
        </p:spPr>
      </p:sp>
      <p:sp>
        <p:nvSpPr>
          <p:cNvPr id="12" name="Text 9"/>
          <p:cNvSpPr txBox="1"/>
          <p:nvPr/>
        </p:nvSpPr>
        <p:spPr>
          <a:xfrm>
            <a:off x="4507992" y="1572768"/>
            <a:ext cx="317296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accent4"/>
                </a:solidFill>
              </a:rPr>
              <a:t>원인</a:t>
            </a:r>
            <a:endParaRPr lang="ko-KR" sz="1450" dirty="0"/>
          </a:p>
        </p:txBody>
      </p:sp>
      <p:sp>
        <p:nvSpPr>
          <p:cNvPr id="13" name="Text 10"/>
          <p:cNvSpPr txBox="1"/>
          <p:nvPr/>
        </p:nvSpPr>
        <p:spPr>
          <a:xfrm>
            <a:off x="4507992" y="2057400"/>
            <a:ext cx="3172968" cy="640080"/>
          </a:xfrm>
          <a:prstGeom prst="rect">
            <a:avLst/>
          </a:prstGeom>
          <a:noFill/>
          <a:ln/>
        </p:spPr>
        <p:txBody>
          <a:bodyPr wrap="square" lIns="0" tIns="0" rIns="0" bIns="0" rtlCol="0" anchor="ctr"/>
          <a:lstStyle/>
          <a:p>
            <a:pPr indent="0" marL="0">
              <a:lnSpc>
                <a:spcPct val="120000"/>
              </a:lnSpc>
              <a:buNone/>
            </a:pPr>
            <a:r>
              <a:rPr lang="ko-KR" altLang="en-US" sz="3400" b="1" dirty="0">
                <a:solidFill>
                  <a:schemeClr val="accent4"/>
                </a:solidFill>
              </a:rPr>
              <a:t>× 6</a:t>
            </a:r>
            <a:endParaRPr lang="ko-KR" sz="3400" dirty="0"/>
          </a:p>
        </p:txBody>
      </p:sp>
      <p:sp>
        <p:nvSpPr>
          <p:cNvPr id="14" name="Text 11"/>
          <p:cNvSpPr txBox="1"/>
          <p:nvPr/>
        </p:nvSpPr>
        <p:spPr>
          <a:xfrm>
            <a:off x="4507992" y="2715768"/>
            <a:ext cx="3172968" cy="274320"/>
          </a:xfrm>
          <a:prstGeom prst="rect">
            <a:avLst/>
          </a:prstGeom>
          <a:noFill/>
          <a:ln/>
        </p:spPr>
        <p:txBody>
          <a:bodyPr wrap="square" lIns="0" tIns="0" rIns="0" bIns="0" rtlCol="0" anchor="t"/>
          <a:lstStyle/>
          <a:p>
            <a:pPr indent="0" marL="0">
              <a:lnSpc>
                <a:spcPct val="120000"/>
              </a:lnSpc>
              <a:buNone/>
            </a:pPr>
            <a:r>
              <a:rPr lang="ko-KR" altLang="en-US" sz="1150" dirty="0">
                <a:solidFill>
                  <a:schemeClr val="accent5"/>
                </a:solidFill>
              </a:rPr>
              <a:t>칸 하나당 UMG 위젯</a:t>
            </a:r>
            <a:endParaRPr lang="ko-KR" sz="1150" dirty="0"/>
          </a:p>
        </p:txBody>
      </p:sp>
      <p:sp>
        <p:nvSpPr>
          <p:cNvPr id="15" name="Shape 12"/>
          <p:cNvSpPr/>
          <p:nvPr/>
        </p:nvSpPr>
        <p:spPr>
          <a:xfrm>
            <a:off x="4507992" y="3154680"/>
            <a:ext cx="3172968" cy="0"/>
          </a:xfrm>
          <a:prstGeom prst="line">
            <a:avLst/>
          </a:prstGeom>
          <a:noFill/>
          <a:ln w="9525">
            <a:solidFill>
              <a:srgbClr val="2A2F36"/>
            </a:solidFill>
            <a:prstDash val="solid"/>
          </a:ln>
        </p:spPr>
      </p:sp>
      <p:sp>
        <p:nvSpPr>
          <p:cNvPr id="16" name="Text 13"/>
          <p:cNvSpPr txBox="1"/>
          <p:nvPr/>
        </p:nvSpPr>
        <p:spPr>
          <a:xfrm>
            <a:off x="4507992" y="3337560"/>
            <a:ext cx="3172968" cy="1645920"/>
          </a:xfrm>
          <a:prstGeom prst="rect">
            <a:avLst/>
          </a:prstGeom>
          <a:noFill/>
          <a:ln/>
        </p:spPr>
        <p:txBody>
          <a:bodyPr wrap="square" lIns="0" tIns="0" rIns="0" bIns="0" rtlCol="0" anchor="t"/>
          <a:lstStyle/>
          <a:p>
            <a:pPr indent="0" marL="0">
              <a:lnSpc>
                <a:spcPct val="135000"/>
              </a:lnSpc>
              <a:buNone/>
            </a:pPr>
            <a:r>
              <a:rPr lang="ko-KR" altLang="en-US" sz="1250" dirty="0">
                <a:solidFill>
                  <a:schemeClr val="bg2"/>
                </a:solidFill>
              </a:rPr>
              <a:t>칸 대부분은 움직이지 않는 격자선인데 위젯으로 남아, Slate가 위젯 수만큼 레이아웃 · 페인트를 처리한다.</a:t>
            </a:r>
            <a:endParaRPr lang="ko-KR" sz="1250" dirty="0"/>
          </a:p>
        </p:txBody>
      </p:sp>
      <p:sp>
        <p:nvSpPr>
          <p:cNvPr id="17" name="Shape 14"/>
          <p:cNvSpPr/>
          <p:nvPr/>
        </p:nvSpPr>
        <p:spPr>
          <a:xfrm>
            <a:off x="8119872" y="1417320"/>
            <a:ext cx="3611880" cy="3749040"/>
          </a:xfrm>
          <a:prstGeom prst="rect">
            <a:avLst/>
          </a:prstGeom>
          <a:solidFill>
            <a:schemeClr val="tx2"/>
          </a:solidFill>
          <a:ln w="15875">
            <a:solidFill>
              <a:schemeClr val="accent3"/>
            </a:solidFill>
            <a:prstDash val="solid"/>
          </a:ln>
        </p:spPr>
      </p:sp>
      <p:sp>
        <p:nvSpPr>
          <p:cNvPr id="18" name="Text 15"/>
          <p:cNvSpPr txBox="1"/>
          <p:nvPr/>
        </p:nvSpPr>
        <p:spPr>
          <a:xfrm>
            <a:off x="8339328" y="1572768"/>
            <a:ext cx="317296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accent3"/>
                </a:solidFill>
              </a:rPr>
              <a:t>개선 계획</a:t>
            </a:r>
            <a:endParaRPr lang="ko-KR" sz="1450" dirty="0"/>
          </a:p>
        </p:txBody>
      </p:sp>
      <p:sp>
        <p:nvSpPr>
          <p:cNvPr id="19" name="Text 16"/>
          <p:cNvSpPr txBox="1"/>
          <p:nvPr/>
        </p:nvSpPr>
        <p:spPr>
          <a:xfrm>
            <a:off x="8339328" y="2057400"/>
            <a:ext cx="3172968" cy="640080"/>
          </a:xfrm>
          <a:prstGeom prst="rect">
            <a:avLst/>
          </a:prstGeom>
          <a:noFill/>
          <a:ln/>
        </p:spPr>
        <p:txBody>
          <a:bodyPr wrap="square" lIns="0" tIns="0" rIns="0" bIns="0" rtlCol="0" anchor="ctr"/>
          <a:lstStyle/>
          <a:p>
            <a:pPr indent="0" marL="0">
              <a:lnSpc>
                <a:spcPct val="120000"/>
              </a:lnSpc>
              <a:buNone/>
            </a:pPr>
            <a:r>
              <a:rPr lang="ko-KR" altLang="en-US" sz="3400" b="1" dirty="0">
                <a:solidFill>
                  <a:schemeClr val="accent3"/>
                </a:solidFill>
              </a:rPr>
              <a:t>225 → 0</a:t>
            </a:r>
            <a:endParaRPr lang="ko-KR" sz="3400" dirty="0"/>
          </a:p>
        </p:txBody>
      </p:sp>
      <p:sp>
        <p:nvSpPr>
          <p:cNvPr id="20" name="Text 17"/>
          <p:cNvSpPr txBox="1"/>
          <p:nvPr/>
        </p:nvSpPr>
        <p:spPr>
          <a:xfrm>
            <a:off x="8339328" y="2715768"/>
            <a:ext cx="3172968" cy="274320"/>
          </a:xfrm>
          <a:prstGeom prst="rect">
            <a:avLst/>
          </a:prstGeom>
          <a:noFill/>
          <a:ln/>
        </p:spPr>
        <p:txBody>
          <a:bodyPr wrap="square" lIns="0" tIns="0" rIns="0" bIns="0" rtlCol="0" anchor="t"/>
          <a:lstStyle/>
          <a:p>
            <a:pPr indent="0" marL="0">
              <a:lnSpc>
                <a:spcPct val="120000"/>
              </a:lnSpc>
              <a:buNone/>
            </a:pPr>
            <a:r>
              <a:rPr lang="ko-KR" altLang="en-US" sz="1150" dirty="0">
                <a:solidFill>
                  <a:schemeClr val="accent5"/>
                </a:solidFill>
              </a:rPr>
              <a:t>셀 위젯 수 (구조상 계산)</a:t>
            </a:r>
            <a:endParaRPr lang="ko-KR" sz="1150" dirty="0"/>
          </a:p>
        </p:txBody>
      </p:sp>
      <p:sp>
        <p:nvSpPr>
          <p:cNvPr id="21" name="Shape 18"/>
          <p:cNvSpPr/>
          <p:nvPr/>
        </p:nvSpPr>
        <p:spPr>
          <a:xfrm>
            <a:off x="8339328" y="3154680"/>
            <a:ext cx="3172968" cy="0"/>
          </a:xfrm>
          <a:prstGeom prst="line">
            <a:avLst/>
          </a:prstGeom>
          <a:noFill/>
          <a:ln w="9525">
            <a:solidFill>
              <a:srgbClr val="2A2F36"/>
            </a:solidFill>
            <a:prstDash val="solid"/>
          </a:ln>
        </p:spPr>
      </p:sp>
      <p:sp>
        <p:nvSpPr>
          <p:cNvPr id="22" name="Text 19"/>
          <p:cNvSpPr txBox="1"/>
          <p:nvPr/>
        </p:nvSpPr>
        <p:spPr>
          <a:xfrm>
            <a:off x="8339328" y="3337560"/>
            <a:ext cx="3172968" cy="1645920"/>
          </a:xfrm>
          <a:prstGeom prst="rect">
            <a:avLst/>
          </a:prstGeom>
          <a:noFill/>
          <a:ln/>
        </p:spPr>
        <p:txBody>
          <a:bodyPr wrap="square" lIns="0" tIns="0" rIns="0" bIns="0" rtlCol="0" anchor="t"/>
          <a:lstStyle/>
          <a:p>
            <a:pPr indent="0" marL="0">
              <a:lnSpc>
                <a:spcPct val="135000"/>
              </a:lnSpc>
              <a:buNone/>
            </a:pPr>
            <a:r>
              <a:rPr lang="ko-KR" altLang="en-US" sz="1250" dirty="0">
                <a:solidFill>
                  <a:schemeClr val="bg2"/>
                </a:solidFill>
              </a:rPr>
              <a:t>격자선은 Image 한 장이나 OnPaint 한 번으로 그리고, 점유 여부는 bool 배열로 관리한다.</a:t>
            </a:r>
            <a:endParaRPr lang="ko-KR" sz="1250" dirty="0"/>
          </a:p>
        </p:txBody>
      </p:sp>
      <p:sp>
        <p:nvSpPr>
          <p:cNvPr id="23" name="Text 20"/>
          <p:cNvSpPr txBox="1"/>
          <p:nvPr/>
        </p:nvSpPr>
        <p:spPr>
          <a:xfrm>
            <a:off x="457200" y="5440680"/>
            <a:ext cx="11247120" cy="274320"/>
          </a:xfrm>
          <a:prstGeom prst="rect">
            <a:avLst/>
          </a:prstGeom>
          <a:noFill/>
          <a:ln/>
        </p:spPr>
        <p:txBody>
          <a:bodyPr wrap="square" lIns="0" tIns="0" rIns="0" bIns="0" rtlCol="0" anchor="t"/>
          <a:lstStyle/>
          <a:p>
            <a:pPr indent="0" marL="0">
              <a:lnSpc>
                <a:spcPct val="120000"/>
              </a:lnSpc>
              <a:buNone/>
            </a:pPr>
            <a:r>
              <a:rPr lang="ko-KR" altLang="en-US" sz="1200" dirty="0">
                <a:solidFill>
                  <a:schemeClr val="accent5"/>
                </a:solidFill>
              </a:rPr>
              <a:t>측정 계획: Unreal Insights · Widget Reflector로 같은 조건(창고 탭 첫 표시)에서 개선 전후 비교</a:t>
            </a:r>
            <a:endParaRPr lang="ko-KR" sz="12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04 · TROUBLESHOOTING</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좌표 버그 · 문제와 원인</a:t>
            </a:r>
            <a:endParaRPr lang="en-US" sz="2800" dirty="0"/>
          </a:p>
        </p:txBody>
      </p:sp>
      <p:sp>
        <p:nvSpPr>
          <p:cNvPr id="5" name="Shape 2"/>
          <p:cNvSpPr/>
          <p:nvPr/>
        </p:nvSpPr>
        <p:spPr>
          <a:xfrm>
            <a:off x="457200" y="1371600"/>
            <a:ext cx="7086600" cy="1024128"/>
          </a:xfrm>
          <a:prstGeom prst="rect">
            <a:avLst/>
          </a:prstGeom>
          <a:solidFill>
            <a:schemeClr val="tx2"/>
          </a:solidFill>
          <a:ln w="9525">
            <a:solidFill>
              <a:srgbClr val="2A2F36"/>
            </a:solidFill>
            <a:prstDash val="solid"/>
          </a:ln>
        </p:spPr>
      </p:sp>
      <p:sp>
        <p:nvSpPr>
          <p:cNvPr id="6" name="Shape 3"/>
          <p:cNvSpPr/>
          <p:nvPr/>
        </p:nvSpPr>
        <p:spPr>
          <a:xfrm>
            <a:off x="457200" y="1371600"/>
            <a:ext cx="182880" cy="0"/>
          </a:xfrm>
          <a:prstGeom prst="line">
            <a:avLst/>
          </a:prstGeom>
          <a:noFill/>
          <a:ln w="22225">
            <a:solidFill>
              <a:schemeClr val="accent1"/>
            </a:solidFill>
            <a:prstDash val="solid"/>
          </a:ln>
        </p:spPr>
      </p:sp>
      <p:sp>
        <p:nvSpPr>
          <p:cNvPr id="7" name="Shape 4"/>
          <p:cNvSpPr/>
          <p:nvPr/>
        </p:nvSpPr>
        <p:spPr>
          <a:xfrm>
            <a:off x="457200" y="1371600"/>
            <a:ext cx="0" cy="182880"/>
          </a:xfrm>
          <a:prstGeom prst="line">
            <a:avLst/>
          </a:prstGeom>
          <a:noFill/>
          <a:ln w="22225">
            <a:solidFill>
              <a:schemeClr val="accent1"/>
            </a:solidFill>
            <a:prstDash val="solid"/>
          </a:ln>
        </p:spPr>
      </p:sp>
      <p:sp>
        <p:nvSpPr>
          <p:cNvPr id="8" name="Shape 5"/>
          <p:cNvSpPr/>
          <p:nvPr/>
        </p:nvSpPr>
        <p:spPr>
          <a:xfrm>
            <a:off x="7360920" y="2395728"/>
            <a:ext cx="182880" cy="0"/>
          </a:xfrm>
          <a:prstGeom prst="line">
            <a:avLst/>
          </a:prstGeom>
          <a:noFill/>
          <a:ln w="22225">
            <a:solidFill>
              <a:schemeClr val="accent1"/>
            </a:solidFill>
            <a:prstDash val="solid"/>
          </a:ln>
        </p:spPr>
      </p:sp>
      <p:sp>
        <p:nvSpPr>
          <p:cNvPr id="9" name="Shape 6"/>
          <p:cNvSpPr/>
          <p:nvPr/>
        </p:nvSpPr>
        <p:spPr>
          <a:xfrm>
            <a:off x="7543800" y="2212848"/>
            <a:ext cx="0" cy="182880"/>
          </a:xfrm>
          <a:prstGeom prst="line">
            <a:avLst/>
          </a:prstGeom>
          <a:noFill/>
          <a:ln w="22225">
            <a:solidFill>
              <a:schemeClr val="accent1"/>
            </a:solidFill>
            <a:prstDash val="solid"/>
          </a:ln>
        </p:spPr>
      </p:sp>
      <p:sp>
        <p:nvSpPr>
          <p:cNvPr id="10" name="Text 7"/>
          <p:cNvSpPr txBox="1"/>
          <p:nvPr/>
        </p:nvSpPr>
        <p:spPr>
          <a:xfrm>
            <a:off x="676656" y="1527048"/>
            <a:ext cx="664768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문제 현상</a:t>
            </a:r>
            <a:endParaRPr lang="ko-KR" sz="1450" dirty="0"/>
          </a:p>
        </p:txBody>
      </p:sp>
      <p:sp>
        <p:nvSpPr>
          <p:cNvPr id="11" name="Text 8"/>
          <p:cNvSpPr txBox="1"/>
          <p:nvPr/>
        </p:nvSpPr>
        <p:spPr>
          <a:xfrm>
            <a:off x="676656" y="1901952"/>
            <a:ext cx="6647688" cy="356616"/>
          </a:xfrm>
          <a:prstGeom prst="rect">
            <a:avLst/>
          </a:prstGeom>
          <a:noFill/>
          <a:ln/>
        </p:spPr>
        <p:txBody>
          <a:bodyPr wrap="square" lIns="0" tIns="0" rIns="0" bIns="0" rtlCol="0" anchor="t"/>
          <a:lstStyle/>
          <a:p>
            <a:pPr indent="0" marL="0">
              <a:lnSpc>
                <a:spcPct val="130000"/>
              </a:lnSpc>
              <a:buNone/>
            </a:pPr>
            <a:r>
              <a:rPr lang="ko-KR" altLang="en-US" sz="1200" dirty="0">
                <a:solidFill>
                  <a:schemeClr val="bg2"/>
                </a:solidFill>
              </a:rPr>
              <a:t>드래그한 아이템의 놓일 칸 표시가 안 나오고, 칸 계산이 화면과 맞지 않았다 (9/29, 커밋 5c83059).</a:t>
            </a:r>
            <a:endParaRPr lang="ko-KR" sz="1200" dirty="0"/>
          </a:p>
        </p:txBody>
      </p:sp>
      <p:sp>
        <p:nvSpPr>
          <p:cNvPr id="12" name="Shape 9"/>
          <p:cNvSpPr/>
          <p:nvPr/>
        </p:nvSpPr>
        <p:spPr>
          <a:xfrm>
            <a:off x="457200" y="2532888"/>
            <a:ext cx="7086600" cy="1024128"/>
          </a:xfrm>
          <a:prstGeom prst="rect">
            <a:avLst/>
          </a:prstGeom>
          <a:solidFill>
            <a:schemeClr val="tx2"/>
          </a:solidFill>
          <a:ln w="9525">
            <a:solidFill>
              <a:srgbClr val="2A2F36"/>
            </a:solidFill>
            <a:prstDash val="solid"/>
          </a:ln>
        </p:spPr>
      </p:sp>
      <p:sp>
        <p:nvSpPr>
          <p:cNvPr id="13" name="Shape 10"/>
          <p:cNvSpPr/>
          <p:nvPr/>
        </p:nvSpPr>
        <p:spPr>
          <a:xfrm>
            <a:off x="457200" y="2532888"/>
            <a:ext cx="182880" cy="0"/>
          </a:xfrm>
          <a:prstGeom prst="line">
            <a:avLst/>
          </a:prstGeom>
          <a:noFill/>
          <a:ln w="22225">
            <a:solidFill>
              <a:schemeClr val="accent1"/>
            </a:solidFill>
            <a:prstDash val="solid"/>
          </a:ln>
        </p:spPr>
      </p:sp>
      <p:sp>
        <p:nvSpPr>
          <p:cNvPr id="14" name="Shape 11"/>
          <p:cNvSpPr/>
          <p:nvPr/>
        </p:nvSpPr>
        <p:spPr>
          <a:xfrm>
            <a:off x="457200" y="2532888"/>
            <a:ext cx="0" cy="182880"/>
          </a:xfrm>
          <a:prstGeom prst="line">
            <a:avLst/>
          </a:prstGeom>
          <a:noFill/>
          <a:ln w="22225">
            <a:solidFill>
              <a:schemeClr val="accent1"/>
            </a:solidFill>
            <a:prstDash val="solid"/>
          </a:ln>
        </p:spPr>
      </p:sp>
      <p:sp>
        <p:nvSpPr>
          <p:cNvPr id="15" name="Shape 12"/>
          <p:cNvSpPr/>
          <p:nvPr/>
        </p:nvSpPr>
        <p:spPr>
          <a:xfrm>
            <a:off x="7360920" y="3557016"/>
            <a:ext cx="182880" cy="0"/>
          </a:xfrm>
          <a:prstGeom prst="line">
            <a:avLst/>
          </a:prstGeom>
          <a:noFill/>
          <a:ln w="22225">
            <a:solidFill>
              <a:schemeClr val="accent1"/>
            </a:solidFill>
            <a:prstDash val="solid"/>
          </a:ln>
        </p:spPr>
      </p:sp>
      <p:sp>
        <p:nvSpPr>
          <p:cNvPr id="16" name="Shape 13"/>
          <p:cNvSpPr/>
          <p:nvPr/>
        </p:nvSpPr>
        <p:spPr>
          <a:xfrm>
            <a:off x="7543800" y="3374136"/>
            <a:ext cx="0" cy="182880"/>
          </a:xfrm>
          <a:prstGeom prst="line">
            <a:avLst/>
          </a:prstGeom>
          <a:noFill/>
          <a:ln w="22225">
            <a:solidFill>
              <a:schemeClr val="accent1"/>
            </a:solidFill>
            <a:prstDash val="solid"/>
          </a:ln>
        </p:spPr>
      </p:sp>
      <p:sp>
        <p:nvSpPr>
          <p:cNvPr id="17" name="Text 14"/>
          <p:cNvSpPr txBox="1"/>
          <p:nvPr/>
        </p:nvSpPr>
        <p:spPr>
          <a:xfrm>
            <a:off x="676656" y="2688336"/>
            <a:ext cx="664768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확인 방법</a:t>
            </a:r>
            <a:endParaRPr lang="ko-KR" sz="1450" dirty="0"/>
          </a:p>
        </p:txBody>
      </p:sp>
      <p:sp>
        <p:nvSpPr>
          <p:cNvPr id="18" name="Text 15"/>
          <p:cNvSpPr txBox="1"/>
          <p:nvPr/>
        </p:nvSpPr>
        <p:spPr>
          <a:xfrm>
            <a:off x="676656" y="3063240"/>
            <a:ext cx="6647688" cy="356616"/>
          </a:xfrm>
          <a:prstGeom prst="rect">
            <a:avLst/>
          </a:prstGeom>
          <a:noFill/>
          <a:ln/>
        </p:spPr>
        <p:txBody>
          <a:bodyPr wrap="square" lIns="0" tIns="0" rIns="0" bIns="0" rtlCol="0" anchor="t"/>
          <a:lstStyle/>
          <a:p>
            <a:pPr indent="0" marL="0">
              <a:lnSpc>
                <a:spcPct val="130000"/>
              </a:lnSpc>
              <a:buNone/>
            </a:pPr>
            <a:r>
              <a:rPr lang="ko-KR" altLang="en-US" sz="1200" dirty="0">
                <a:solidFill>
                  <a:schemeClr val="bg2"/>
                </a:solidFill>
              </a:rPr>
              <a:t>계산식을 고치기 전에, 칸마다 번호를 띄우는 디버그 그리드부터 만들었다 (오른쪽 화면).</a:t>
            </a:r>
            <a:endParaRPr lang="ko-KR" sz="1200" dirty="0"/>
          </a:p>
        </p:txBody>
      </p:sp>
      <p:sp>
        <p:nvSpPr>
          <p:cNvPr id="19" name="Shape 16"/>
          <p:cNvSpPr/>
          <p:nvPr/>
        </p:nvSpPr>
        <p:spPr>
          <a:xfrm>
            <a:off x="457200" y="3694176"/>
            <a:ext cx="7086600" cy="2569464"/>
          </a:xfrm>
          <a:prstGeom prst="rect">
            <a:avLst/>
          </a:prstGeom>
          <a:solidFill>
            <a:schemeClr val="tx2"/>
          </a:solidFill>
          <a:ln w="9525">
            <a:solidFill>
              <a:srgbClr val="2A2F36"/>
            </a:solidFill>
            <a:prstDash val="solid"/>
          </a:ln>
        </p:spPr>
      </p:sp>
      <p:sp>
        <p:nvSpPr>
          <p:cNvPr id="20" name="Shape 17"/>
          <p:cNvSpPr/>
          <p:nvPr/>
        </p:nvSpPr>
        <p:spPr>
          <a:xfrm>
            <a:off x="457200" y="3694176"/>
            <a:ext cx="182880" cy="0"/>
          </a:xfrm>
          <a:prstGeom prst="line">
            <a:avLst/>
          </a:prstGeom>
          <a:noFill/>
          <a:ln w="22225">
            <a:solidFill>
              <a:schemeClr val="accent4"/>
            </a:solidFill>
            <a:prstDash val="solid"/>
          </a:ln>
        </p:spPr>
      </p:sp>
      <p:sp>
        <p:nvSpPr>
          <p:cNvPr id="21" name="Shape 18"/>
          <p:cNvSpPr/>
          <p:nvPr/>
        </p:nvSpPr>
        <p:spPr>
          <a:xfrm>
            <a:off x="457200" y="3694176"/>
            <a:ext cx="0" cy="182880"/>
          </a:xfrm>
          <a:prstGeom prst="line">
            <a:avLst/>
          </a:prstGeom>
          <a:noFill/>
          <a:ln w="22225">
            <a:solidFill>
              <a:schemeClr val="accent4"/>
            </a:solidFill>
            <a:prstDash val="solid"/>
          </a:ln>
        </p:spPr>
      </p:sp>
      <p:sp>
        <p:nvSpPr>
          <p:cNvPr id="22" name="Shape 19"/>
          <p:cNvSpPr/>
          <p:nvPr/>
        </p:nvSpPr>
        <p:spPr>
          <a:xfrm>
            <a:off x="7360920" y="6263640"/>
            <a:ext cx="182880" cy="0"/>
          </a:xfrm>
          <a:prstGeom prst="line">
            <a:avLst/>
          </a:prstGeom>
          <a:noFill/>
          <a:ln w="22225">
            <a:solidFill>
              <a:schemeClr val="accent4"/>
            </a:solidFill>
            <a:prstDash val="solid"/>
          </a:ln>
        </p:spPr>
      </p:sp>
      <p:sp>
        <p:nvSpPr>
          <p:cNvPr id="23" name="Shape 20"/>
          <p:cNvSpPr/>
          <p:nvPr/>
        </p:nvSpPr>
        <p:spPr>
          <a:xfrm>
            <a:off x="7543800" y="6080760"/>
            <a:ext cx="0" cy="182880"/>
          </a:xfrm>
          <a:prstGeom prst="line">
            <a:avLst/>
          </a:prstGeom>
          <a:noFill/>
          <a:ln w="22225">
            <a:solidFill>
              <a:schemeClr val="accent4"/>
            </a:solidFill>
            <a:prstDash val="solid"/>
          </a:ln>
        </p:spPr>
      </p:sp>
      <p:sp>
        <p:nvSpPr>
          <p:cNvPr id="24" name="Text 21"/>
          <p:cNvSpPr txBox="1"/>
          <p:nvPr/>
        </p:nvSpPr>
        <p:spPr>
          <a:xfrm>
            <a:off x="676656" y="3849624"/>
            <a:ext cx="664768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원인 3가지</a:t>
            </a:r>
            <a:endParaRPr lang="ko-KR" sz="1450" dirty="0"/>
          </a:p>
        </p:txBody>
      </p:sp>
      <p:sp>
        <p:nvSpPr>
          <p:cNvPr id="25" name="Shape 22"/>
          <p:cNvSpPr/>
          <p:nvPr/>
        </p:nvSpPr>
        <p:spPr>
          <a:xfrm>
            <a:off x="676656" y="4261104"/>
            <a:ext cx="6647688" cy="512064"/>
          </a:xfrm>
          <a:prstGeom prst="rect">
            <a:avLst/>
          </a:prstGeom>
          <a:solidFill>
            <a:schemeClr val="accent6"/>
          </a:solidFill>
          <a:ln/>
        </p:spPr>
      </p:sp>
      <p:sp>
        <p:nvSpPr>
          <p:cNvPr id="26" name="Text 23"/>
          <p:cNvSpPr txBox="1"/>
          <p:nvPr/>
        </p:nvSpPr>
        <p:spPr>
          <a:xfrm>
            <a:off x="841248" y="4261104"/>
            <a:ext cx="6400800" cy="512064"/>
          </a:xfrm>
          <a:prstGeom prst="rect">
            <a:avLst/>
          </a:prstGeom>
          <a:noFill/>
          <a:ln/>
        </p:spPr>
        <p:txBody>
          <a:bodyPr wrap="square" lIns="0" tIns="0" rIns="0" bIns="0" rtlCol="0" anchor="ctr"/>
          <a:lstStyle/>
          <a:p>
            <a:pPr indent="0" marL="0">
              <a:lnSpc>
                <a:spcPct val="120000"/>
              </a:lnSpc>
              <a:buNone/>
            </a:pPr>
            <a:r>
              <a:rPr lang="ko-KR" altLang="en-US" sz="1300" b="1" dirty="0">
                <a:solidFill>
                  <a:schemeClr val="accent4"/>
                </a:solidFill>
              </a:rPr>
              <a:t>① </a:t>
            </a:r>
            <a:pPr indent="0" marL="0">
              <a:lnSpc>
                <a:spcPct val="120000"/>
              </a:lnSpc>
              <a:buNone/>
            </a:pPr>
            <a:r>
              <a:rPr lang="ko-KR" altLang="en-US" sz="1300" dirty="0">
                <a:solidFill>
                  <a:schemeClr val="bg1"/>
                </a:solidFill>
              </a:rPr>
              <a:t>BP_DragDrop에 아이템 정보가 실리지 않아 크기가 0×0</a:t>
            </a:r>
            <a:endParaRPr lang="ko-KR" sz="1300" dirty="0"/>
          </a:p>
        </p:txBody>
      </p:sp>
      <p:sp>
        <p:nvSpPr>
          <p:cNvPr id="27" name="Shape 24"/>
          <p:cNvSpPr/>
          <p:nvPr/>
        </p:nvSpPr>
        <p:spPr>
          <a:xfrm>
            <a:off x="676656" y="4882896"/>
            <a:ext cx="6647688" cy="512064"/>
          </a:xfrm>
          <a:prstGeom prst="rect">
            <a:avLst/>
          </a:prstGeom>
          <a:solidFill>
            <a:schemeClr val="accent6"/>
          </a:solidFill>
          <a:ln/>
        </p:spPr>
      </p:sp>
      <p:sp>
        <p:nvSpPr>
          <p:cNvPr id="28" name="Text 25"/>
          <p:cNvSpPr txBox="1"/>
          <p:nvPr/>
        </p:nvSpPr>
        <p:spPr>
          <a:xfrm>
            <a:off x="841248" y="4882896"/>
            <a:ext cx="6400800" cy="512064"/>
          </a:xfrm>
          <a:prstGeom prst="rect">
            <a:avLst/>
          </a:prstGeom>
          <a:noFill/>
          <a:ln/>
        </p:spPr>
        <p:txBody>
          <a:bodyPr wrap="square" lIns="0" tIns="0" rIns="0" bIns="0" rtlCol="0" anchor="ctr"/>
          <a:lstStyle/>
          <a:p>
            <a:pPr indent="0" marL="0">
              <a:lnSpc>
                <a:spcPct val="120000"/>
              </a:lnSpc>
              <a:buNone/>
            </a:pPr>
            <a:r>
              <a:rPr lang="ko-KR" altLang="en-US" sz="1300" b="1" dirty="0">
                <a:solidFill>
                  <a:schemeClr val="accent4"/>
                </a:solidFill>
              </a:rPr>
              <a:t>② </a:t>
            </a:r>
            <a:pPr indent="0" marL="0">
              <a:lnSpc>
                <a:spcPct val="120000"/>
              </a:lnSpc>
              <a:buNone/>
            </a:pPr>
            <a:r>
              <a:rPr lang="ko-KR" altLang="en-US" sz="1300" dirty="0">
                <a:solidFill>
                  <a:schemeClr val="bg1"/>
                </a:solidFill>
              </a:rPr>
              <a:t>셀 크기 변수가 둘 — 위젯은 64, 좌표 계산은 50</a:t>
            </a:r>
            <a:endParaRPr lang="ko-KR" sz="1300" dirty="0"/>
          </a:p>
        </p:txBody>
      </p:sp>
      <p:sp>
        <p:nvSpPr>
          <p:cNvPr id="29" name="Shape 26"/>
          <p:cNvSpPr/>
          <p:nvPr/>
        </p:nvSpPr>
        <p:spPr>
          <a:xfrm>
            <a:off x="676656" y="5504688"/>
            <a:ext cx="6647688" cy="512064"/>
          </a:xfrm>
          <a:prstGeom prst="rect">
            <a:avLst/>
          </a:prstGeom>
          <a:solidFill>
            <a:schemeClr val="accent6"/>
          </a:solidFill>
          <a:ln/>
        </p:spPr>
      </p:sp>
      <p:sp>
        <p:nvSpPr>
          <p:cNvPr id="30" name="Text 27"/>
          <p:cNvSpPr txBox="1"/>
          <p:nvPr/>
        </p:nvSpPr>
        <p:spPr>
          <a:xfrm>
            <a:off x="841248" y="5504688"/>
            <a:ext cx="6400800" cy="512064"/>
          </a:xfrm>
          <a:prstGeom prst="rect">
            <a:avLst/>
          </a:prstGeom>
          <a:noFill/>
          <a:ln/>
        </p:spPr>
        <p:txBody>
          <a:bodyPr wrap="square" lIns="0" tIns="0" rIns="0" bIns="0" rtlCol="0" anchor="ctr"/>
          <a:lstStyle/>
          <a:p>
            <a:pPr indent="0" marL="0">
              <a:lnSpc>
                <a:spcPct val="120000"/>
              </a:lnSpc>
              <a:buNone/>
            </a:pPr>
            <a:r>
              <a:rPr lang="ko-KR" altLang="en-US" sz="1300" b="1" dirty="0">
                <a:solidFill>
                  <a:schemeClr val="accent4"/>
                </a:solidFill>
              </a:rPr>
              <a:t>③ </a:t>
            </a:r>
            <a:pPr indent="0" marL="0">
              <a:lnSpc>
                <a:spcPct val="120000"/>
              </a:lnSpc>
              <a:buNone/>
            </a:pPr>
            <a:r>
              <a:rPr lang="ko-KR" altLang="en-US" sz="1300" dirty="0">
                <a:solidFill>
                  <a:schemeClr val="bg1"/>
                </a:solidFill>
              </a:rPr>
              <a:t>GridPanel용 2배 좌표를 1배 셀 배열에 그대로 사용</a:t>
            </a:r>
            <a:endParaRPr lang="ko-KR" sz="1300" dirty="0"/>
          </a:p>
        </p:txBody>
      </p:sp>
      <p:sp>
        <p:nvSpPr>
          <p:cNvPr id="31" name="Shape 28"/>
          <p:cNvSpPr/>
          <p:nvPr/>
        </p:nvSpPr>
        <p:spPr>
          <a:xfrm>
            <a:off x="7827264" y="1426464"/>
            <a:ext cx="3813048" cy="4178808"/>
          </a:xfrm>
          <a:prstGeom prst="rect">
            <a:avLst/>
          </a:prstGeom>
          <a:solidFill>
            <a:schemeClr val="tx2"/>
          </a:solidFill>
          <a:ln w="9525">
            <a:solidFill>
              <a:srgbClr val="2A2F36"/>
            </a:solidFill>
            <a:prstDash val="solid"/>
          </a:ln>
        </p:spPr>
      </p:sp>
      <p:pic>
        <p:nvPicPr>
          <p:cNvPr id="32" name="칸 번호 디버그 화면" descr="칸 번호 디버그 화면">    </p:cNvPr>
          <p:cNvPicPr>
            <a:picLocks noChangeAspect="1"/>
          </p:cNvPicPr>
          <p:nvPr/>
        </p:nvPicPr>
        <p:blipFill>
          <a:blip r:embed="rId1"/>
          <a:stretch>
            <a:fillRect/>
          </a:stretch>
        </p:blipFill>
        <p:spPr>
          <a:xfrm>
            <a:off x="7882128" y="1481328"/>
            <a:ext cx="3703320" cy="3758184"/>
          </a:xfrm>
          <a:prstGeom prst="rect">
            <a:avLst/>
          </a:prstGeom>
        </p:spPr>
      </p:pic>
      <p:sp>
        <p:nvSpPr>
          <p:cNvPr id="33" name="Shape 29"/>
          <p:cNvSpPr/>
          <p:nvPr/>
        </p:nvSpPr>
        <p:spPr>
          <a:xfrm>
            <a:off x="7772400" y="1371600"/>
            <a:ext cx="201168" cy="0"/>
          </a:xfrm>
          <a:prstGeom prst="line">
            <a:avLst/>
          </a:prstGeom>
          <a:noFill/>
          <a:ln w="22225">
            <a:solidFill>
              <a:schemeClr val="accent1"/>
            </a:solidFill>
            <a:prstDash val="solid"/>
          </a:ln>
        </p:spPr>
      </p:sp>
      <p:sp>
        <p:nvSpPr>
          <p:cNvPr id="34" name="Shape 30"/>
          <p:cNvSpPr/>
          <p:nvPr/>
        </p:nvSpPr>
        <p:spPr>
          <a:xfrm>
            <a:off x="7772400" y="1371600"/>
            <a:ext cx="0" cy="201168"/>
          </a:xfrm>
          <a:prstGeom prst="line">
            <a:avLst/>
          </a:prstGeom>
          <a:noFill/>
          <a:ln w="22225">
            <a:solidFill>
              <a:schemeClr val="accent1"/>
            </a:solidFill>
            <a:prstDash val="solid"/>
          </a:ln>
        </p:spPr>
      </p:sp>
      <p:sp>
        <p:nvSpPr>
          <p:cNvPr id="35" name="Shape 31"/>
          <p:cNvSpPr/>
          <p:nvPr/>
        </p:nvSpPr>
        <p:spPr>
          <a:xfrm>
            <a:off x="11494008" y="1371600"/>
            <a:ext cx="201168" cy="0"/>
          </a:xfrm>
          <a:prstGeom prst="line">
            <a:avLst/>
          </a:prstGeom>
          <a:noFill/>
          <a:ln w="22225">
            <a:solidFill>
              <a:schemeClr val="accent1"/>
            </a:solidFill>
            <a:prstDash val="solid"/>
          </a:ln>
        </p:spPr>
      </p:sp>
      <p:sp>
        <p:nvSpPr>
          <p:cNvPr id="36" name="Shape 32"/>
          <p:cNvSpPr/>
          <p:nvPr/>
        </p:nvSpPr>
        <p:spPr>
          <a:xfrm>
            <a:off x="11695176" y="1371600"/>
            <a:ext cx="0" cy="201168"/>
          </a:xfrm>
          <a:prstGeom prst="line">
            <a:avLst/>
          </a:prstGeom>
          <a:noFill/>
          <a:ln w="22225">
            <a:solidFill>
              <a:schemeClr val="accent1"/>
            </a:solidFill>
            <a:prstDash val="solid"/>
          </a:ln>
        </p:spPr>
      </p:sp>
      <p:sp>
        <p:nvSpPr>
          <p:cNvPr id="37" name="Shape 33"/>
          <p:cNvSpPr/>
          <p:nvPr/>
        </p:nvSpPr>
        <p:spPr>
          <a:xfrm>
            <a:off x="7772400" y="5660136"/>
            <a:ext cx="201168" cy="0"/>
          </a:xfrm>
          <a:prstGeom prst="line">
            <a:avLst/>
          </a:prstGeom>
          <a:noFill/>
          <a:ln w="22225">
            <a:solidFill>
              <a:schemeClr val="accent1"/>
            </a:solidFill>
            <a:prstDash val="solid"/>
          </a:ln>
        </p:spPr>
      </p:sp>
      <p:sp>
        <p:nvSpPr>
          <p:cNvPr id="38" name="Shape 34"/>
          <p:cNvSpPr/>
          <p:nvPr/>
        </p:nvSpPr>
        <p:spPr>
          <a:xfrm>
            <a:off x="7772400" y="5458968"/>
            <a:ext cx="0" cy="201168"/>
          </a:xfrm>
          <a:prstGeom prst="line">
            <a:avLst/>
          </a:prstGeom>
          <a:noFill/>
          <a:ln w="22225">
            <a:solidFill>
              <a:schemeClr val="accent1"/>
            </a:solidFill>
            <a:prstDash val="solid"/>
          </a:ln>
        </p:spPr>
      </p:sp>
      <p:sp>
        <p:nvSpPr>
          <p:cNvPr id="39" name="Shape 35"/>
          <p:cNvSpPr/>
          <p:nvPr/>
        </p:nvSpPr>
        <p:spPr>
          <a:xfrm>
            <a:off x="11494008" y="5660136"/>
            <a:ext cx="201168" cy="0"/>
          </a:xfrm>
          <a:prstGeom prst="line">
            <a:avLst/>
          </a:prstGeom>
          <a:noFill/>
          <a:ln w="22225">
            <a:solidFill>
              <a:schemeClr val="accent1"/>
            </a:solidFill>
            <a:prstDash val="solid"/>
          </a:ln>
        </p:spPr>
      </p:sp>
      <p:sp>
        <p:nvSpPr>
          <p:cNvPr id="40" name="Shape 36"/>
          <p:cNvSpPr/>
          <p:nvPr/>
        </p:nvSpPr>
        <p:spPr>
          <a:xfrm>
            <a:off x="11695176" y="5458968"/>
            <a:ext cx="0" cy="201168"/>
          </a:xfrm>
          <a:prstGeom prst="line">
            <a:avLst/>
          </a:prstGeom>
          <a:noFill/>
          <a:ln w="22225">
            <a:solidFill>
              <a:schemeClr val="accent1"/>
            </a:solidFill>
            <a:prstDash val="solid"/>
          </a:ln>
        </p:spPr>
      </p:sp>
      <p:sp>
        <p:nvSpPr>
          <p:cNvPr id="41" name="Text 37"/>
          <p:cNvSpPr txBox="1"/>
          <p:nvPr/>
        </p:nvSpPr>
        <p:spPr>
          <a:xfrm>
            <a:off x="7955280" y="5276088"/>
            <a:ext cx="3557016" cy="274320"/>
          </a:xfrm>
          <a:prstGeom prst="rect">
            <a:avLst/>
          </a:prstGeom>
          <a:noFill/>
          <a:ln/>
        </p:spPr>
        <p:txBody>
          <a:bodyPr wrap="square" lIns="0" tIns="0" rIns="0" bIns="0" rtlCol="0" anchor="ctr"/>
          <a:lstStyle/>
          <a:p>
            <a:pPr indent="0" marL="0">
              <a:lnSpc>
                <a:spcPct val="110000"/>
              </a:lnSpc>
              <a:buNone/>
            </a:pPr>
            <a:r>
              <a:rPr lang="ko-KR" altLang="en-US" sz="1100" dirty="0">
                <a:solidFill>
                  <a:schemeClr val="bg2"/>
                </a:solidFill>
              </a:rPr>
              <a:t>칸 번호를 띄워 둔 실제 창고 화면</a:t>
            </a:r>
            <a:endParaRPr lang="ko-KR" sz="11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04 · TROUBLESHOOTING</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좌표 버그 · 해결 과정</a:t>
            </a:r>
            <a:endParaRPr lang="en-US" sz="2800" dirty="0"/>
          </a:p>
        </p:txBody>
      </p:sp>
      <p:sp>
        <p:nvSpPr>
          <p:cNvPr id="5" name="Shape 2"/>
          <p:cNvSpPr/>
          <p:nvPr/>
        </p:nvSpPr>
        <p:spPr>
          <a:xfrm>
            <a:off x="457200" y="1417320"/>
            <a:ext cx="6492240" cy="1627632"/>
          </a:xfrm>
          <a:prstGeom prst="rect">
            <a:avLst/>
          </a:prstGeom>
          <a:solidFill>
            <a:srgbClr val="0A0C0E"/>
          </a:solidFill>
          <a:ln w="9525">
            <a:solidFill>
              <a:srgbClr val="2A2F36"/>
            </a:solidFill>
            <a:prstDash val="solid"/>
          </a:ln>
        </p:spPr>
      </p:sp>
      <p:sp>
        <p:nvSpPr>
          <p:cNvPr id="6" name="Text 3"/>
          <p:cNvSpPr txBox="1"/>
          <p:nvPr/>
        </p:nvSpPr>
        <p:spPr>
          <a:xfrm>
            <a:off x="640080" y="1572768"/>
            <a:ext cx="6126480" cy="256032"/>
          </a:xfrm>
          <a:prstGeom prst="rect">
            <a:avLst/>
          </a:prstGeom>
          <a:noFill/>
          <a:ln/>
        </p:spPr>
        <p:txBody>
          <a:bodyPr wrap="square" lIns="0" tIns="0" rIns="0" bIns="0" rtlCol="0" anchor="t"/>
          <a:lstStyle/>
          <a:p>
            <a:pPr indent="0" marL="0">
              <a:lnSpc>
                <a:spcPct val="120000"/>
              </a:lnSpc>
              <a:buNone/>
            </a:pPr>
            <a:r>
              <a:rPr lang="ko-KR" altLang="en-US" sz="1200" b="1" dirty="0">
                <a:solidFill>
                  <a:schemeClr val="accent4"/>
                </a:solidFill>
              </a:rPr>
              <a:t>수정 전 · 5c83059 (9/29 01:20)</a:t>
            </a:r>
            <a:endParaRPr lang="ko-KR" sz="1200" dirty="0"/>
          </a:p>
        </p:txBody>
      </p:sp>
      <p:sp>
        <p:nvSpPr>
          <p:cNvPr id="7" name="Text 4"/>
          <p:cNvSpPr txBox="1"/>
          <p:nvPr/>
        </p:nvSpPr>
        <p:spPr>
          <a:xfrm>
            <a:off x="640080" y="1938528"/>
            <a:ext cx="6217920" cy="996696"/>
          </a:xfrm>
          <a:prstGeom prst="rect">
            <a:avLst/>
          </a:prstGeom>
          <a:noFill/>
          <a:ln/>
        </p:spPr>
        <p:txBody>
          <a:bodyPr wrap="square" lIns="0" tIns="0" rIns="0" bIns="0" rtlCol="0" anchor="t"/>
          <a:lstStyle/>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CreateDragDropOperation(BP_DragDrop, Visual)</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아이템 정보 없음</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Size  = Op.NewVar.(W, H) * 2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 0 × 0</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Start = ((Mouse - (W-1)*50) / (2*50)) * 2 + …</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Cells[Getincludeindex(…)].SetColor()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셀은 64px</a:t>
            </a:r>
            <a:endParaRPr lang="ko-KR" sz="1100" dirty="0"/>
          </a:p>
        </p:txBody>
      </p:sp>
      <p:sp>
        <p:nvSpPr>
          <p:cNvPr id="8" name="Shape 5"/>
          <p:cNvSpPr/>
          <p:nvPr/>
        </p:nvSpPr>
        <p:spPr>
          <a:xfrm>
            <a:off x="457200" y="3182112"/>
            <a:ext cx="6492240" cy="1627632"/>
          </a:xfrm>
          <a:prstGeom prst="rect">
            <a:avLst/>
          </a:prstGeom>
          <a:solidFill>
            <a:srgbClr val="0A0C0E"/>
          </a:solidFill>
          <a:ln w="9525">
            <a:solidFill>
              <a:srgbClr val="2A2F36"/>
            </a:solidFill>
            <a:prstDash val="solid"/>
          </a:ln>
        </p:spPr>
      </p:sp>
      <p:sp>
        <p:nvSpPr>
          <p:cNvPr id="9" name="Text 6"/>
          <p:cNvSpPr txBox="1"/>
          <p:nvPr/>
        </p:nvSpPr>
        <p:spPr>
          <a:xfrm>
            <a:off x="640080" y="3337560"/>
            <a:ext cx="6126480" cy="256032"/>
          </a:xfrm>
          <a:prstGeom prst="rect">
            <a:avLst/>
          </a:prstGeom>
          <a:noFill/>
          <a:ln/>
        </p:spPr>
        <p:txBody>
          <a:bodyPr wrap="square" lIns="0" tIns="0" rIns="0" bIns="0" rtlCol="0" anchor="t"/>
          <a:lstStyle/>
          <a:p>
            <a:pPr indent="0" marL="0">
              <a:lnSpc>
                <a:spcPct val="120000"/>
              </a:lnSpc>
              <a:buNone/>
            </a:pPr>
            <a:r>
              <a:rPr lang="ko-KR" altLang="en-US" sz="1200" b="1" dirty="0">
                <a:solidFill>
                  <a:schemeClr val="accent3"/>
                </a:solidFill>
              </a:rPr>
              <a:t>수정 후 · ab3fcc0 → c708cb0 (9/29 ~ 9/30)</a:t>
            </a:r>
            <a:endParaRPr lang="ko-KR" sz="1200" dirty="0"/>
          </a:p>
        </p:txBody>
      </p:sp>
      <p:sp>
        <p:nvSpPr>
          <p:cNvPr id="10" name="Text 7"/>
          <p:cNvSpPr txBox="1"/>
          <p:nvPr/>
        </p:nvSpPr>
        <p:spPr>
          <a:xfrm>
            <a:off x="640080" y="3703320"/>
            <a:ext cx="6217920" cy="996696"/>
          </a:xfrm>
          <a:prstGeom prst="rect">
            <a:avLst/>
          </a:prstGeom>
          <a:noFill/>
          <a:ln/>
        </p:spPr>
        <p:txBody>
          <a:bodyPr wrap="square" lIns="0" tIns="0" rIns="0" bIns="0" rtlCol="0" anchor="t"/>
          <a:lstStyle/>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CreateDragDropOperation(BP_DragDrop, Visual,</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    ItemInstance, NewVar = ItemDef, ItemSlot = self)</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Cell  = GetUISetting().CellSize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64, 한 곳</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Pos   = Clamp(Mouse - Size*Cell/2, 0, (Grid-Size)*Cell)</a:t>
            </a:r>
            <a:endParaRPr lang="ko-KR" sz="1100" dirty="0"/>
          </a:p>
          <a:p>
            <a:pPr indent="0" marL="0">
              <a:lnSpc>
                <a:spcPct val="112000"/>
              </a:lnSpc>
              <a:buNone/>
            </a:pPr>
            <a:r>
              <a:rPr lang="ko-KR" altLang="en-US" sz="1100" dirty="0">
                <a:solidFill>
                  <a:srgbClr val="D5DDE7"/>
                </a:solidFill>
                <a:latin typeface="Consolas" pitchFamily="34" charset="0"/>
                <a:ea typeface="Consolas" pitchFamily="34" charset="-122"/>
                <a:cs typeface="Consolas" pitchFamily="34" charset="-120"/>
              </a:rPr>
              <a:t>Index = Pos.X/Cell + (Pos.Y/Cell) * Grid.X   </a:t>
            </a:r>
            <a:pPr indent="0" marL="0">
              <a:lnSpc>
                <a:spcPct val="112000"/>
              </a:lnSpc>
              <a:buNone/>
            </a:pPr>
            <a:r>
              <a:rPr lang="ko-KR" altLang="en-US" sz="1100" dirty="0">
                <a:solidFill>
                  <a:srgbClr val="8592A3"/>
                </a:solidFill>
                <a:latin typeface="Consolas" pitchFamily="34" charset="0"/>
                <a:ea typeface="Consolas" pitchFamily="34" charset="-122"/>
                <a:cs typeface="Consolas" pitchFamily="34" charset="-120"/>
              </a:rPr>
              <a:t>// 1배</a:t>
            </a:r>
            <a:endParaRPr lang="ko-KR" sz="1100" dirty="0"/>
          </a:p>
        </p:txBody>
      </p:sp>
      <p:sp>
        <p:nvSpPr>
          <p:cNvPr id="11" name="Shape 8"/>
          <p:cNvSpPr/>
          <p:nvPr/>
        </p:nvSpPr>
        <p:spPr>
          <a:xfrm>
            <a:off x="7159752" y="1417320"/>
            <a:ext cx="4572000" cy="3392424"/>
          </a:xfrm>
          <a:prstGeom prst="rect">
            <a:avLst/>
          </a:prstGeom>
          <a:solidFill>
            <a:schemeClr val="tx2"/>
          </a:solidFill>
          <a:ln w="9525">
            <a:solidFill>
              <a:srgbClr val="2A2F36"/>
            </a:solidFill>
            <a:prstDash val="solid"/>
          </a:ln>
        </p:spPr>
      </p:sp>
      <p:sp>
        <p:nvSpPr>
          <p:cNvPr id="12" name="Shape 9"/>
          <p:cNvSpPr/>
          <p:nvPr/>
        </p:nvSpPr>
        <p:spPr>
          <a:xfrm>
            <a:off x="7159752" y="1417320"/>
            <a:ext cx="182880" cy="0"/>
          </a:xfrm>
          <a:prstGeom prst="line">
            <a:avLst/>
          </a:prstGeom>
          <a:noFill/>
          <a:ln w="22225">
            <a:solidFill>
              <a:schemeClr val="accent1"/>
            </a:solidFill>
            <a:prstDash val="solid"/>
          </a:ln>
        </p:spPr>
      </p:sp>
      <p:sp>
        <p:nvSpPr>
          <p:cNvPr id="13" name="Shape 10"/>
          <p:cNvSpPr/>
          <p:nvPr/>
        </p:nvSpPr>
        <p:spPr>
          <a:xfrm>
            <a:off x="7159752" y="1417320"/>
            <a:ext cx="0" cy="182880"/>
          </a:xfrm>
          <a:prstGeom prst="line">
            <a:avLst/>
          </a:prstGeom>
          <a:noFill/>
          <a:ln w="22225">
            <a:solidFill>
              <a:schemeClr val="accent1"/>
            </a:solidFill>
            <a:prstDash val="solid"/>
          </a:ln>
        </p:spPr>
      </p:sp>
      <p:sp>
        <p:nvSpPr>
          <p:cNvPr id="14" name="Shape 11"/>
          <p:cNvSpPr/>
          <p:nvPr/>
        </p:nvSpPr>
        <p:spPr>
          <a:xfrm>
            <a:off x="11548872" y="4809744"/>
            <a:ext cx="182880" cy="0"/>
          </a:xfrm>
          <a:prstGeom prst="line">
            <a:avLst/>
          </a:prstGeom>
          <a:noFill/>
          <a:ln w="22225">
            <a:solidFill>
              <a:schemeClr val="accent1"/>
            </a:solidFill>
            <a:prstDash val="solid"/>
          </a:ln>
        </p:spPr>
      </p:sp>
      <p:sp>
        <p:nvSpPr>
          <p:cNvPr id="15" name="Shape 12"/>
          <p:cNvSpPr/>
          <p:nvPr/>
        </p:nvSpPr>
        <p:spPr>
          <a:xfrm>
            <a:off x="11731752" y="4626864"/>
            <a:ext cx="0" cy="182880"/>
          </a:xfrm>
          <a:prstGeom prst="line">
            <a:avLst/>
          </a:prstGeom>
          <a:noFill/>
          <a:ln w="22225">
            <a:solidFill>
              <a:schemeClr val="accent1"/>
            </a:solidFill>
            <a:prstDash val="solid"/>
          </a:ln>
        </p:spPr>
      </p:sp>
      <p:sp>
        <p:nvSpPr>
          <p:cNvPr id="16" name="Text 13"/>
          <p:cNvSpPr txBox="1"/>
          <p:nvPr/>
        </p:nvSpPr>
        <p:spPr>
          <a:xfrm>
            <a:off x="7379208" y="1572768"/>
            <a:ext cx="413308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바꾼 것</a:t>
            </a:r>
            <a:endParaRPr lang="ko-KR" sz="1450" dirty="0"/>
          </a:p>
        </p:txBody>
      </p:sp>
      <p:sp>
        <p:nvSpPr>
          <p:cNvPr id="17" name="Shape 14"/>
          <p:cNvSpPr/>
          <p:nvPr/>
        </p:nvSpPr>
        <p:spPr>
          <a:xfrm>
            <a:off x="7379208" y="2011680"/>
            <a:ext cx="4133088" cy="731520"/>
          </a:xfrm>
          <a:prstGeom prst="rect">
            <a:avLst/>
          </a:prstGeom>
          <a:solidFill>
            <a:schemeClr val="accent6"/>
          </a:solidFill>
          <a:ln/>
        </p:spPr>
      </p:sp>
      <p:sp>
        <p:nvSpPr>
          <p:cNvPr id="18" name="Text 15"/>
          <p:cNvSpPr txBox="1"/>
          <p:nvPr/>
        </p:nvSpPr>
        <p:spPr>
          <a:xfrm>
            <a:off x="7543800" y="2011680"/>
            <a:ext cx="3886200" cy="731520"/>
          </a:xfrm>
          <a:prstGeom prst="rect">
            <a:avLst/>
          </a:prstGeom>
          <a:noFill/>
          <a:ln/>
        </p:spPr>
        <p:txBody>
          <a:bodyPr wrap="square" lIns="0" tIns="0" rIns="0" bIns="0" rtlCol="0" anchor="ctr"/>
          <a:lstStyle/>
          <a:p>
            <a:pPr indent="0" marL="0">
              <a:lnSpc>
                <a:spcPct val="120000"/>
              </a:lnSpc>
              <a:buNone/>
            </a:pPr>
            <a:r>
              <a:rPr lang="ko-KR" altLang="en-US" sz="1250" b="1" dirty="0">
                <a:solidFill>
                  <a:schemeClr val="accent3"/>
                </a:solidFill>
              </a:rPr>
              <a:t>①  </a:t>
            </a:r>
            <a:pPr indent="0" marL="0">
              <a:lnSpc>
                <a:spcPct val="120000"/>
              </a:lnSpc>
              <a:buNone/>
            </a:pPr>
            <a:r>
              <a:rPr lang="ko-KR" altLang="en-US" sz="1250" dirty="0">
                <a:solidFill>
                  <a:schemeClr val="bg1"/>
                </a:solidFill>
              </a:rPr>
              <a:t>드래그 시작 시 아이템 정보 · 원래 슬롯을 함께 전달</a:t>
            </a:r>
            <a:endParaRPr lang="ko-KR" sz="1250" dirty="0"/>
          </a:p>
        </p:txBody>
      </p:sp>
      <p:sp>
        <p:nvSpPr>
          <p:cNvPr id="19" name="Shape 16"/>
          <p:cNvSpPr/>
          <p:nvPr/>
        </p:nvSpPr>
        <p:spPr>
          <a:xfrm>
            <a:off x="7379208" y="2880360"/>
            <a:ext cx="4133088" cy="731520"/>
          </a:xfrm>
          <a:prstGeom prst="rect">
            <a:avLst/>
          </a:prstGeom>
          <a:solidFill>
            <a:schemeClr val="accent6"/>
          </a:solidFill>
          <a:ln/>
        </p:spPr>
      </p:sp>
      <p:sp>
        <p:nvSpPr>
          <p:cNvPr id="20" name="Text 17"/>
          <p:cNvSpPr txBox="1"/>
          <p:nvPr/>
        </p:nvSpPr>
        <p:spPr>
          <a:xfrm>
            <a:off x="7543800" y="2880360"/>
            <a:ext cx="3886200" cy="731520"/>
          </a:xfrm>
          <a:prstGeom prst="rect">
            <a:avLst/>
          </a:prstGeom>
          <a:noFill/>
          <a:ln/>
        </p:spPr>
        <p:txBody>
          <a:bodyPr wrap="square" lIns="0" tIns="0" rIns="0" bIns="0" rtlCol="0" anchor="ctr"/>
          <a:lstStyle/>
          <a:p>
            <a:pPr indent="0" marL="0">
              <a:lnSpc>
                <a:spcPct val="120000"/>
              </a:lnSpc>
              <a:buNone/>
            </a:pPr>
            <a:r>
              <a:rPr lang="ko-KR" altLang="en-US" sz="1250" b="1" dirty="0">
                <a:solidFill>
                  <a:schemeClr val="accent3"/>
                </a:solidFill>
              </a:rPr>
              <a:t>②  </a:t>
            </a:r>
            <a:pPr indent="0" marL="0">
              <a:lnSpc>
                <a:spcPct val="120000"/>
              </a:lnSpc>
              <a:buNone/>
            </a:pPr>
            <a:r>
              <a:rPr lang="ko-KR" altLang="en-US" sz="1250" dirty="0">
                <a:solidFill>
                  <a:schemeClr val="bg1"/>
                </a:solidFill>
              </a:rPr>
              <a:t>셀 크기는 GetUISetting() 하나로만 읽기</a:t>
            </a:r>
            <a:endParaRPr lang="ko-KR" sz="1250" dirty="0"/>
          </a:p>
        </p:txBody>
      </p:sp>
      <p:sp>
        <p:nvSpPr>
          <p:cNvPr id="21" name="Shape 18"/>
          <p:cNvSpPr/>
          <p:nvPr/>
        </p:nvSpPr>
        <p:spPr>
          <a:xfrm>
            <a:off x="7379208" y="3749040"/>
            <a:ext cx="4133088" cy="731520"/>
          </a:xfrm>
          <a:prstGeom prst="rect">
            <a:avLst/>
          </a:prstGeom>
          <a:solidFill>
            <a:schemeClr val="accent6"/>
          </a:solidFill>
          <a:ln/>
        </p:spPr>
      </p:sp>
      <p:sp>
        <p:nvSpPr>
          <p:cNvPr id="22" name="Text 19"/>
          <p:cNvSpPr txBox="1"/>
          <p:nvPr/>
        </p:nvSpPr>
        <p:spPr>
          <a:xfrm>
            <a:off x="7543800" y="3749040"/>
            <a:ext cx="3886200" cy="731520"/>
          </a:xfrm>
          <a:prstGeom prst="rect">
            <a:avLst/>
          </a:prstGeom>
          <a:noFill/>
          <a:ln/>
        </p:spPr>
        <p:txBody>
          <a:bodyPr wrap="square" lIns="0" tIns="0" rIns="0" bIns="0" rtlCol="0" anchor="ctr"/>
          <a:lstStyle/>
          <a:p>
            <a:pPr indent="0" marL="0">
              <a:lnSpc>
                <a:spcPct val="120000"/>
              </a:lnSpc>
              <a:buNone/>
            </a:pPr>
            <a:r>
              <a:rPr lang="ko-KR" altLang="en-US" sz="1250" b="1" dirty="0">
                <a:solidFill>
                  <a:schemeClr val="accent3"/>
                </a:solidFill>
              </a:rPr>
              <a:t>③  </a:t>
            </a:r>
            <a:pPr indent="0" marL="0">
              <a:lnSpc>
                <a:spcPct val="120000"/>
              </a:lnSpc>
              <a:buNone/>
            </a:pPr>
            <a:r>
              <a:rPr lang="ko-KR" altLang="en-US" sz="1250" dirty="0">
                <a:solidFill>
                  <a:schemeClr val="bg1"/>
                </a:solidFill>
              </a:rPr>
              <a:t>범위 제한 후 셀 크기로 나눠 1배 칸 번호 계산</a:t>
            </a:r>
            <a:endParaRPr lang="ko-KR" sz="1250" dirty="0"/>
          </a:p>
        </p:txBody>
      </p:sp>
      <p:sp>
        <p:nvSpPr>
          <p:cNvPr id="23" name="Shape 20"/>
          <p:cNvSpPr/>
          <p:nvPr/>
        </p:nvSpPr>
        <p:spPr>
          <a:xfrm>
            <a:off x="457200" y="4983480"/>
            <a:ext cx="11274552" cy="1280160"/>
          </a:xfrm>
          <a:prstGeom prst="rect">
            <a:avLst/>
          </a:prstGeom>
          <a:solidFill>
            <a:schemeClr val="tx2"/>
          </a:solidFill>
          <a:ln w="9525">
            <a:solidFill>
              <a:srgbClr val="2A2F36"/>
            </a:solidFill>
            <a:prstDash val="solid"/>
          </a:ln>
        </p:spPr>
      </p:sp>
      <p:sp>
        <p:nvSpPr>
          <p:cNvPr id="24" name="Shape 21"/>
          <p:cNvSpPr/>
          <p:nvPr/>
        </p:nvSpPr>
        <p:spPr>
          <a:xfrm>
            <a:off x="457200" y="4983480"/>
            <a:ext cx="182880" cy="0"/>
          </a:xfrm>
          <a:prstGeom prst="line">
            <a:avLst/>
          </a:prstGeom>
          <a:noFill/>
          <a:ln w="22225">
            <a:solidFill>
              <a:schemeClr val="accent1"/>
            </a:solidFill>
            <a:prstDash val="solid"/>
          </a:ln>
        </p:spPr>
      </p:sp>
      <p:sp>
        <p:nvSpPr>
          <p:cNvPr id="25" name="Shape 22"/>
          <p:cNvSpPr/>
          <p:nvPr/>
        </p:nvSpPr>
        <p:spPr>
          <a:xfrm>
            <a:off x="457200" y="4983480"/>
            <a:ext cx="0" cy="182880"/>
          </a:xfrm>
          <a:prstGeom prst="line">
            <a:avLst/>
          </a:prstGeom>
          <a:noFill/>
          <a:ln w="22225">
            <a:solidFill>
              <a:schemeClr val="accent1"/>
            </a:solidFill>
            <a:prstDash val="solid"/>
          </a:ln>
        </p:spPr>
      </p:sp>
      <p:sp>
        <p:nvSpPr>
          <p:cNvPr id="26" name="Shape 23"/>
          <p:cNvSpPr/>
          <p:nvPr/>
        </p:nvSpPr>
        <p:spPr>
          <a:xfrm>
            <a:off x="11548872" y="6263640"/>
            <a:ext cx="182880" cy="0"/>
          </a:xfrm>
          <a:prstGeom prst="line">
            <a:avLst/>
          </a:prstGeom>
          <a:noFill/>
          <a:ln w="22225">
            <a:solidFill>
              <a:schemeClr val="accent1"/>
            </a:solidFill>
            <a:prstDash val="solid"/>
          </a:ln>
        </p:spPr>
      </p:sp>
      <p:sp>
        <p:nvSpPr>
          <p:cNvPr id="27" name="Shape 24"/>
          <p:cNvSpPr/>
          <p:nvPr/>
        </p:nvSpPr>
        <p:spPr>
          <a:xfrm>
            <a:off x="11731752" y="6080760"/>
            <a:ext cx="0" cy="182880"/>
          </a:xfrm>
          <a:prstGeom prst="line">
            <a:avLst/>
          </a:prstGeom>
          <a:noFill/>
          <a:ln w="22225">
            <a:solidFill>
              <a:schemeClr val="accent1"/>
            </a:solidFill>
            <a:prstDash val="solid"/>
          </a:ln>
        </p:spPr>
      </p:sp>
      <p:sp>
        <p:nvSpPr>
          <p:cNvPr id="28" name="Text 25"/>
          <p:cNvSpPr txBox="1"/>
          <p:nvPr/>
        </p:nvSpPr>
        <p:spPr>
          <a:xfrm>
            <a:off x="676656" y="5138928"/>
            <a:ext cx="10835640"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검증</a:t>
            </a:r>
            <a:endParaRPr lang="ko-KR" sz="1450" dirty="0"/>
          </a:p>
        </p:txBody>
      </p:sp>
      <p:sp>
        <p:nvSpPr>
          <p:cNvPr id="29" name="Text 26"/>
          <p:cNvSpPr txBox="1"/>
          <p:nvPr/>
        </p:nvSpPr>
        <p:spPr>
          <a:xfrm>
            <a:off x="676656" y="5513832"/>
            <a:ext cx="8138160" cy="612648"/>
          </a:xfrm>
          <a:prstGeom prst="rect">
            <a:avLst/>
          </a:prstGeom>
          <a:noFill/>
          <a:ln/>
        </p:spPr>
        <p:txBody>
          <a:bodyPr wrap="square" lIns="0" tIns="0" rIns="0" bIns="0" rtlCol="0" anchor="t"/>
          <a:lstStyle/>
          <a:p>
            <a:pPr indent="0" marL="0">
              <a:lnSpc>
                <a:spcPct val="130000"/>
              </a:lnSpc>
              <a:buNone/>
            </a:pPr>
            <a:r>
              <a:rPr lang="ko-KR" altLang="en-US" sz="1200" dirty="0">
                <a:solidFill>
                  <a:schemeClr val="bg2"/>
                </a:solidFill>
              </a:rPr>
              <a:t>디버그 칸 번호 = 계산된 칸 번호인지 확인 → 그 칸에 크기대로 놓이는지 확인. 오른쪽: 고친 뒤 헬멧이 제자리에 놓인 화면.</a:t>
            </a:r>
            <a:endParaRPr lang="ko-KR" sz="1200" dirty="0"/>
          </a:p>
        </p:txBody>
      </p:sp>
      <p:pic>
        <p:nvPicPr>
          <p:cNvPr id="30" name="헬멧 배치 검증 화면" descr="/tmp/claude-0/-home-claude-extractiongame-fin/818058c5-96e2-5afe-aef3-e35b23d32e50/scratchpad/pptx/assets/crop_stash_low.png">    </p:cNvPr>
          <p:cNvPicPr>
            <a:picLocks noChangeAspect="1"/>
          </p:cNvPicPr>
          <p:nvPr/>
        </p:nvPicPr>
        <p:blipFill>
          <a:blip r:embed="rId1"/>
          <a:stretch>
            <a:fillRect/>
          </a:stretch>
        </p:blipFill>
        <p:spPr>
          <a:xfrm>
            <a:off x="9366049" y="5111496"/>
            <a:ext cx="2201111" cy="1024128"/>
          </a:xfrm>
          <a:prstGeom prst="rect">
            <a:avLst/>
          </a:prstGeom>
        </p:spPr>
      </p:pic>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04 · REFACTORING</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아이템 데이터 구조 개선</a:t>
            </a:r>
            <a:endParaRPr lang="en-US" sz="2800" dirty="0"/>
          </a:p>
        </p:txBody>
      </p:sp>
      <p:sp>
        <p:nvSpPr>
          <p:cNvPr id="5" name="Text 2"/>
          <p:cNvSpPr txBox="1"/>
          <p:nvPr/>
        </p:nvSpPr>
        <p:spPr>
          <a:xfrm>
            <a:off x="457200" y="1188720"/>
            <a:ext cx="10789920" cy="274320"/>
          </a:xfrm>
          <a:prstGeom prst="rect">
            <a:avLst/>
          </a:prstGeom>
          <a:noFill/>
          <a:ln/>
        </p:spPr>
        <p:txBody>
          <a:bodyPr wrap="square" lIns="0" tIns="0" rIns="0" bIns="0" rtlCol="0" anchor="t"/>
          <a:lstStyle/>
          <a:p>
            <a:pPr indent="0" marL="0">
              <a:lnSpc>
                <a:spcPct val="120000"/>
              </a:lnSpc>
              <a:buNone/>
            </a:pPr>
            <a:r>
              <a:rPr lang="ko-KR" altLang="en-US" sz="1300" dirty="0">
                <a:solidFill>
                  <a:schemeClr val="bg2"/>
                </a:solidFill>
              </a:rPr>
              <a:t>목표: 아이템 514종을 넣기 전에, 공통 정의와 타입별 데이터 · 배치 상태를 나눈다</a:t>
            </a:r>
            <a:endParaRPr lang="ko-KR" sz="1300" dirty="0"/>
          </a:p>
        </p:txBody>
      </p:sp>
      <p:sp>
        <p:nvSpPr>
          <p:cNvPr id="6" name="Shape 3"/>
          <p:cNvSpPr/>
          <p:nvPr/>
        </p:nvSpPr>
        <p:spPr>
          <a:xfrm>
            <a:off x="457200" y="1783080"/>
            <a:ext cx="5074920" cy="3063240"/>
          </a:xfrm>
          <a:prstGeom prst="rect">
            <a:avLst/>
          </a:prstGeom>
          <a:solidFill>
            <a:schemeClr val="tx2"/>
          </a:solidFill>
          <a:ln w="9525">
            <a:solidFill>
              <a:srgbClr val="2A2F36"/>
            </a:solidFill>
            <a:prstDash val="solid"/>
          </a:ln>
        </p:spPr>
      </p:sp>
      <p:sp>
        <p:nvSpPr>
          <p:cNvPr id="7" name="Shape 4"/>
          <p:cNvSpPr/>
          <p:nvPr/>
        </p:nvSpPr>
        <p:spPr>
          <a:xfrm>
            <a:off x="457200" y="1783080"/>
            <a:ext cx="182880" cy="0"/>
          </a:xfrm>
          <a:prstGeom prst="line">
            <a:avLst/>
          </a:prstGeom>
          <a:noFill/>
          <a:ln w="22225">
            <a:solidFill>
              <a:srgbClr val="5C6670"/>
            </a:solidFill>
            <a:prstDash val="solid"/>
          </a:ln>
        </p:spPr>
      </p:sp>
      <p:sp>
        <p:nvSpPr>
          <p:cNvPr id="8" name="Shape 5"/>
          <p:cNvSpPr/>
          <p:nvPr/>
        </p:nvSpPr>
        <p:spPr>
          <a:xfrm>
            <a:off x="457200" y="1783080"/>
            <a:ext cx="0" cy="182880"/>
          </a:xfrm>
          <a:prstGeom prst="line">
            <a:avLst/>
          </a:prstGeom>
          <a:noFill/>
          <a:ln w="22225">
            <a:solidFill>
              <a:srgbClr val="5C6670"/>
            </a:solidFill>
            <a:prstDash val="solid"/>
          </a:ln>
        </p:spPr>
      </p:sp>
      <p:sp>
        <p:nvSpPr>
          <p:cNvPr id="9" name="Shape 6"/>
          <p:cNvSpPr/>
          <p:nvPr/>
        </p:nvSpPr>
        <p:spPr>
          <a:xfrm>
            <a:off x="5349240" y="4846320"/>
            <a:ext cx="182880" cy="0"/>
          </a:xfrm>
          <a:prstGeom prst="line">
            <a:avLst/>
          </a:prstGeom>
          <a:noFill/>
          <a:ln w="22225">
            <a:solidFill>
              <a:srgbClr val="5C6670"/>
            </a:solidFill>
            <a:prstDash val="solid"/>
          </a:ln>
        </p:spPr>
      </p:sp>
      <p:sp>
        <p:nvSpPr>
          <p:cNvPr id="10" name="Shape 7"/>
          <p:cNvSpPr/>
          <p:nvPr/>
        </p:nvSpPr>
        <p:spPr>
          <a:xfrm>
            <a:off x="5532120" y="4663440"/>
            <a:ext cx="0" cy="182880"/>
          </a:xfrm>
          <a:prstGeom prst="line">
            <a:avLst/>
          </a:prstGeom>
          <a:noFill/>
          <a:ln w="22225">
            <a:solidFill>
              <a:srgbClr val="5C6670"/>
            </a:solidFill>
            <a:prstDash val="solid"/>
          </a:ln>
        </p:spPr>
      </p:sp>
      <p:sp>
        <p:nvSpPr>
          <p:cNvPr id="11" name="Text 8"/>
          <p:cNvSpPr txBox="1"/>
          <p:nvPr/>
        </p:nvSpPr>
        <p:spPr>
          <a:xfrm>
            <a:off x="676656" y="1938528"/>
            <a:ext cx="463600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1차 구조</a:t>
            </a:r>
            <a:pPr indent="0" marL="0">
              <a:lnSpc>
                <a:spcPct val="120000"/>
              </a:lnSpc>
              <a:buNone/>
            </a:pPr>
            <a:r>
              <a:rPr lang="ko-KR" altLang="en-US" sz="1450" dirty="0">
                <a:solidFill>
                  <a:schemeClr val="accent5"/>
                </a:solidFill>
              </a:rPr>
              <a:t>  · ~9/30</a:t>
            </a:r>
            <a:endParaRPr lang="ko-KR" sz="1450" dirty="0"/>
          </a:p>
        </p:txBody>
      </p:sp>
      <p:sp>
        <p:nvSpPr>
          <p:cNvPr id="12" name="Text 9"/>
          <p:cNvSpPr txBox="1"/>
          <p:nvPr/>
        </p:nvSpPr>
        <p:spPr>
          <a:xfrm>
            <a:off x="676656" y="2423160"/>
            <a:ext cx="4636008" cy="228600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ko-KR" altLang="en-US" sz="1300" dirty="0">
                <a:solidFill>
                  <a:schemeClr val="bg2"/>
                </a:solidFill>
              </a:rPr>
              <a:t>공통 구조체 하나(ST_ItemDefinitionRow)에 모든 필드</a:t>
            </a:r>
            <a:endParaRPr lang="ko-KR" sz="1300" dirty="0"/>
          </a:p>
          <a:p>
            <a:pPr marL="177800" indent="-177800">
              <a:lnSpc>
                <a:spcPct val="120000"/>
              </a:lnSpc>
              <a:spcAft>
                <a:spcPts val="1000"/>
              </a:spcAft>
              <a:buSzPct val="100000"/>
              <a:buChar char="•"/>
            </a:pPr>
            <a:r>
              <a:rPr lang="ko-KR" altLang="en-US" sz="1300" dirty="0">
                <a:solidFill>
                  <a:schemeClr val="bg2"/>
                </a:solidFill>
              </a:rPr>
              <a:t>방어구 · 무기 고유 데이터를 둘 자리가 없음</a:t>
            </a:r>
            <a:endParaRPr lang="ko-KR" sz="1300" dirty="0"/>
          </a:p>
          <a:p>
            <a:pPr marL="177800" indent="-177800">
              <a:lnSpc>
                <a:spcPct val="120000"/>
              </a:lnSpc>
              <a:spcAft>
                <a:spcPts val="1000"/>
              </a:spcAft>
              <a:buSzPct val="100000"/>
              <a:buChar char="•"/>
            </a:pPr>
            <a:r>
              <a:rPr lang="ko-KR" altLang="en-US" sz="1300" dirty="0">
                <a:solidFill>
                  <a:schemeClr val="bg2"/>
                </a:solidFill>
              </a:rPr>
              <a:t>구조체가 폴더마다 흩어짐</a:t>
            </a:r>
            <a:endParaRPr lang="ko-KR" sz="1300" dirty="0"/>
          </a:p>
        </p:txBody>
      </p:sp>
      <p:sp>
        <p:nvSpPr>
          <p:cNvPr id="13" name="Shape 10"/>
          <p:cNvSpPr/>
          <p:nvPr/>
        </p:nvSpPr>
        <p:spPr>
          <a:xfrm>
            <a:off x="5650992" y="3127248"/>
            <a:ext cx="457200" cy="384048"/>
          </a:xfrm>
          <a:prstGeom prst="rightArrow">
            <a:avLst/>
          </a:prstGeom>
          <a:solidFill>
            <a:schemeClr val="accent1"/>
          </a:solidFill>
          <a:ln/>
        </p:spPr>
      </p:sp>
      <p:sp>
        <p:nvSpPr>
          <p:cNvPr id="14" name="Shape 11"/>
          <p:cNvSpPr/>
          <p:nvPr/>
        </p:nvSpPr>
        <p:spPr>
          <a:xfrm>
            <a:off x="6245352" y="1783080"/>
            <a:ext cx="5486400" cy="3063240"/>
          </a:xfrm>
          <a:prstGeom prst="rect">
            <a:avLst/>
          </a:prstGeom>
          <a:solidFill>
            <a:schemeClr val="tx2"/>
          </a:solidFill>
          <a:ln w="9525">
            <a:solidFill>
              <a:srgbClr val="2A2F36"/>
            </a:solidFill>
            <a:prstDash val="solid"/>
          </a:ln>
        </p:spPr>
      </p:sp>
      <p:sp>
        <p:nvSpPr>
          <p:cNvPr id="15" name="Shape 12"/>
          <p:cNvSpPr/>
          <p:nvPr/>
        </p:nvSpPr>
        <p:spPr>
          <a:xfrm>
            <a:off x="6245352" y="1783080"/>
            <a:ext cx="182880" cy="0"/>
          </a:xfrm>
          <a:prstGeom prst="line">
            <a:avLst/>
          </a:prstGeom>
          <a:noFill/>
          <a:ln w="22225">
            <a:solidFill>
              <a:schemeClr val="accent1"/>
            </a:solidFill>
            <a:prstDash val="solid"/>
          </a:ln>
        </p:spPr>
      </p:sp>
      <p:sp>
        <p:nvSpPr>
          <p:cNvPr id="16" name="Shape 13"/>
          <p:cNvSpPr/>
          <p:nvPr/>
        </p:nvSpPr>
        <p:spPr>
          <a:xfrm>
            <a:off x="6245352" y="1783080"/>
            <a:ext cx="0" cy="182880"/>
          </a:xfrm>
          <a:prstGeom prst="line">
            <a:avLst/>
          </a:prstGeom>
          <a:noFill/>
          <a:ln w="22225">
            <a:solidFill>
              <a:schemeClr val="accent1"/>
            </a:solidFill>
            <a:prstDash val="solid"/>
          </a:ln>
        </p:spPr>
      </p:sp>
      <p:sp>
        <p:nvSpPr>
          <p:cNvPr id="17" name="Shape 14"/>
          <p:cNvSpPr/>
          <p:nvPr/>
        </p:nvSpPr>
        <p:spPr>
          <a:xfrm>
            <a:off x="11548872" y="4846320"/>
            <a:ext cx="182880" cy="0"/>
          </a:xfrm>
          <a:prstGeom prst="line">
            <a:avLst/>
          </a:prstGeom>
          <a:noFill/>
          <a:ln w="22225">
            <a:solidFill>
              <a:schemeClr val="accent1"/>
            </a:solidFill>
            <a:prstDash val="solid"/>
          </a:ln>
        </p:spPr>
      </p:sp>
      <p:sp>
        <p:nvSpPr>
          <p:cNvPr id="18" name="Shape 15"/>
          <p:cNvSpPr/>
          <p:nvPr/>
        </p:nvSpPr>
        <p:spPr>
          <a:xfrm>
            <a:off x="11731752" y="4663440"/>
            <a:ext cx="0" cy="182880"/>
          </a:xfrm>
          <a:prstGeom prst="line">
            <a:avLst/>
          </a:prstGeom>
          <a:noFill/>
          <a:ln w="22225">
            <a:solidFill>
              <a:schemeClr val="accent1"/>
            </a:solidFill>
            <a:prstDash val="solid"/>
          </a:ln>
        </p:spPr>
      </p:sp>
      <p:sp>
        <p:nvSpPr>
          <p:cNvPr id="19" name="Text 16"/>
          <p:cNvSpPr txBox="1"/>
          <p:nvPr/>
        </p:nvSpPr>
        <p:spPr>
          <a:xfrm>
            <a:off x="6464808" y="1938528"/>
            <a:ext cx="504748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2차 구조</a:t>
            </a:r>
            <a:pPr indent="0" marL="0">
              <a:lnSpc>
                <a:spcPct val="120000"/>
              </a:lnSpc>
              <a:buNone/>
            </a:pPr>
            <a:r>
              <a:rPr lang="ko-KR" altLang="en-US" sz="1450" dirty="0">
                <a:solidFill>
                  <a:schemeClr val="accent5"/>
                </a:solidFill>
              </a:rPr>
              <a:t>  · 10/1 (1c1cc33)</a:t>
            </a:r>
            <a:endParaRPr lang="ko-KR" sz="1450" dirty="0"/>
          </a:p>
        </p:txBody>
      </p:sp>
      <p:sp>
        <p:nvSpPr>
          <p:cNvPr id="20" name="Shape 17"/>
          <p:cNvSpPr/>
          <p:nvPr/>
        </p:nvSpPr>
        <p:spPr>
          <a:xfrm>
            <a:off x="6464808" y="2395728"/>
            <a:ext cx="5047488" cy="640080"/>
          </a:xfrm>
          <a:prstGeom prst="rect">
            <a:avLst/>
          </a:prstGeom>
          <a:solidFill>
            <a:schemeClr val="accent6"/>
          </a:solidFill>
          <a:ln/>
        </p:spPr>
      </p:sp>
      <p:sp>
        <p:nvSpPr>
          <p:cNvPr id="21" name="Text 18"/>
          <p:cNvSpPr txBox="1"/>
          <p:nvPr/>
        </p:nvSpPr>
        <p:spPr>
          <a:xfrm>
            <a:off x="6629400" y="2395728"/>
            <a:ext cx="4773168" cy="640080"/>
          </a:xfrm>
          <a:prstGeom prst="rect">
            <a:avLst/>
          </a:prstGeom>
          <a:noFill/>
          <a:ln/>
        </p:spPr>
        <p:txBody>
          <a:bodyPr wrap="square" lIns="0" tIns="0" rIns="0" bIns="0" rtlCol="0" anchor="ctr"/>
          <a:lstStyle/>
          <a:p>
            <a:pPr indent="0" marL="0">
              <a:lnSpc>
                <a:spcPct val="120000"/>
              </a:lnSpc>
              <a:buNone/>
            </a:pPr>
            <a:r>
              <a:rPr lang="ko-KR" altLang="en-US" sz="1300" b="1" dirty="0">
                <a:solidFill>
                  <a:schemeClr val="accent2"/>
                </a:solidFill>
              </a:rPr>
              <a:t>① 정의   </a:t>
            </a:r>
            <a:pPr indent="0" marL="0">
              <a:lnSpc>
                <a:spcPct val="120000"/>
              </a:lnSpc>
              <a:buNone/>
            </a:pPr>
            <a:r>
              <a:rPr lang="ko-KR" altLang="en-US" sz="1300" dirty="0">
                <a:solidFill>
                  <a:schemeClr val="bg1"/>
                </a:solidFill>
              </a:rPr>
              <a:t>ST_ItemDefRow · DT 514행</a:t>
            </a:r>
            <a:endParaRPr lang="ko-KR" sz="1300" dirty="0"/>
          </a:p>
        </p:txBody>
      </p:sp>
      <p:sp>
        <p:nvSpPr>
          <p:cNvPr id="22" name="Shape 19"/>
          <p:cNvSpPr/>
          <p:nvPr/>
        </p:nvSpPr>
        <p:spPr>
          <a:xfrm>
            <a:off x="6464808" y="3172968"/>
            <a:ext cx="5047488" cy="640080"/>
          </a:xfrm>
          <a:prstGeom prst="rect">
            <a:avLst/>
          </a:prstGeom>
          <a:solidFill>
            <a:schemeClr val="accent6"/>
          </a:solidFill>
          <a:ln/>
        </p:spPr>
      </p:sp>
      <p:sp>
        <p:nvSpPr>
          <p:cNvPr id="23" name="Text 20"/>
          <p:cNvSpPr txBox="1"/>
          <p:nvPr/>
        </p:nvSpPr>
        <p:spPr>
          <a:xfrm>
            <a:off x="6629400" y="3172968"/>
            <a:ext cx="4773168" cy="640080"/>
          </a:xfrm>
          <a:prstGeom prst="rect">
            <a:avLst/>
          </a:prstGeom>
          <a:noFill/>
          <a:ln/>
        </p:spPr>
        <p:txBody>
          <a:bodyPr wrap="square" lIns="0" tIns="0" rIns="0" bIns="0" rtlCol="0" anchor="ctr"/>
          <a:lstStyle/>
          <a:p>
            <a:pPr indent="0" marL="0">
              <a:lnSpc>
                <a:spcPct val="120000"/>
              </a:lnSpc>
              <a:buNone/>
            </a:pPr>
            <a:r>
              <a:rPr lang="ko-KR" altLang="en-US" sz="1300" b="1" dirty="0">
                <a:solidFill>
                  <a:schemeClr val="accent2"/>
                </a:solidFill>
              </a:rPr>
              <a:t>② 확장   </a:t>
            </a:r>
            <a:pPr indent="0" marL="0">
              <a:lnSpc>
                <a:spcPct val="120000"/>
              </a:lnSpc>
              <a:buNone/>
            </a:pPr>
            <a:r>
              <a:rPr lang="ko-KR" altLang="en-US" sz="1300" dirty="0">
                <a:solidFill>
                  <a:schemeClr val="bg1"/>
                </a:solidFill>
              </a:rPr>
              <a:t>타입별 ExtraDef · E_ExtraDataType로 선택</a:t>
            </a:r>
            <a:endParaRPr lang="ko-KR" sz="1300" dirty="0"/>
          </a:p>
        </p:txBody>
      </p:sp>
      <p:sp>
        <p:nvSpPr>
          <p:cNvPr id="24" name="Shape 21"/>
          <p:cNvSpPr/>
          <p:nvPr/>
        </p:nvSpPr>
        <p:spPr>
          <a:xfrm>
            <a:off x="6464808" y="3950208"/>
            <a:ext cx="5047488" cy="640080"/>
          </a:xfrm>
          <a:prstGeom prst="rect">
            <a:avLst/>
          </a:prstGeom>
          <a:solidFill>
            <a:schemeClr val="accent6"/>
          </a:solidFill>
          <a:ln/>
        </p:spPr>
      </p:sp>
      <p:sp>
        <p:nvSpPr>
          <p:cNvPr id="25" name="Text 22"/>
          <p:cNvSpPr txBox="1"/>
          <p:nvPr/>
        </p:nvSpPr>
        <p:spPr>
          <a:xfrm>
            <a:off x="6629400" y="3950208"/>
            <a:ext cx="4773168" cy="640080"/>
          </a:xfrm>
          <a:prstGeom prst="rect">
            <a:avLst/>
          </a:prstGeom>
          <a:noFill/>
          <a:ln/>
        </p:spPr>
        <p:txBody>
          <a:bodyPr wrap="square" lIns="0" tIns="0" rIns="0" bIns="0" rtlCol="0" anchor="ctr"/>
          <a:lstStyle/>
          <a:p>
            <a:pPr indent="0" marL="0">
              <a:lnSpc>
                <a:spcPct val="120000"/>
              </a:lnSpc>
              <a:buNone/>
            </a:pPr>
            <a:r>
              <a:rPr lang="ko-KR" altLang="en-US" sz="1300" b="1" dirty="0">
                <a:solidFill>
                  <a:schemeClr val="accent2"/>
                </a:solidFill>
              </a:rPr>
              <a:t>③ 배치   </a:t>
            </a:r>
            <a:pPr indent="0" marL="0">
              <a:lnSpc>
                <a:spcPct val="120000"/>
              </a:lnSpc>
              <a:buNone/>
            </a:pPr>
            <a:r>
              <a:rPr lang="ko-KR" altLang="en-US" sz="1300" dirty="0">
                <a:solidFill>
                  <a:schemeClr val="bg1"/>
                </a:solidFill>
              </a:rPr>
              <a:t>ST_StashItemInfo · 슬롯 · 칸 번호</a:t>
            </a:r>
            <a:endParaRPr lang="ko-KR" sz="1300" dirty="0"/>
          </a:p>
        </p:txBody>
      </p:sp>
      <p:sp>
        <p:nvSpPr>
          <p:cNvPr id="26" name="Shape 23"/>
          <p:cNvSpPr/>
          <p:nvPr/>
        </p:nvSpPr>
        <p:spPr>
          <a:xfrm>
            <a:off x="457200" y="5029200"/>
            <a:ext cx="11274552" cy="914400"/>
          </a:xfrm>
          <a:prstGeom prst="rect">
            <a:avLst/>
          </a:prstGeom>
          <a:solidFill>
            <a:schemeClr val="tx2"/>
          </a:solidFill>
          <a:ln w="9525">
            <a:solidFill>
              <a:srgbClr val="2A2F36"/>
            </a:solidFill>
            <a:prstDash val="solid"/>
          </a:ln>
        </p:spPr>
      </p:sp>
      <p:sp>
        <p:nvSpPr>
          <p:cNvPr id="27" name="Text 24"/>
          <p:cNvSpPr txBox="1"/>
          <p:nvPr/>
        </p:nvSpPr>
        <p:spPr>
          <a:xfrm>
            <a:off x="685800" y="5029200"/>
            <a:ext cx="10881360" cy="914400"/>
          </a:xfrm>
          <a:prstGeom prst="rect">
            <a:avLst/>
          </a:prstGeom>
          <a:noFill/>
          <a:ln/>
        </p:spPr>
        <p:txBody>
          <a:bodyPr wrap="square" lIns="0" tIns="0" rIns="0" bIns="0" rtlCol="0" anchor="ctr"/>
          <a:lstStyle/>
          <a:p>
            <a:pPr indent="0" marL="0">
              <a:lnSpc>
                <a:spcPct val="120000"/>
              </a:lnSpc>
              <a:buNone/>
            </a:pPr>
            <a:r>
              <a:rPr lang="ko-KR" altLang="en-US" sz="1300" b="1" dirty="0">
                <a:solidFill>
                  <a:schemeClr val="accent1"/>
                </a:solidFill>
              </a:rPr>
              <a:t>결과   </a:t>
            </a:r>
            <a:pPr indent="0" marL="0">
              <a:lnSpc>
                <a:spcPct val="120000"/>
              </a:lnSpc>
              <a:buNone/>
            </a:pPr>
            <a:r>
              <a:rPr lang="ko-KR" altLang="en-US" sz="1300" dirty="0">
                <a:solidFill>
                  <a:schemeClr val="bg1"/>
                </a:solidFill>
              </a:rPr>
              <a:t>아이템 추가 = DataTable 행 추가  ·  커밋 한 번에 파일 32개 정리 (타입별 확장 필드는 골격 단계)</a:t>
            </a:r>
            <a:endParaRPr lang="ko-KR" sz="13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310896"/>
            <a:ext cx="7772400" cy="256032"/>
          </a:xfrm>
          <a:prstGeom prst="rect">
            <a:avLst/>
          </a:prstGeom>
          <a:noFill/>
          <a:ln/>
        </p:spPr>
        <p:txBody>
          <a:bodyPr wrap="square" lIns="0" tIns="0" rIns="0" bIns="0" rtlCol="0" anchor="ctr"/>
          <a:lstStyle/>
          <a:p>
            <a:pPr algn="l" indent="0" marL="0">
              <a:buNone/>
            </a:pPr>
            <a:r>
              <a:rPr lang="en-US" sz="1100" b="1" spc="100" kern="0" dirty="0">
                <a:solidFill>
                  <a:schemeClr val="accent1"/>
                </a:solidFill>
                <a:latin typeface="Consolas" pitchFamily="34" charset="0"/>
                <a:ea typeface="Consolas" pitchFamily="34" charset="-122"/>
                <a:cs typeface="Consolas" pitchFamily="34" charset="-120"/>
              </a:rPr>
              <a:t>05 · GROWTH</a:t>
            </a:r>
            <a:endParaRPr lang="en-US" sz="1100" dirty="0"/>
          </a:p>
        </p:txBody>
      </p:sp>
      <p:sp>
        <p:nvSpPr>
          <p:cNvPr id="3" name="Text 1"/>
          <p:cNvSpPr/>
          <p:nvPr>
            <p:ph idx="102" type="title" hasCustomPrompt="1"/>
          </p:nvPr>
        </p:nvSpPr>
        <p:spPr>
          <a:xfrm>
            <a:off x="457200" y="585216"/>
            <a:ext cx="11274552" cy="566928"/>
          </a:xfrm>
          <a:prstGeom prst="rect">
            <a:avLst/>
          </a:prstGeom>
          <a:noFill/>
          <a:ln/>
        </p:spPr>
        <p:txBody>
          <a:bodyPr wrap="square" lIns="0" tIns="0" rIns="0" bIns="0" rtlCol="0" anchor="t"/>
          <a:lstStyle/>
          <a:p>
            <a:pPr algn="l" indent="0" marL="0">
              <a:buNone/>
            </a:pPr>
            <a:r>
              <a:rPr lang="en-US" sz="2800" b="1" dirty="0">
                <a:solidFill>
                  <a:schemeClr val="bg1"/>
                </a:solidFill>
              </a:rPr>
              <a:t>성장한 점과 향후 과제</a:t>
            </a:r>
            <a:endParaRPr lang="en-US" sz="2800" dirty="0"/>
          </a:p>
        </p:txBody>
      </p:sp>
      <p:sp>
        <p:nvSpPr>
          <p:cNvPr id="5" name="Shape 2"/>
          <p:cNvSpPr/>
          <p:nvPr/>
        </p:nvSpPr>
        <p:spPr>
          <a:xfrm>
            <a:off x="457200" y="1417320"/>
            <a:ext cx="3611880" cy="2788920"/>
          </a:xfrm>
          <a:prstGeom prst="rect">
            <a:avLst/>
          </a:prstGeom>
          <a:solidFill>
            <a:schemeClr val="tx2"/>
          </a:solidFill>
          <a:ln w="9525">
            <a:solidFill>
              <a:srgbClr val="2A2F36"/>
            </a:solidFill>
            <a:prstDash val="solid"/>
          </a:ln>
        </p:spPr>
      </p:sp>
      <p:sp>
        <p:nvSpPr>
          <p:cNvPr id="6" name="Shape 3"/>
          <p:cNvSpPr/>
          <p:nvPr/>
        </p:nvSpPr>
        <p:spPr>
          <a:xfrm>
            <a:off x="457200" y="1417320"/>
            <a:ext cx="182880" cy="0"/>
          </a:xfrm>
          <a:prstGeom prst="line">
            <a:avLst/>
          </a:prstGeom>
          <a:noFill/>
          <a:ln w="22225">
            <a:solidFill>
              <a:schemeClr val="accent1"/>
            </a:solidFill>
            <a:prstDash val="solid"/>
          </a:ln>
        </p:spPr>
      </p:sp>
      <p:sp>
        <p:nvSpPr>
          <p:cNvPr id="7" name="Shape 4"/>
          <p:cNvSpPr/>
          <p:nvPr/>
        </p:nvSpPr>
        <p:spPr>
          <a:xfrm>
            <a:off x="457200" y="1417320"/>
            <a:ext cx="0" cy="182880"/>
          </a:xfrm>
          <a:prstGeom prst="line">
            <a:avLst/>
          </a:prstGeom>
          <a:noFill/>
          <a:ln w="22225">
            <a:solidFill>
              <a:schemeClr val="accent1"/>
            </a:solidFill>
            <a:prstDash val="solid"/>
          </a:ln>
        </p:spPr>
      </p:sp>
      <p:sp>
        <p:nvSpPr>
          <p:cNvPr id="8" name="Shape 5"/>
          <p:cNvSpPr/>
          <p:nvPr/>
        </p:nvSpPr>
        <p:spPr>
          <a:xfrm>
            <a:off x="3886200" y="4206240"/>
            <a:ext cx="182880" cy="0"/>
          </a:xfrm>
          <a:prstGeom prst="line">
            <a:avLst/>
          </a:prstGeom>
          <a:noFill/>
          <a:ln w="22225">
            <a:solidFill>
              <a:schemeClr val="accent1"/>
            </a:solidFill>
            <a:prstDash val="solid"/>
          </a:ln>
        </p:spPr>
      </p:sp>
      <p:sp>
        <p:nvSpPr>
          <p:cNvPr id="9" name="Shape 6"/>
          <p:cNvSpPr/>
          <p:nvPr/>
        </p:nvSpPr>
        <p:spPr>
          <a:xfrm>
            <a:off x="4069080" y="4023360"/>
            <a:ext cx="0" cy="182880"/>
          </a:xfrm>
          <a:prstGeom prst="line">
            <a:avLst/>
          </a:prstGeom>
          <a:noFill/>
          <a:ln w="22225">
            <a:solidFill>
              <a:schemeClr val="accent1"/>
            </a:solidFill>
            <a:prstDash val="solid"/>
          </a:ln>
        </p:spPr>
      </p:sp>
      <p:sp>
        <p:nvSpPr>
          <p:cNvPr id="10" name="Text 7"/>
          <p:cNvSpPr txBox="1"/>
          <p:nvPr/>
        </p:nvSpPr>
        <p:spPr>
          <a:xfrm>
            <a:off x="676656" y="1572768"/>
            <a:ext cx="317296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아쉬운 점</a:t>
            </a:r>
            <a:endParaRPr lang="ko-KR" sz="1450" dirty="0"/>
          </a:p>
        </p:txBody>
      </p:sp>
      <p:sp>
        <p:nvSpPr>
          <p:cNvPr id="11" name="Text 8"/>
          <p:cNvSpPr txBox="1"/>
          <p:nvPr/>
        </p:nvSpPr>
        <p:spPr>
          <a:xfrm>
            <a:off x="676656" y="1993392"/>
            <a:ext cx="3172968" cy="2121408"/>
          </a:xfrm>
          <a:prstGeom prst="rect">
            <a:avLst/>
          </a:prstGeom>
          <a:noFill/>
          <a:ln/>
        </p:spPr>
        <p:txBody>
          <a:bodyPr wrap="square" lIns="0" tIns="0" rIns="0" bIns="0" rtlCol="0" anchor="t"/>
          <a:lstStyle/>
          <a:p>
            <a:pPr marL="152400" indent="-152400">
              <a:lnSpc>
                <a:spcPct val="125000"/>
              </a:lnSpc>
              <a:spcAft>
                <a:spcPts val="900"/>
              </a:spcAft>
              <a:buSzPct val="100000"/>
              <a:buChar char="•"/>
            </a:pPr>
            <a:r>
              <a:rPr lang="ko-KR" altLang="en-US" sz="1300" dirty="0">
                <a:solidFill>
                  <a:schemeClr val="bg2"/>
                </a:solidFill>
              </a:rPr>
              <a:t>배치 결과를 위젯이 갖고 있어 저장 · 불러오기가 어렵다</a:t>
            </a:r>
            <a:endParaRPr lang="ko-KR" sz="1300" dirty="0"/>
          </a:p>
          <a:p>
            <a:pPr marL="152400" indent="-152400">
              <a:lnSpc>
                <a:spcPct val="125000"/>
              </a:lnSpc>
              <a:spcAft>
                <a:spcPts val="900"/>
              </a:spcAft>
              <a:buSzPct val="100000"/>
              <a:buChar char="•"/>
            </a:pPr>
            <a:r>
              <a:rPr lang="ko-KR" altLang="en-US" sz="1300" dirty="0">
                <a:solidFill>
                  <a:schemeClr val="bg2"/>
                </a:solidFill>
              </a:rPr>
              <a:t>회전 배치를 판정에 연결하지 못했다</a:t>
            </a:r>
            <a:endParaRPr lang="ko-KR" sz="1300" dirty="0"/>
          </a:p>
          <a:p>
            <a:pPr marL="152400" indent="-152400">
              <a:lnSpc>
                <a:spcPct val="125000"/>
              </a:lnSpc>
              <a:spcAft>
                <a:spcPts val="900"/>
              </a:spcAft>
              <a:buSzPct val="100000"/>
              <a:buChar char="•"/>
            </a:pPr>
            <a:r>
              <a:rPr lang="ko-KR" altLang="en-US" sz="1300" dirty="0">
                <a:solidFill>
                  <a:schemeClr val="bg2"/>
                </a:solidFill>
              </a:rPr>
              <a:t>레이드 상태가 bool 두 개로 흩어져 있다</a:t>
            </a:r>
            <a:endParaRPr lang="ko-KR" sz="1300" dirty="0"/>
          </a:p>
        </p:txBody>
      </p:sp>
      <p:sp>
        <p:nvSpPr>
          <p:cNvPr id="12" name="Shape 9"/>
          <p:cNvSpPr/>
          <p:nvPr/>
        </p:nvSpPr>
        <p:spPr>
          <a:xfrm>
            <a:off x="4288536" y="1417320"/>
            <a:ext cx="3611880" cy="2788920"/>
          </a:xfrm>
          <a:prstGeom prst="rect">
            <a:avLst/>
          </a:prstGeom>
          <a:solidFill>
            <a:schemeClr val="tx2"/>
          </a:solidFill>
          <a:ln w="9525">
            <a:solidFill>
              <a:srgbClr val="2A2F36"/>
            </a:solidFill>
            <a:prstDash val="solid"/>
          </a:ln>
        </p:spPr>
      </p:sp>
      <p:sp>
        <p:nvSpPr>
          <p:cNvPr id="13" name="Shape 10"/>
          <p:cNvSpPr/>
          <p:nvPr/>
        </p:nvSpPr>
        <p:spPr>
          <a:xfrm>
            <a:off x="4288536" y="1417320"/>
            <a:ext cx="182880" cy="0"/>
          </a:xfrm>
          <a:prstGeom prst="line">
            <a:avLst/>
          </a:prstGeom>
          <a:noFill/>
          <a:ln w="22225">
            <a:solidFill>
              <a:schemeClr val="accent1"/>
            </a:solidFill>
            <a:prstDash val="solid"/>
          </a:ln>
        </p:spPr>
      </p:sp>
      <p:sp>
        <p:nvSpPr>
          <p:cNvPr id="14" name="Shape 11"/>
          <p:cNvSpPr/>
          <p:nvPr/>
        </p:nvSpPr>
        <p:spPr>
          <a:xfrm>
            <a:off x="4288536" y="1417320"/>
            <a:ext cx="0" cy="182880"/>
          </a:xfrm>
          <a:prstGeom prst="line">
            <a:avLst/>
          </a:prstGeom>
          <a:noFill/>
          <a:ln w="22225">
            <a:solidFill>
              <a:schemeClr val="accent1"/>
            </a:solidFill>
            <a:prstDash val="solid"/>
          </a:ln>
        </p:spPr>
      </p:sp>
      <p:sp>
        <p:nvSpPr>
          <p:cNvPr id="15" name="Shape 12"/>
          <p:cNvSpPr/>
          <p:nvPr/>
        </p:nvSpPr>
        <p:spPr>
          <a:xfrm>
            <a:off x="7717536" y="4206240"/>
            <a:ext cx="182880" cy="0"/>
          </a:xfrm>
          <a:prstGeom prst="line">
            <a:avLst/>
          </a:prstGeom>
          <a:noFill/>
          <a:ln w="22225">
            <a:solidFill>
              <a:schemeClr val="accent1"/>
            </a:solidFill>
            <a:prstDash val="solid"/>
          </a:ln>
        </p:spPr>
      </p:sp>
      <p:sp>
        <p:nvSpPr>
          <p:cNvPr id="16" name="Shape 13"/>
          <p:cNvSpPr/>
          <p:nvPr/>
        </p:nvSpPr>
        <p:spPr>
          <a:xfrm>
            <a:off x="7900416" y="4023360"/>
            <a:ext cx="0" cy="182880"/>
          </a:xfrm>
          <a:prstGeom prst="line">
            <a:avLst/>
          </a:prstGeom>
          <a:noFill/>
          <a:ln w="22225">
            <a:solidFill>
              <a:schemeClr val="accent1"/>
            </a:solidFill>
            <a:prstDash val="solid"/>
          </a:ln>
        </p:spPr>
      </p:sp>
      <p:sp>
        <p:nvSpPr>
          <p:cNvPr id="17" name="Text 14"/>
          <p:cNvSpPr txBox="1"/>
          <p:nvPr/>
        </p:nvSpPr>
        <p:spPr>
          <a:xfrm>
            <a:off x="4507992" y="1572768"/>
            <a:ext cx="317296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향후 과제</a:t>
            </a:r>
            <a:endParaRPr lang="ko-KR" sz="1450" dirty="0"/>
          </a:p>
        </p:txBody>
      </p:sp>
      <p:sp>
        <p:nvSpPr>
          <p:cNvPr id="18" name="Text 15"/>
          <p:cNvSpPr txBox="1"/>
          <p:nvPr/>
        </p:nvSpPr>
        <p:spPr>
          <a:xfrm>
            <a:off x="4507992" y="1993392"/>
            <a:ext cx="3172968" cy="2121408"/>
          </a:xfrm>
          <a:prstGeom prst="rect">
            <a:avLst/>
          </a:prstGeom>
          <a:noFill/>
          <a:ln/>
        </p:spPr>
        <p:txBody>
          <a:bodyPr wrap="square" lIns="0" tIns="0" rIns="0" bIns="0" rtlCol="0" anchor="t"/>
          <a:lstStyle/>
          <a:p>
            <a:pPr marL="152400" indent="-152400">
              <a:lnSpc>
                <a:spcPct val="125000"/>
              </a:lnSpc>
              <a:spcAft>
                <a:spcPts val="900"/>
              </a:spcAft>
              <a:buSzPct val="100000"/>
              <a:buChar char="•"/>
            </a:pPr>
            <a:r>
              <a:rPr lang="ko-KR" altLang="en-US" sz="1300" dirty="0">
                <a:solidFill>
                  <a:schemeClr val="bg2"/>
                </a:solidFill>
              </a:rPr>
              <a:t>인벤토리 컴포넌트가 배치 · 점유를 소유</a:t>
            </a:r>
            <a:endParaRPr lang="ko-KR" sz="1300" dirty="0"/>
          </a:p>
          <a:p>
            <a:pPr marL="152400" indent="-152400">
              <a:lnSpc>
                <a:spcPct val="125000"/>
              </a:lnSpc>
              <a:spcAft>
                <a:spcPts val="900"/>
              </a:spcAft>
              <a:buSzPct val="100000"/>
              <a:buChar char="•"/>
            </a:pPr>
            <a:r>
              <a:rPr lang="ko-KR" altLang="en-US" sz="1300" dirty="0">
                <a:solidFill>
                  <a:schemeClr val="bg2"/>
                </a:solidFill>
              </a:rPr>
              <a:t>회전 · 창고 저장 완성, E_RaidState 도입</a:t>
            </a:r>
            <a:endParaRPr lang="ko-KR" sz="1300" dirty="0"/>
          </a:p>
          <a:p>
            <a:pPr marL="152400" indent="-152400">
              <a:lnSpc>
                <a:spcPct val="125000"/>
              </a:lnSpc>
              <a:spcAft>
                <a:spcPts val="900"/>
              </a:spcAft>
              <a:buSzPct val="100000"/>
              <a:buChar char="•"/>
            </a:pPr>
            <a:r>
              <a:rPr lang="ko-KR" altLang="en-US" sz="1300" dirty="0">
                <a:solidFill>
                  <a:schemeClr val="bg2"/>
                </a:solidFill>
              </a:rPr>
              <a:t>판정 로직 C++ 이전 + 자동 테스트</a:t>
            </a:r>
            <a:endParaRPr lang="ko-KR" sz="1300" dirty="0"/>
          </a:p>
        </p:txBody>
      </p:sp>
      <p:sp>
        <p:nvSpPr>
          <p:cNvPr id="19" name="Shape 16"/>
          <p:cNvSpPr/>
          <p:nvPr/>
        </p:nvSpPr>
        <p:spPr>
          <a:xfrm>
            <a:off x="8119872" y="1417320"/>
            <a:ext cx="3611880" cy="2788920"/>
          </a:xfrm>
          <a:prstGeom prst="rect">
            <a:avLst/>
          </a:prstGeom>
          <a:solidFill>
            <a:schemeClr val="tx2"/>
          </a:solidFill>
          <a:ln w="9525">
            <a:solidFill>
              <a:srgbClr val="2A2F36"/>
            </a:solidFill>
            <a:prstDash val="solid"/>
          </a:ln>
        </p:spPr>
      </p:sp>
      <p:sp>
        <p:nvSpPr>
          <p:cNvPr id="20" name="Shape 17"/>
          <p:cNvSpPr/>
          <p:nvPr/>
        </p:nvSpPr>
        <p:spPr>
          <a:xfrm>
            <a:off x="8119872" y="1417320"/>
            <a:ext cx="182880" cy="0"/>
          </a:xfrm>
          <a:prstGeom prst="line">
            <a:avLst/>
          </a:prstGeom>
          <a:noFill/>
          <a:ln w="22225">
            <a:solidFill>
              <a:schemeClr val="accent1"/>
            </a:solidFill>
            <a:prstDash val="solid"/>
          </a:ln>
        </p:spPr>
      </p:sp>
      <p:sp>
        <p:nvSpPr>
          <p:cNvPr id="21" name="Shape 18"/>
          <p:cNvSpPr/>
          <p:nvPr/>
        </p:nvSpPr>
        <p:spPr>
          <a:xfrm>
            <a:off x="8119872" y="1417320"/>
            <a:ext cx="0" cy="182880"/>
          </a:xfrm>
          <a:prstGeom prst="line">
            <a:avLst/>
          </a:prstGeom>
          <a:noFill/>
          <a:ln w="22225">
            <a:solidFill>
              <a:schemeClr val="accent1"/>
            </a:solidFill>
            <a:prstDash val="solid"/>
          </a:ln>
        </p:spPr>
      </p:sp>
      <p:sp>
        <p:nvSpPr>
          <p:cNvPr id="22" name="Shape 19"/>
          <p:cNvSpPr/>
          <p:nvPr/>
        </p:nvSpPr>
        <p:spPr>
          <a:xfrm>
            <a:off x="11548872" y="4206240"/>
            <a:ext cx="182880" cy="0"/>
          </a:xfrm>
          <a:prstGeom prst="line">
            <a:avLst/>
          </a:prstGeom>
          <a:noFill/>
          <a:ln w="22225">
            <a:solidFill>
              <a:schemeClr val="accent1"/>
            </a:solidFill>
            <a:prstDash val="solid"/>
          </a:ln>
        </p:spPr>
      </p:sp>
      <p:sp>
        <p:nvSpPr>
          <p:cNvPr id="23" name="Shape 20"/>
          <p:cNvSpPr/>
          <p:nvPr/>
        </p:nvSpPr>
        <p:spPr>
          <a:xfrm>
            <a:off x="11731752" y="4023360"/>
            <a:ext cx="0" cy="182880"/>
          </a:xfrm>
          <a:prstGeom prst="line">
            <a:avLst/>
          </a:prstGeom>
          <a:noFill/>
          <a:ln w="22225">
            <a:solidFill>
              <a:schemeClr val="accent1"/>
            </a:solidFill>
            <a:prstDash val="solid"/>
          </a:ln>
        </p:spPr>
      </p:sp>
      <p:sp>
        <p:nvSpPr>
          <p:cNvPr id="24" name="Text 21"/>
          <p:cNvSpPr txBox="1"/>
          <p:nvPr/>
        </p:nvSpPr>
        <p:spPr>
          <a:xfrm>
            <a:off x="8339328" y="1572768"/>
            <a:ext cx="3172968" cy="292608"/>
          </a:xfrm>
          <a:prstGeom prst="rect">
            <a:avLst/>
          </a:prstGeom>
          <a:noFill/>
          <a:ln/>
        </p:spPr>
        <p:txBody>
          <a:bodyPr wrap="square" lIns="0" tIns="0" rIns="0" bIns="0" rtlCol="0" anchor="t"/>
          <a:lstStyle/>
          <a:p>
            <a:pPr indent="0" marL="0">
              <a:lnSpc>
                <a:spcPct val="120000"/>
              </a:lnSpc>
              <a:buNone/>
            </a:pPr>
            <a:r>
              <a:rPr lang="ko-KR" altLang="en-US" sz="1450" b="1" dirty="0">
                <a:solidFill>
                  <a:schemeClr val="bg1"/>
                </a:solidFill>
              </a:rPr>
              <a:t>배운 점</a:t>
            </a:r>
            <a:endParaRPr lang="ko-KR" sz="1450" dirty="0"/>
          </a:p>
        </p:txBody>
      </p:sp>
      <p:sp>
        <p:nvSpPr>
          <p:cNvPr id="25" name="Text 22"/>
          <p:cNvSpPr txBox="1"/>
          <p:nvPr/>
        </p:nvSpPr>
        <p:spPr>
          <a:xfrm>
            <a:off x="8339328" y="1993392"/>
            <a:ext cx="3172968" cy="2121408"/>
          </a:xfrm>
          <a:prstGeom prst="rect">
            <a:avLst/>
          </a:prstGeom>
          <a:noFill/>
          <a:ln/>
        </p:spPr>
        <p:txBody>
          <a:bodyPr wrap="square" lIns="0" tIns="0" rIns="0" bIns="0" rtlCol="0" anchor="t"/>
          <a:lstStyle/>
          <a:p>
            <a:pPr marL="152400" indent="-152400">
              <a:lnSpc>
                <a:spcPct val="125000"/>
              </a:lnSpc>
              <a:spcAft>
                <a:spcPts val="900"/>
              </a:spcAft>
              <a:buSzPct val="100000"/>
              <a:buChar char="•"/>
            </a:pPr>
            <a:r>
              <a:rPr lang="ko-KR" altLang="en-US" sz="1300" dirty="0">
                <a:solidFill>
                  <a:schemeClr val="bg2"/>
                </a:solidFill>
              </a:rPr>
              <a:t>좌표 버그는 계산식보다 디버그 시각화부터</a:t>
            </a:r>
            <a:endParaRPr lang="ko-KR" sz="1300" dirty="0"/>
          </a:p>
          <a:p>
            <a:pPr marL="152400" indent="-152400">
              <a:lnSpc>
                <a:spcPct val="125000"/>
              </a:lnSpc>
              <a:spcAft>
                <a:spcPts val="900"/>
              </a:spcAft>
              <a:buSzPct val="100000"/>
              <a:buChar char="•"/>
            </a:pPr>
            <a:r>
              <a:rPr lang="ko-KR" altLang="en-US" sz="1300" dirty="0">
                <a:solidFill>
                  <a:schemeClr val="bg2"/>
                </a:solidFill>
              </a:rPr>
              <a:t>데이터와 표시는 처음부터 분리한다</a:t>
            </a:r>
            <a:endParaRPr lang="ko-KR" sz="1300" dirty="0"/>
          </a:p>
        </p:txBody>
      </p:sp>
      <p:sp>
        <p:nvSpPr>
          <p:cNvPr id="26" name="Text 23"/>
          <p:cNvSpPr txBox="1"/>
          <p:nvPr/>
        </p:nvSpPr>
        <p:spPr>
          <a:xfrm>
            <a:off x="457200" y="4709160"/>
            <a:ext cx="9144000" cy="548640"/>
          </a:xfrm>
          <a:prstGeom prst="rect">
            <a:avLst/>
          </a:prstGeom>
          <a:noFill/>
          <a:ln/>
        </p:spPr>
        <p:txBody>
          <a:bodyPr wrap="square" lIns="0" tIns="0" rIns="0" bIns="0" rtlCol="0" anchor="t"/>
          <a:lstStyle/>
          <a:p>
            <a:pPr indent="0" marL="0">
              <a:lnSpc>
                <a:spcPct val="120000"/>
              </a:lnSpc>
              <a:buNone/>
            </a:pPr>
            <a:r>
              <a:rPr lang="ko-KR" altLang="en-US" sz="2800" b="1" dirty="0">
                <a:solidFill>
                  <a:schemeClr val="accent2"/>
                </a:solidFill>
              </a:rPr>
              <a:t>발표를 들어주셔서 감사합니다.</a:t>
            </a:r>
            <a:endParaRPr lang="ko-KR" sz="2800" dirty="0"/>
          </a:p>
        </p:txBody>
      </p:sp>
      <p:sp>
        <p:nvSpPr>
          <p:cNvPr id="27" name="Text 24"/>
          <p:cNvSpPr txBox="1"/>
          <p:nvPr/>
        </p:nvSpPr>
        <p:spPr>
          <a:xfrm>
            <a:off x="457200" y="5349240"/>
            <a:ext cx="9144000" cy="274320"/>
          </a:xfrm>
          <a:prstGeom prst="rect">
            <a:avLst/>
          </a:prstGeom>
          <a:noFill/>
          <a:ln/>
        </p:spPr>
        <p:txBody>
          <a:bodyPr wrap="square" lIns="0" tIns="0" rIns="0" bIns="0" rtlCol="0" anchor="t"/>
          <a:lstStyle/>
          <a:p>
            <a:pPr indent="0" marL="0">
              <a:lnSpc>
                <a:spcPct val="120000"/>
              </a:lnSpc>
              <a:buNone/>
            </a:pPr>
            <a:r>
              <a:rPr lang="ko-KR" altLang="en-US" sz="1200" dirty="0">
                <a:solidFill>
                  <a:schemeClr val="bg2"/>
                </a:solidFill>
              </a:rPr>
              <a:t>GitHub  github.com/immigration2000/ExtractionGame_Fin   ·   시연 영상  [링크]</a:t>
            </a:r>
            <a:endParaRPr lang="ko-KR" sz="1200" dirty="0"/>
          </a:p>
        </p:txBody>
      </p:sp>
      <p:sp>
        <p:nvSpPr>
          <p:cNvPr id="25" name="Slide Number Placeholder 0"/>
          <p:cNvSpPr>
            <a:spLocks noGrp="1"/>
          </p:cNvSpPr>
          <p:nvPr>
            <p:ph type="sldNum" sz="quarter" idx="4294967295"/>
          </p:nvPr>
        </p:nvSpPr>
        <p:spPr>
          <a:xfrm>
            <a:off x="11091672" y="6492240"/>
            <a:ext cx="640080" cy="237744"/>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B020"/>
                </a:solidFill>
                <a:latin typeface="Consolas"/>
                <a:ea typeface="Consolas"/>
                <a:cs typeface="Consolas"/>
              </a:defRPr>
            </a:lvl1pPr>
          </a:lstStyle>
          <a:p>
            <a:pPr algn="r"/>
            <a:fld id="{F7021451-1387-4CA6-816F-3879F97B5CBC}" type="slidenum">
              <a:rPr b="1" lang="en-US"/>
              <a:t>18</a:t>
            </a:fld>
            <a:endParaRPr lang="en-US"/>
          </a:p>
        </p:txBody>
      </p:sp>
    </p:spTree>
  </p:cSld>
  <p:clrMapOvr>
    <a:masterClrMapping/>
  </p:clrMapOvr>
</p:sld>
</file>

<file path=ppt/theme/theme1.xml><?xml version="1.0" encoding="utf-8"?>
<a:theme xmlns:a="http://schemas.openxmlformats.org/drawingml/2006/main" name="NULL POINT Tactical">
  <a:themeElements>
    <a:clrScheme name="NULL POINT Tactical">
      <a:dk1>
        <a:srgbClr val="0E1012"/>
      </a:dk1>
      <a:lt1>
        <a:srgbClr val="E8ECEF"/>
      </a:lt1>
      <a:dk2>
        <a:srgbClr val="171A1E"/>
      </a:dk2>
      <a:lt2>
        <a:srgbClr val="AEB6BF"/>
      </a:lt2>
      <a:accent1>
        <a:srgbClr val="FFB020"/>
      </a:accent1>
      <a:accent2>
        <a:srgbClr val="FFC857"/>
      </a:accent2>
      <a:accent3>
        <a:srgbClr val="3DDC97"/>
      </a:accent3>
      <a:accent4>
        <a:srgbClr val="5AA9FF"/>
      </a:accent4>
      <a:accent5>
        <a:srgbClr val="7D8894"/>
      </a:accent5>
      <a:accent6>
        <a:srgbClr val="1E2227"/>
      </a:accent6>
      <a:hlink>
        <a:srgbClr val="FFC857"/>
      </a:hlink>
      <a:folHlink>
        <a:srgbClr val="7D8894"/>
      </a:folHlink>
    </a:clrScheme>
    <a:fontScheme name="NULL POINT Tactical">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NULL POINT 프로젝트 발표</dc:title>
  <dc:subject>익스트랙션 슈터 UE5 블루프린트 개인 프로젝트</dc:subject>
  <dc:creator>PptxGenJS</dc:creator>
  <cp:lastModifiedBy>PptxGenJS</cp:lastModifiedBy>
  <cp:revision>1</cp:revision>
  <dcterms:created xsi:type="dcterms:W3CDTF">2026-10-06T14:18:36Z</dcterms:created>
  <dcterms:modified xsi:type="dcterms:W3CDTF">2026-10-06T14:18:36Z</dcterms:modified>
</cp:coreProperties>
</file>